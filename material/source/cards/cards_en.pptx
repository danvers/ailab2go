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5327650" cy="3779838"/>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218" d="100"/>
          <a:sy n="218" d="100"/>
        </p:scale>
        <p:origin x="1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Objekt-Detektiv — front (DE)</a:t>
            </a:r>
          </a:p>
          <a:p>
            <a:r>
              <a:t>Background image: front_01.png (300 dpi, includes glow, scanlines, glitch bars, accent bar).</a:t>
            </a:r>
          </a:p>
          <a:p>
            <a:r>
              <a:t>Kicker, title, tagline are editable text boxes. Accent #4ea8ff.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Objekt-Detektiv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Trainiere die KI — front (DE)</a:t>
            </a:r>
          </a:p>
          <a:p>
            <a:r>
              <a:t>Background image: front_02.png (300 dpi, includes glow, scanlines, glitch bars, accent bar).</a:t>
            </a:r>
          </a:p>
          <a:p>
            <a:r>
              <a:t>Kicker, title, tagline are editable text boxes. Accent #b57bff.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Trainiere die KI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Privatsphäre-Schild — front (DE)</a:t>
            </a:r>
          </a:p>
          <a:p>
            <a:r>
              <a:t>Background image: front_03.png (300 dpi, includes glow, scanlines, glitch bars, accent bar).</a:t>
            </a:r>
          </a:p>
          <a:p>
            <a:r>
              <a:t>Kicker, title, tagline are editable text boxes. Accent #3ddc97.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Privatsphäre-Schild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Datenspur — front (DE)</a:t>
            </a:r>
          </a:p>
          <a:p>
            <a:r>
              <a:t>Background image: front_04.png (300 dpi, includes glow, scanlines, glitch bars, accent bar).</a:t>
            </a:r>
          </a:p>
          <a:p>
            <a:r>
              <a:t>Kicker, title, tagline are editable text boxes. Accent #ffb347.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Datenspur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Täusche die KI — front (DE)</a:t>
            </a:r>
          </a:p>
          <a:p>
            <a:r>
              <a:t>Background image: front_05.png (300 dpi, includes glow, scanlines, glitch bars, accent bar).</a:t>
            </a:r>
          </a:p>
          <a:p>
            <a:r>
              <a:t>Kicker, title, tagline are editable text boxes. Accent #ff5d8f.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Täusche die KI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Skelett-Spiegel — front (DE)</a:t>
            </a:r>
          </a:p>
          <a:p>
            <a:r>
              <a:t>Background image: front_06.png (300 dpi, includes glow, scanlines, glitch bars, accent bar).</a:t>
            </a:r>
          </a:p>
          <a:p>
            <a:r>
              <a:t>Kicker, title, tagline are editable text boxes. Accent #2dd4bf.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Skelett-Spiegel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smarte Türklingel — front (DE)</a:t>
            </a:r>
          </a:p>
          <a:p>
            <a:r>
              <a:t>Background image: front_07.png (300 dpi, includes glow, scanlines, glitch bars, accent bar).</a:t>
            </a:r>
          </a:p>
          <a:p>
            <a:r>
              <a:t>Kicker, title, tagline are editable text boxes. Accent #8a4fd8.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smarte Türklingel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Stadion — front (DE)</a:t>
            </a:r>
          </a:p>
          <a:p>
            <a:r>
              <a:t>Background image: front_08.png (300 dpi, includes glow, scanlines, glitch bars, accent bar).</a:t>
            </a:r>
          </a:p>
          <a:p>
            <a:r>
              <a:t>Kicker, title, tagline are editable text boxes. Accent #c32683.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smarte Türklingel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Schulkamera — front (DE)</a:t>
            </a:r>
          </a:p>
          <a:p>
            <a:r>
              <a:t>Background image: front_09.png (300 dpi, includes glow, scanlines, glitch bars, accent bar).</a:t>
            </a:r>
          </a:p>
          <a:p>
            <a:r>
              <a:t>Kicker, title, tagline are editable text boxes. Accent #7c4dff.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smarte Türklingel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Gratis-Filter — front (DE)</a:t>
            </a:r>
          </a:p>
          <a:p>
            <a:r>
              <a:t>Background image: front_10.png (300 dpi, includes glow, scanlines, glitch bars, accent bar).</a:t>
            </a:r>
          </a:p>
          <a:p>
            <a:r>
              <a:t>Kicker, title, tagline are editable text boxes. Accent #e0409f.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smarte Türklingel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Supermarkt — front (DE)</a:t>
            </a:r>
          </a:p>
          <a:p>
            <a:r>
              <a:t>Background image: front_11.png (300 dpi, includes glow, scanlines, glitch bars, accent bar).</a:t>
            </a:r>
          </a:p>
          <a:p>
            <a:r>
              <a:t>Kicker, title, tagline are editable text boxes. Accent #b57bff. Type: Helvetica Neue.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smarte Türklingel — back (DE)</a:t>
            </a:r>
          </a:p>
          <a:p>
            <a:r>
              <a:t>Everything here is native PowerPoint: text boxes, the accent bar and the background rectangle. Edit freely.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1270-6398-436F-A0E7-A73FCD03DFA9}"/>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80D30A70-97F3-47AD-8300-CA33048F70AD}"/>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4DC573D5-9DB0-496E-AFD9-5927F6B6974F}"/>
              </a:ext>
            </a:extLst>
          </p:cNvPr>
          <p:cNvSpPr>
            <a:spLocks noGrp="1"/>
          </p:cNvSpPr>
          <p:nvPr>
            <p:ph type="dt" idx="10"/>
          </p:nvPr>
        </p:nvSpPr>
        <p:spPr/>
        <p:txBody>
          <a:bodyPr/>
          <a:lstStyle/>
          <a:p>
            <a:fld id="{5BCAD085-E8A6-8845-BD4E-CB4CCA059FC4}" type="datetimeFigureOut">
              <a:t>06.08.26</a:t>
            </a:fld>
            <a:endParaRPr/>
          </a:p>
        </p:txBody>
      </p:sp>
      <p:sp>
        <p:nvSpPr>
          <p:cNvPr id="5" name="Footer Placeholder 4">
            <a:extLst>
              <a:ext uri="{FF2B5EF4-FFF2-40B4-BE49-F238E27FC236}">
                <a16:creationId xmlns:a16="http://schemas.microsoft.com/office/drawing/2014/main" id="{B6027B1E-E01B-4446-B523-345BEB735DB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C1EA930-5A36-416A-88B4-8968B53A6FD1}"/>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8920-40CB-4E5F-8542-94AE33C3DCE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B402721-E8E9-4F3B-849B-041FF33200AF}"/>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809796BD-CA45-4861-BF61-E68FEE083A88}"/>
              </a:ext>
            </a:extLst>
          </p:cNvPr>
          <p:cNvSpPr>
            <a:spLocks noGrp="1"/>
          </p:cNvSpPr>
          <p:nvPr>
            <p:ph type="dt" idx="10"/>
          </p:nvPr>
        </p:nvSpPr>
        <p:spPr/>
        <p:txBody>
          <a:bodyPr/>
          <a:lstStyle/>
          <a:p>
            <a:fld id="{5BCAD085-E8A6-8845-BD4E-CB4CCA059FC4}" type="datetimeFigureOut">
              <a:t>06.08.26</a:t>
            </a:fld>
            <a:endParaRPr/>
          </a:p>
        </p:txBody>
      </p:sp>
      <p:sp>
        <p:nvSpPr>
          <p:cNvPr id="5" name="Footer Placeholder 4">
            <a:extLst>
              <a:ext uri="{FF2B5EF4-FFF2-40B4-BE49-F238E27FC236}">
                <a16:creationId xmlns:a16="http://schemas.microsoft.com/office/drawing/2014/main" id="{6C05EDB6-DC06-4AC3-9DA1-432F32804A3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39BDD6B-77DF-43BA-94E1-473D7CC9D31D}"/>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6ECCA-BEF4-4F13-8D75-7342C8255054}"/>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E366CA14-03B9-43F1-ADF8-BA2DA4B1232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A7DDF03E-7CA9-4CAE-8E90-0DE2DD7FB518}"/>
              </a:ext>
            </a:extLst>
          </p:cNvPr>
          <p:cNvSpPr>
            <a:spLocks noGrp="1"/>
          </p:cNvSpPr>
          <p:nvPr>
            <p:ph type="dt" idx="10"/>
          </p:nvPr>
        </p:nvSpPr>
        <p:spPr/>
        <p:txBody>
          <a:bodyPr/>
          <a:lstStyle/>
          <a:p>
            <a:fld id="{5BCAD085-E8A6-8845-BD4E-CB4CCA059FC4}" type="datetimeFigureOut">
              <a:t>06.08.26</a:t>
            </a:fld>
            <a:endParaRPr/>
          </a:p>
        </p:txBody>
      </p:sp>
      <p:sp>
        <p:nvSpPr>
          <p:cNvPr id="5" name="Footer Placeholder 4">
            <a:extLst>
              <a:ext uri="{FF2B5EF4-FFF2-40B4-BE49-F238E27FC236}">
                <a16:creationId xmlns:a16="http://schemas.microsoft.com/office/drawing/2014/main" id="{7D739460-E075-4ABE-BF6E-410E694D6F0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0E74E1-588A-41FC-9B82-12F875ADCEBC}"/>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E02F-69BC-4FC1-B575-76352A864A10}"/>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922D8B29-115D-4FA1-A1C5-276DF35CD66E}"/>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6F9B1C47-2523-4A0D-8FFA-CA4116A1DB01}"/>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028576D6-5058-4C75-9C32-F61CB143C641}"/>
              </a:ext>
            </a:extLst>
          </p:cNvPr>
          <p:cNvSpPr>
            <a:spLocks noGrp="1"/>
          </p:cNvSpPr>
          <p:nvPr>
            <p:ph type="dt" idx="10"/>
          </p:nvPr>
        </p:nvSpPr>
        <p:spPr/>
        <p:txBody>
          <a:bodyPr/>
          <a:lstStyle/>
          <a:p>
            <a:fld id="{5BCAD085-E8A6-8845-BD4E-CB4CCA059FC4}" type="datetimeFigureOut">
              <a:t>06.08.26</a:t>
            </a:fld>
            <a:endParaRPr/>
          </a:p>
        </p:txBody>
      </p:sp>
      <p:sp>
        <p:nvSpPr>
          <p:cNvPr id="6" name="Footer Placeholder 5">
            <a:extLst>
              <a:ext uri="{FF2B5EF4-FFF2-40B4-BE49-F238E27FC236}">
                <a16:creationId xmlns:a16="http://schemas.microsoft.com/office/drawing/2014/main" id="{97D9CF96-48B4-429C-B33C-F403546F65E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FE0FA71-1836-46EC-85E9-F2F4E938DECB}"/>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4BA6B-89D8-4CB7-874A-260A105317F7}"/>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E5845857-4DE9-4799-8303-AFD426707C03}"/>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id="{9CAA01E3-011D-4C91-ADE0-5E2C78D9499C}"/>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3BDC1910-22A9-4859-A1C0-BE3AEF35F34F}"/>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id="{F0B722F7-247D-4A5F-9760-ABB3F799AD5E}"/>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0D53D3AE-07EF-4C2B-8011-8A333CE243BD}"/>
              </a:ext>
            </a:extLst>
          </p:cNvPr>
          <p:cNvSpPr>
            <a:spLocks noGrp="1"/>
          </p:cNvSpPr>
          <p:nvPr>
            <p:ph type="dt" idx="10"/>
          </p:nvPr>
        </p:nvSpPr>
        <p:spPr/>
        <p:txBody>
          <a:bodyPr/>
          <a:lstStyle/>
          <a:p>
            <a:fld id="{5BCAD085-E8A6-8845-BD4E-CB4CCA059FC4}" type="datetimeFigureOut">
              <a:t>06.08.26</a:t>
            </a:fld>
            <a:endParaRPr/>
          </a:p>
        </p:txBody>
      </p:sp>
      <p:sp>
        <p:nvSpPr>
          <p:cNvPr id="8" name="Footer Placeholder 7">
            <a:extLst>
              <a:ext uri="{FF2B5EF4-FFF2-40B4-BE49-F238E27FC236}">
                <a16:creationId xmlns:a16="http://schemas.microsoft.com/office/drawing/2014/main" id="{D57BA0E8-EE5E-4DCC-8C67-139A001FDE38}"/>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3220FA13-F908-48A3-BAEE-7C03327CF49D}"/>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18F48-0949-447A-AE66-85163B16A822}"/>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77EDBEE-BF2F-4EDA-AF0D-25A13A5F858E}"/>
              </a:ext>
            </a:extLst>
          </p:cNvPr>
          <p:cNvSpPr>
            <a:spLocks noGrp="1"/>
          </p:cNvSpPr>
          <p:nvPr>
            <p:ph type="dt" idx="10"/>
          </p:nvPr>
        </p:nvSpPr>
        <p:spPr/>
        <p:txBody>
          <a:bodyPr/>
          <a:lstStyle/>
          <a:p>
            <a:fld id="{5BCAD085-E8A6-8845-BD4E-CB4CCA059FC4}" type="datetimeFigureOut">
              <a:t>06.08.26</a:t>
            </a:fld>
            <a:endParaRPr/>
          </a:p>
        </p:txBody>
      </p:sp>
      <p:sp>
        <p:nvSpPr>
          <p:cNvPr id="4" name="Footer Placeholder 3">
            <a:extLst>
              <a:ext uri="{FF2B5EF4-FFF2-40B4-BE49-F238E27FC236}">
                <a16:creationId xmlns:a16="http://schemas.microsoft.com/office/drawing/2014/main" id="{45EE0109-BDCE-4CAF-B804-94FFE68AA29E}"/>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58658945-AF2A-43A0-8FA6-3B82B6A2BC01}"/>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C316B0-A091-4419-BFFD-E0BF016B52DD}"/>
              </a:ext>
            </a:extLst>
          </p:cNvPr>
          <p:cNvSpPr>
            <a:spLocks noGrp="1"/>
          </p:cNvSpPr>
          <p:nvPr>
            <p:ph type="dt" idx="10"/>
          </p:nvPr>
        </p:nvSpPr>
        <p:spPr/>
        <p:txBody>
          <a:bodyPr/>
          <a:lstStyle/>
          <a:p>
            <a:fld id="{5BCAD085-E8A6-8845-BD4E-CB4CCA059FC4}" type="datetimeFigureOut">
              <a:t>06.08.26</a:t>
            </a:fld>
            <a:endParaRPr/>
          </a:p>
        </p:txBody>
      </p:sp>
      <p:sp>
        <p:nvSpPr>
          <p:cNvPr id="3" name="Footer Placeholder 2">
            <a:extLst>
              <a:ext uri="{FF2B5EF4-FFF2-40B4-BE49-F238E27FC236}">
                <a16:creationId xmlns:a16="http://schemas.microsoft.com/office/drawing/2014/main" id="{625CF6D1-C0AC-4056-87A9-E0E5D488E5AD}"/>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46F74FC-D9D3-42A5-A927-0023940711B6}"/>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50DBE-D142-404F-BA95-2A65BA10EE5A}"/>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CE94A69A-565F-4710-998A-7FB803A7E953}"/>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016FE6B0-AB41-47FE-B586-65C9D0BDD7C1}"/>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id="{EEBD5355-D7DC-48D9-A1F7-EE7AA2783568}"/>
              </a:ext>
            </a:extLst>
          </p:cNvPr>
          <p:cNvSpPr>
            <a:spLocks noGrp="1"/>
          </p:cNvSpPr>
          <p:nvPr>
            <p:ph type="dt" idx="10"/>
          </p:nvPr>
        </p:nvSpPr>
        <p:spPr/>
        <p:txBody>
          <a:bodyPr/>
          <a:lstStyle/>
          <a:p>
            <a:fld id="{5BCAD085-E8A6-8845-BD4E-CB4CCA059FC4}" type="datetimeFigureOut">
              <a:t>06.08.26</a:t>
            </a:fld>
            <a:endParaRPr/>
          </a:p>
        </p:txBody>
      </p:sp>
      <p:sp>
        <p:nvSpPr>
          <p:cNvPr id="6" name="Footer Placeholder 5">
            <a:extLst>
              <a:ext uri="{FF2B5EF4-FFF2-40B4-BE49-F238E27FC236}">
                <a16:creationId xmlns:a16="http://schemas.microsoft.com/office/drawing/2014/main" id="{8367A2CD-1497-453E-945D-46BA3A17A66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28B852D-C1D8-4E1D-9C36-7DEE5DF3A1E2}"/>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767EB-FC44-4252-B3F4-631F01BFFF02}"/>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039D7C07-D362-4825-8F0C-1E0995C968E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8793F800-2403-4CC4-9210-755C7091E4F2}"/>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id="{61B7ADB1-4953-43D6-A47F-33C296AE1F4B}"/>
              </a:ext>
            </a:extLst>
          </p:cNvPr>
          <p:cNvSpPr>
            <a:spLocks noGrp="1"/>
          </p:cNvSpPr>
          <p:nvPr>
            <p:ph type="dt" idx="10"/>
          </p:nvPr>
        </p:nvSpPr>
        <p:spPr/>
        <p:txBody>
          <a:bodyPr/>
          <a:lstStyle/>
          <a:p>
            <a:fld id="{5BCAD085-E8A6-8845-BD4E-CB4CCA059FC4}" type="datetimeFigureOut">
              <a:t>06.08.26</a:t>
            </a:fld>
            <a:endParaRPr/>
          </a:p>
        </p:txBody>
      </p:sp>
      <p:sp>
        <p:nvSpPr>
          <p:cNvPr id="6" name="Footer Placeholder 5">
            <a:extLst>
              <a:ext uri="{FF2B5EF4-FFF2-40B4-BE49-F238E27FC236}">
                <a16:creationId xmlns:a16="http://schemas.microsoft.com/office/drawing/2014/main" id="{16C18508-CC9B-4B1C-B2CE-599A7AE92A6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8D2CC7F-BCB0-4BAD-A2F2-D9F70232132D}"/>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43C6C-0713-44EA-A772-9036E10808E2}"/>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49F8B1D-8B79-4B78-9772-997248C89A19}"/>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84EFF520-61B5-41D3-9083-3081089F4E88}"/>
              </a:ext>
            </a:extLst>
          </p:cNvPr>
          <p:cNvSpPr>
            <a:spLocks noGrp="1"/>
          </p:cNvSpPr>
          <p:nvPr>
            <p:ph type="dt" idx="10"/>
          </p:nvPr>
        </p:nvSpPr>
        <p:spPr/>
        <p:txBody>
          <a:bodyPr/>
          <a:lstStyle/>
          <a:p>
            <a:fld id="{5BCAD085-E8A6-8845-BD4E-CB4CCA059FC4}" type="datetimeFigureOut">
              <a:t>06.08.26</a:t>
            </a:fld>
            <a:endParaRPr/>
          </a:p>
        </p:txBody>
      </p:sp>
      <p:sp>
        <p:nvSpPr>
          <p:cNvPr id="5" name="Footer Placeholder 4">
            <a:extLst>
              <a:ext uri="{FF2B5EF4-FFF2-40B4-BE49-F238E27FC236}">
                <a16:creationId xmlns:a16="http://schemas.microsoft.com/office/drawing/2014/main" id="{CF745D37-4265-4813-BF59-79249EDAA20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DF00DCF-E8BB-45DE-BD6F-AF14FFA2C163}"/>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33647-A4D2-42F1-921F-940408692D43}"/>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96F23256-C199-45D1-AD74-2526D79F6FA9}"/>
              </a:ext>
            </a:extLst>
          </p:cNvPr>
          <p:cNvSpPr>
            <a:spLocks noGrp="1"/>
          </p:cNvSpPr>
          <p:nvPr>
            <p:ph type="body" idx="1"/>
          </p:nvPr>
        </p:nvSpPr>
        <p:spPr>
          <a:xfrm>
            <a:off x="457200" y="274638"/>
            <a:ext cx="6019800" cy="5851525"/>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C6FF3B8E-0239-4304-A929-42DEDEA6B82D}"/>
              </a:ext>
            </a:extLst>
          </p:cNvPr>
          <p:cNvSpPr>
            <a:spLocks noGrp="1"/>
          </p:cNvSpPr>
          <p:nvPr>
            <p:ph type="dt" idx="10"/>
          </p:nvPr>
        </p:nvSpPr>
        <p:spPr/>
        <p:txBody>
          <a:bodyPr/>
          <a:lstStyle/>
          <a:p>
            <a:fld id="{5BCAD085-E8A6-8845-BD4E-CB4CCA059FC4}" type="datetimeFigureOut">
              <a:t>06.08.26</a:t>
            </a:fld>
            <a:endParaRPr/>
          </a:p>
        </p:txBody>
      </p:sp>
      <p:sp>
        <p:nvSpPr>
          <p:cNvPr id="5" name="Footer Placeholder 4">
            <a:extLst>
              <a:ext uri="{FF2B5EF4-FFF2-40B4-BE49-F238E27FC236}">
                <a16:creationId xmlns:a16="http://schemas.microsoft.com/office/drawing/2014/main" id="{BD3C606D-2BC8-4F2B-994F-F9F4411E0B9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1EEEF3D-43E1-44FB-9991-05A1C101E1E3}"/>
              </a:ext>
            </a:extLst>
          </p:cNvPr>
          <p:cNvSpPr>
            <a:spLocks noGrp="1"/>
          </p:cNvSpPr>
          <p:nvPr>
            <p:ph type="sldNum" idx="12"/>
          </p:nvPr>
        </p:nvSpPr>
        <p:spPr/>
        <p:txBody>
          <a:bodyPr/>
          <a:lstStyle/>
          <a:p>
            <a:fld id="{C1FF6DA9-008F-8B48-92A6-B652298478BF}" type="slidenum">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E38ED7-15C7-4218-B111-AC5D20F29D20}"/>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055A5300-1568-4156-8C20-67AAA956667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0541C31B-BD7B-43D7-AE4A-B7E9B8A0D939}"/>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06.08.26</a:t>
            </a:fld>
            <a:endParaRPr/>
          </a:p>
        </p:txBody>
      </p:sp>
      <p:sp>
        <p:nvSpPr>
          <p:cNvPr id="5" name="Footer Placeholder 4">
            <a:extLst>
              <a:ext uri="{FF2B5EF4-FFF2-40B4-BE49-F238E27FC236}">
                <a16:creationId xmlns:a16="http://schemas.microsoft.com/office/drawing/2014/main" id="{0BE913E1-3C5D-48E0-A94C-DB5B82265D73}"/>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94BFEDF5-7F6B-4EE9-B11D-1C4BC2044F8A}"/>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‹Nr.›</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a:buNone/>
        <a:defRPr sz="4400">
          <a:solidFill>
            <a:schemeClr val="tx1"/>
          </a:solidFill>
          <a:latin typeface="+mj-lt"/>
          <a:ea typeface="+mj-lt"/>
          <a:cs typeface="+mj-lt"/>
        </a:defRPr>
      </a:lvl1pPr>
    </p:titleStyle>
    <p:bodyStyle>
      <a:lvl1pPr marL="342900" indent="-342900" algn="l">
        <a:buChar char="•"/>
        <a:defRPr sz="3200">
          <a:solidFill>
            <a:schemeClr val="tx1"/>
          </a:solidFill>
          <a:latin typeface="+mn-lt"/>
          <a:ea typeface="+mn-lt"/>
          <a:cs typeface="+mn-lt"/>
        </a:defRPr>
      </a:lvl1pPr>
      <a:lvl2pPr marL="742950" indent="-285750" algn="l">
        <a:buChar char="–"/>
        <a:defRPr sz="2800">
          <a:solidFill>
            <a:schemeClr val="tx1"/>
          </a:solidFill>
          <a:latin typeface="+mn-lt"/>
          <a:ea typeface="+mn-lt"/>
          <a:cs typeface="+mn-lt"/>
        </a:defRPr>
      </a:lvl2pPr>
      <a:lvl3pPr marL="1143000" indent="-228600" algn="l">
        <a:buChar char="•"/>
        <a:defRPr sz="2400">
          <a:solidFill>
            <a:schemeClr val="tx1"/>
          </a:solidFill>
          <a:latin typeface="+mn-lt"/>
          <a:ea typeface="+mn-lt"/>
          <a:cs typeface="+mn-lt"/>
        </a:defRPr>
      </a:lvl3pPr>
      <a:lvl4pPr marL="1600200" indent="-228600" algn="l">
        <a:buChar char="–"/>
        <a:defRPr sz="2000">
          <a:solidFill>
            <a:schemeClr val="tx1"/>
          </a:solidFill>
          <a:latin typeface="+mn-lt"/>
          <a:ea typeface="+mn-lt"/>
          <a:cs typeface="+mn-lt"/>
        </a:defRPr>
      </a:lvl4pPr>
      <a:lvl5pPr marL="2057400" indent="-228600" algn="l">
        <a:buChar char="»"/>
        <a:defRPr sz="2000">
          <a:solidFill>
            <a:schemeClr val="tx1"/>
          </a:solidFill>
          <a:latin typeface="+mn-lt"/>
          <a:ea typeface="+mn-lt"/>
          <a:cs typeface="+mn-l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2.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4.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5.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
          <p:cNvPicPr>
            <a:picLocks noChangeAspect="1"/>
          </p:cNvPicPr>
          <p:nvPr/>
        </p:nvPicPr>
        <p:blipFill>
          <a:blip r:embed="rId3"/>
          <a:stretch>
            <a:fillRect/>
          </a:stretch>
        </p:blipFill>
        <p:spPr>
          <a:xfrm>
            <a:off x="0" y="0"/>
            <a:ext cx="5328000" cy="3780000"/>
          </a:xfrm>
          <a:prstGeom prst="rect">
            <a:avLst/>
          </a:prstGeom>
        </p:spPr>
      </p:pic>
      <p:sp>
        <p:nvSpPr>
          <p:cNvPr id="9" name="Abgerundetes Rechteck 8">
            <a:extLst>
              <a:ext uri="{FF2B5EF4-FFF2-40B4-BE49-F238E27FC236}">
                <a16:creationId xmlns:a16="http://schemas.microsoft.com/office/drawing/2014/main" id="{2B0329BF-9114-F165-36E2-8427F9D6D03D}"/>
              </a:ext>
            </a:extLst>
          </p:cNvPr>
          <p:cNvSpPr>
            <a:spLocks noGrp="1"/>
          </p:cNvSpPr>
          <p:nvPr/>
        </p:nvSpPr>
        <p:spPr>
          <a:xfrm>
            <a:off x="2266628" y="1054390"/>
            <a:ext cx="794394" cy="777156"/>
          </a:xfrm>
          <a:prstGeom prst="roundRect">
            <a:avLst/>
          </a:prstGeom>
          <a:solidFill>
            <a:srgbClr val="1F497D">
              <a:alpha val="34510"/>
            </a:srgbClr>
          </a:solidFill>
          <a:ln>
            <a:solidFill>
              <a:srgbClr val="4EA8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5CEFCAA0-9E2A-4DAA-8BEC-197E17CD131C}"/>
              </a:ext>
            </a:extLst>
          </p:cNvPr>
          <p:cNvSpPr>
            <a:spLocks noGrp="1"/>
          </p:cNvSpPr>
          <p:nvPr/>
        </p:nvSpPr>
        <p:spPr>
          <a:xfrm>
            <a:off x="288000" y="704176"/>
            <a:ext cx="4752000" cy="153888"/>
          </a:xfrm>
          <a:prstGeom prst="rect">
            <a:avLst/>
          </a:prstGeom>
          <a:noFill/>
        </p:spPr>
        <p:txBody>
          <a:bodyPr wrap="square" lIns="0" tIns="0" rIns="0" bIns="0">
            <a:spAutoFit/>
          </a:bodyPr>
          <a:lstStyle/>
          <a:p>
            <a:pPr algn="ctr">
              <a:lnSpc>
                <a:spcPct val="100000"/>
              </a:lnSpc>
              <a:buNone/>
            </a:pPr>
            <a:r>
              <a:rPr sz="1000" b="1">
                <a:solidFill>
                  <a:srgbClr val="4EA8FF"/>
                </a:solidFill>
                <a:latin typeface="Open Sans Condensed"/>
                <a:ea typeface="Open Sans Condensed"/>
                <a:cs typeface="Open Sans Condensed"/>
              </a:rPr>
              <a:t>OBJECT RECOGNITION</a:t>
            </a:r>
          </a:p>
        </p:txBody>
      </p:sp>
      <p:pic>
        <p:nvPicPr>
          <p:cNvPr id="18" name="Picture 3"/>
          <p:cNvPicPr>
            <a:picLocks noChangeAspect="1"/>
          </p:cNvPicPr>
          <p:nvPr/>
        </p:nvPicPr>
        <p:blipFill>
          <a:blip r:embed="rId4"/>
          <a:stretch>
            <a:fillRect/>
          </a:stretch>
        </p:blipFill>
        <p:spPr>
          <a:xfrm>
            <a:off x="2376000" y="1154968"/>
            <a:ext cx="576000" cy="576000"/>
          </a:xfrm>
          <a:prstGeom prst="rect">
            <a:avLst/>
          </a:prstGeom>
        </p:spPr>
      </p:pic>
      <p:sp>
        <p:nvSpPr>
          <p:cNvPr id="5" name="TextBox 4">
            <a:extLst>
              <a:ext uri="{FF2B5EF4-FFF2-40B4-BE49-F238E27FC236}">
                <a16:creationId xmlns:a16="http://schemas.microsoft.com/office/drawing/2014/main" id="{B18245C7-8278-4427-B984-E09184FEDDF5}"/>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lnSpc>
                <a:spcPct val="100000"/>
              </a:lnSpc>
              <a:buNone/>
            </a:pPr>
            <a:r>
              <a:rPr sz="2400" b="1">
                <a:solidFill>
                  <a:srgbClr val="E6EDF3"/>
                </a:solidFill>
                <a:latin typeface="Open Sans Condensed"/>
                <a:ea typeface="Open Sans Condensed"/>
                <a:cs typeface="Open Sans Condensed"/>
              </a:rPr>
              <a:t>OBJECT DETECTIVE</a:t>
            </a:r>
          </a:p>
        </p:txBody>
      </p:sp>
      <p:sp>
        <p:nvSpPr>
          <p:cNvPr id="6" name="TextBox 5">
            <a:extLst>
              <a:ext uri="{FF2B5EF4-FFF2-40B4-BE49-F238E27FC236}">
                <a16:creationId xmlns:a16="http://schemas.microsoft.com/office/drawing/2014/main" id="{3CB2897D-B999-415F-8AEE-C86909A6AADE}"/>
              </a:ext>
            </a:extLst>
          </p:cNvPr>
          <p:cNvSpPr>
            <a:spLocks noGrp="1"/>
          </p:cNvSpPr>
          <p:nvPr/>
        </p:nvSpPr>
        <p:spPr>
          <a:xfrm>
            <a:off x="288000" y="2605432"/>
            <a:ext cx="4752000" cy="153888"/>
          </a:xfrm>
          <a:prstGeom prst="rect">
            <a:avLst/>
          </a:prstGeom>
          <a:noFill/>
        </p:spPr>
        <p:txBody>
          <a:bodyPr wrap="square" lIns="0" tIns="0" rIns="0" bIns="0">
            <a:spAutoFit/>
          </a:bodyPr>
          <a:lstStyle/>
          <a:p>
            <a:pPr algn="ctr">
              <a:lnSpc>
                <a:spcPct val="100000"/>
              </a:lnSpc>
              <a:buNone/>
            </a:pPr>
            <a:r>
              <a:rPr sz="1000">
                <a:solidFill>
                  <a:srgbClr val="4EA8FF"/>
                </a:solidFill>
                <a:latin typeface="Open Sans Light"/>
                <a:ea typeface="Open Sans Light"/>
                <a:cs typeface="Open Sans Light"/>
              </a:rPr>
              <a:t>See and recognise.</a:t>
            </a:r>
          </a:p>
        </p:txBody>
      </p:sp>
      <p:pic>
        <p:nvPicPr>
          <p:cNvPr id="21" name="Picture 6"/>
          <p:cNvPicPr>
            <a:picLocks noChangeAspect="1"/>
          </p:cNvPicPr>
          <p:nvPr/>
        </p:nvPicPr>
        <p:blipFill>
          <a:blip r:embed="rId5"/>
          <a:stretch>
            <a:fillRect/>
          </a:stretch>
        </p:blipFill>
        <p:spPr>
          <a:xfrm>
            <a:off x="1840455" y="3348000"/>
            <a:ext cx="706415" cy="180000"/>
          </a:xfrm>
          <a:prstGeom prst="rect">
            <a:avLst/>
          </a:prstGeom>
        </p:spPr>
      </p:pic>
      <p:pic>
        <p:nvPicPr>
          <p:cNvPr id="22" name="Picture 7"/>
          <p:cNvPicPr>
            <a:picLocks noChangeAspect="1"/>
          </p:cNvPicPr>
          <p:nvPr/>
        </p:nvPicPr>
        <p:blipFill>
          <a:blip r:embed="rId6"/>
          <a:stretch>
            <a:fillRect/>
          </a:stretch>
        </p:blipFill>
        <p:spPr>
          <a:xfrm>
            <a:off x="2708870" y="3348000"/>
            <a:ext cx="778674" cy="180000"/>
          </a:xfrm>
          <a:prstGeom prst="rect">
            <a:avLst/>
          </a:prstGeom>
        </p:spPr>
      </p:pic>
      <p:sp>
        <p:nvSpPr>
          <p:cNvPr id="10" name="Rectangle 2">
            <a:extLst>
              <a:ext uri="{FF2B5EF4-FFF2-40B4-BE49-F238E27FC236}">
                <a16:creationId xmlns:a16="http://schemas.microsoft.com/office/drawing/2014/main" id="{7B1FF43E-C11C-FFBD-3731-632D4CE15D00}"/>
              </a:ext>
            </a:extLst>
          </p:cNvPr>
          <p:cNvSpPr>
            <a:spLocks noGrp="1"/>
          </p:cNvSpPr>
          <p:nvPr/>
        </p:nvSpPr>
        <p:spPr>
          <a:xfrm>
            <a:off x="349857" y="2647798"/>
            <a:ext cx="1542553" cy="79513"/>
          </a:xfrm>
          <a:prstGeom prst="rect">
            <a:avLst/>
          </a:prstGeom>
          <a:solidFill>
            <a:srgbClr val="3C699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046459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2ECB4F-B436-46EA-B3D1-AC3657655181}"/>
              </a:ext>
            </a:extLst>
          </p:cNvPr>
          <p:cNvSpPr>
            <a:spLocks noGrp="1"/>
          </p:cNvSpPr>
          <p:nvPr/>
        </p:nvSpPr>
        <p:spPr>
          <a:xfrm>
            <a:off x="0" y="7200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FDB5E2A9-1435-4D38-BB19-B8A5D29DEC20}"/>
              </a:ext>
            </a:extLst>
          </p:cNvPr>
          <p:cNvSpPr>
            <a:spLocks noGrp="1"/>
          </p:cNvSpPr>
          <p:nvPr/>
        </p:nvSpPr>
        <p:spPr>
          <a:xfrm>
            <a:off x="0" y="0"/>
            <a:ext cx="5328000" cy="72000"/>
          </a:xfrm>
          <a:prstGeom prst="rect">
            <a:avLst/>
          </a:prstGeom>
          <a:solidFill>
            <a:srgbClr val="4EA8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56AEEA-D1EE-4D0D-9603-F6A3DB59B620}"/>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OBJECT DETECTIVE</a:t>
            </a:r>
          </a:p>
        </p:txBody>
      </p:sp>
      <p:sp>
        <p:nvSpPr>
          <p:cNvPr id="7" name="TextBox 6">
            <a:extLst>
              <a:ext uri="{FF2B5EF4-FFF2-40B4-BE49-F238E27FC236}">
                <a16:creationId xmlns:a16="http://schemas.microsoft.com/office/drawing/2014/main" id="{EC08BCBF-83E8-43D9-AA95-58608683A0D8}"/>
              </a:ext>
            </a:extLst>
          </p:cNvPr>
          <p:cNvSpPr>
            <a:spLocks noGrp="1"/>
          </p:cNvSpPr>
          <p:nvPr/>
        </p:nvSpPr>
        <p:spPr>
          <a:xfrm>
            <a:off x="288000" y="819219"/>
            <a:ext cx="4752000" cy="2558796"/>
          </a:xfrm>
          <a:prstGeom prst="rect">
            <a:avLst/>
          </a:prstGeom>
          <a:noFill/>
        </p:spPr>
        <p:txBody>
          <a:bodyPr wrap="square" lIns="0" tIns="0" rIns="0" bIns="0">
            <a:spAutoFit/>
          </a:bodyPr>
          <a:lstStyle/>
          <a:p>
            <a:pPr marL="285750" indent="-285750">
              <a:lnSpc>
                <a:spcPct val="115000"/>
              </a:lnSpc>
              <a:buAutoNum type="romanUcPeriod"/>
            </a:pPr>
            <a:r>
              <a:rPr sz="1000" dirty="0">
                <a:solidFill>
                  <a:srgbClr val="4EA8FF"/>
                </a:solidFill>
                <a:latin typeface="Open Sans"/>
                <a:ea typeface="Open Sans"/>
                <a:cs typeface="Open Sans"/>
              </a:rPr>
              <a:t>EXPLORATION</a:t>
            </a:r>
          </a:p>
          <a:p>
            <a:pPr marL="228600" indent="-228600" algn="l">
              <a:lnSpc>
                <a:spcPct val="115000"/>
              </a:lnSpc>
              <a:buAutoNum type="arabicPeriod"/>
            </a:pPr>
            <a:r>
              <a:rPr sz="1000" dirty="0">
                <a:solidFill>
                  <a:srgbClr val="141A33"/>
                </a:solidFill>
                <a:latin typeface="Open Sans"/>
                <a:ea typeface="Open Sans"/>
                <a:cs typeface="Open Sans"/>
              </a:rPr>
              <a:t>Hold up objects. What does the AI </a:t>
            </a:r>
            <a:r>
              <a:rPr sz="1000" dirty="0" err="1">
                <a:solidFill>
                  <a:srgbClr val="141A33"/>
                </a:solidFill>
                <a:latin typeface="Open Sans"/>
                <a:ea typeface="Open Sans"/>
                <a:cs typeface="Open Sans"/>
              </a:rPr>
              <a:t>recognise</a:t>
            </a:r>
            <a:r>
              <a:rPr sz="1000" dirty="0">
                <a:solidFill>
                  <a:srgbClr val="141A33"/>
                </a:solidFill>
                <a:latin typeface="Open Sans"/>
                <a:ea typeface="Open Sans"/>
                <a:cs typeface="Open Sans"/>
              </a:rPr>
              <a:t> or miss?</a:t>
            </a:r>
          </a:p>
          <a:p>
            <a:pPr marL="228600" indent="-228600">
              <a:lnSpc>
                <a:spcPct val="115000"/>
              </a:lnSpc>
              <a:buAutoNum type="arabicPeriod"/>
            </a:pPr>
            <a:r>
              <a:rPr sz="1000" dirty="0">
                <a:solidFill>
                  <a:srgbClr val="141A33"/>
                </a:solidFill>
                <a:latin typeface="Open Sans"/>
                <a:ea typeface="Open Sans"/>
                <a:cs typeface="Open Sans"/>
              </a:rPr>
              <a:t>Move the confidence slider all the way left. What happens?</a:t>
            </a:r>
          </a:p>
          <a:p>
            <a:pPr marL="228600" indent="-228600">
              <a:lnSpc>
                <a:spcPct val="115000"/>
              </a:lnSpc>
              <a:buAutoNum type="arabicPeriod"/>
            </a:pPr>
            <a:r>
              <a:rPr sz="1000" dirty="0">
                <a:solidFill>
                  <a:srgbClr val="141A33"/>
                </a:solidFill>
                <a:latin typeface="Open Sans"/>
                <a:ea typeface="Open Sans"/>
                <a:cs typeface="Open Sans"/>
              </a:rPr>
              <a:t>Move it all the way right. What does the AI miss?</a:t>
            </a:r>
          </a:p>
          <a:p>
            <a:pPr marL="228600" indent="-228600">
              <a:lnSpc>
                <a:spcPct val="115000"/>
              </a:lnSpc>
              <a:buAutoNum type="arabicPeriod"/>
            </a:pPr>
            <a:endParaRPr sz="1000" dirty="0">
              <a:solidFill>
                <a:srgbClr val="141A33"/>
              </a:solidFill>
              <a:latin typeface="Open Sans"/>
              <a:ea typeface="Open Sans"/>
              <a:cs typeface="Open Sans"/>
            </a:endParaRPr>
          </a:p>
          <a:p>
            <a:pPr marL="285750" indent="-285750">
              <a:lnSpc>
                <a:spcPct val="115000"/>
              </a:lnSpc>
              <a:buAutoNum type="romanUcPeriod" startAt="2"/>
            </a:pPr>
            <a:r>
              <a:rPr sz="1000" dirty="0">
                <a:solidFill>
                  <a:srgbClr val="4EA8FF"/>
                </a:solidFill>
                <a:latin typeface="Open Sans"/>
                <a:ea typeface="Open Sans"/>
                <a:cs typeface="Open Sans"/>
              </a:rPr>
              <a:t>CHALLENGE</a:t>
            </a:r>
          </a:p>
          <a:p>
            <a:pPr>
              <a:lnSpc>
                <a:spcPct val="115000"/>
              </a:lnSpc>
              <a:buNone/>
            </a:pPr>
            <a:r>
              <a:rPr sz="1000" dirty="0">
                <a:solidFill>
                  <a:srgbClr val="141A33"/>
                </a:solidFill>
                <a:latin typeface="Open Sans"/>
                <a:ea typeface="Open Sans"/>
                <a:cs typeface="Open Sans"/>
              </a:rPr>
              <a:t>Find one object the AI </a:t>
            </a:r>
            <a:r>
              <a:rPr sz="1000" dirty="0" err="1">
                <a:solidFill>
                  <a:srgbClr val="141A33"/>
                </a:solidFill>
                <a:latin typeface="Open Sans"/>
                <a:ea typeface="Open Sans"/>
                <a:cs typeface="Open Sans"/>
              </a:rPr>
              <a:t>recognises</a:t>
            </a:r>
            <a:r>
              <a:rPr sz="1000" dirty="0">
                <a:solidFill>
                  <a:srgbClr val="141A33"/>
                </a:solidFill>
                <a:latin typeface="Open Sans"/>
                <a:ea typeface="Open Sans"/>
                <a:cs typeface="Open Sans"/>
              </a:rPr>
              <a:t> with over 80% confidence—and one it ignores.</a:t>
            </a:r>
          </a:p>
          <a:p>
            <a:pPr>
              <a:lnSpc>
                <a:spcPct val="115000"/>
              </a:lnSpc>
              <a:buNone/>
            </a:pPr>
            <a:endParaRPr sz="1000" dirty="0">
              <a:solidFill>
                <a:srgbClr val="141A33"/>
              </a:solidFill>
              <a:latin typeface="Open Sans"/>
              <a:ea typeface="Open Sans"/>
              <a:cs typeface="Open Sans"/>
            </a:endParaRPr>
          </a:p>
          <a:p>
            <a:pPr marL="285750" indent="-285750">
              <a:lnSpc>
                <a:spcPct val="115000"/>
              </a:lnSpc>
              <a:buAutoNum type="romanUcPeriod" startAt="3"/>
            </a:pPr>
            <a:r>
              <a:rPr sz="1000" dirty="0">
                <a:solidFill>
                  <a:srgbClr val="4EA8FF"/>
                </a:solidFill>
                <a:latin typeface="Open Sans"/>
                <a:ea typeface="Open Sans"/>
                <a:cs typeface="Open Sans"/>
              </a:rPr>
              <a:t>REFLECTION</a:t>
            </a:r>
          </a:p>
          <a:p>
            <a:pPr>
              <a:lnSpc>
                <a:spcPct val="115000"/>
              </a:lnSpc>
              <a:buNone/>
            </a:pPr>
            <a:r>
              <a:rPr sz="1000" dirty="0">
                <a:solidFill>
                  <a:srgbClr val="141A33"/>
                </a:solidFill>
                <a:latin typeface="Open Sans"/>
                <a:ea typeface="Open Sans"/>
                <a:cs typeface="Open Sans"/>
              </a:rPr>
              <a:t>The AI knows exactly 80 things. Who chose them—and what does that mean for everything else?</a:t>
            </a:r>
          </a:p>
        </p:txBody>
      </p:sp>
      <p:pic>
        <p:nvPicPr>
          <p:cNvPr id="23" name="Picture 13"/>
          <p:cNvPicPr>
            <a:picLocks noChangeAspect="1"/>
          </p:cNvPicPr>
          <p:nvPr/>
        </p:nvPicPr>
        <p:blipFill>
          <a:blip r:embed="rId3"/>
          <a:stretch>
            <a:fillRect/>
          </a:stretch>
        </p:blipFill>
        <p:spPr>
          <a:xfrm>
            <a:off x="288000" y="3438000"/>
            <a:ext cx="565132" cy="144000"/>
          </a:xfrm>
          <a:prstGeom prst="rect">
            <a:avLst/>
          </a:prstGeom>
        </p:spPr>
      </p:pic>
      <p:pic>
        <p:nvPicPr>
          <p:cNvPr id="24" name="Picture 14"/>
          <p:cNvPicPr>
            <a:picLocks noChangeAspect="1"/>
          </p:cNvPicPr>
          <p:nvPr/>
        </p:nvPicPr>
        <p:blipFill>
          <a:blip r:embed="rId4"/>
          <a:stretch>
            <a:fillRect/>
          </a:stretch>
        </p:blipFill>
        <p:spPr>
          <a:xfrm>
            <a:off x="961132" y="3438000"/>
            <a:ext cx="622939" cy="144000"/>
          </a:xfrm>
          <a:prstGeom prst="rect">
            <a:avLst/>
          </a:prstGeom>
        </p:spPr>
      </p:pic>
      <p:sp>
        <p:nvSpPr>
          <p:cNvPr id="16" name="TextBox 15">
            <a:extLst>
              <a:ext uri="{FF2B5EF4-FFF2-40B4-BE49-F238E27FC236}">
                <a16:creationId xmlns:a16="http://schemas.microsoft.com/office/drawing/2014/main" id="{ECC67125-4B76-4E88-9AC4-A51AE9CBD4B8}"/>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Tree>
    <p:extLst>
      <p:ext uri="{BB962C8B-B14F-4D97-AF65-F5344CB8AC3E}">
        <p14:creationId xmlns:p14="http://schemas.microsoft.com/office/powerpoint/2010/main" val="1573619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
          <p:cNvPicPr>
            <a:picLocks noChangeAspect="1"/>
          </p:cNvPicPr>
          <p:nvPr/>
        </p:nvPicPr>
        <p:blipFill>
          <a:blip r:embed="rId3"/>
          <a:stretch>
            <a:fillRect/>
          </a:stretch>
        </p:blipFill>
        <p:spPr>
          <a:xfrm>
            <a:off x="0" y="0"/>
            <a:ext cx="5328000" cy="3780000"/>
          </a:xfrm>
          <a:prstGeom prst="rect">
            <a:avLst/>
          </a:prstGeom>
        </p:spPr>
      </p:pic>
      <p:pic>
        <p:nvPicPr>
          <p:cNvPr id="19" name="Picture 1"/>
          <p:cNvPicPr>
            <a:picLocks noChangeAspect="1"/>
          </p:cNvPicPr>
          <p:nvPr/>
        </p:nvPicPr>
        <p:blipFill>
          <a:blip r:embed="rId3"/>
          <a:stretch>
            <a:fillRect/>
          </a:stretch>
        </p:blipFill>
        <p:spPr>
          <a:xfrm>
            <a:off x="-350" y="0"/>
            <a:ext cx="5328000" cy="3780000"/>
          </a:xfrm>
          <a:prstGeom prst="rect">
            <a:avLst/>
          </a:prstGeom>
        </p:spPr>
      </p:pic>
      <p:sp>
        <p:nvSpPr>
          <p:cNvPr id="5" name="Abgerundetes Rechteck 4">
            <a:extLst>
              <a:ext uri="{FF2B5EF4-FFF2-40B4-BE49-F238E27FC236}">
                <a16:creationId xmlns:a16="http://schemas.microsoft.com/office/drawing/2014/main" id="{9E348B07-910B-D402-D576-4062CED5C447}"/>
              </a:ext>
            </a:extLst>
          </p:cNvPr>
          <p:cNvSpPr>
            <a:spLocks noGrp="1"/>
          </p:cNvSpPr>
          <p:nvPr/>
        </p:nvSpPr>
        <p:spPr>
          <a:xfrm>
            <a:off x="2266453" y="1048454"/>
            <a:ext cx="794394" cy="777156"/>
          </a:xfrm>
          <a:prstGeom prst="roundRect">
            <a:avLst/>
          </a:prstGeom>
          <a:solidFill>
            <a:srgbClr val="6D5497">
              <a:alpha val="56078"/>
            </a:srgbClr>
          </a:solidFill>
          <a:ln>
            <a:solidFill>
              <a:srgbClr val="B67C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1" name="Picture 3"/>
          <p:cNvPicPr>
            <a:picLocks noChangeAspect="1"/>
          </p:cNvPicPr>
          <p:nvPr/>
        </p:nvPicPr>
        <p:blipFill>
          <a:blip r:embed="rId4"/>
          <a:stretch>
            <a:fillRect/>
          </a:stretch>
        </p:blipFill>
        <p:spPr>
          <a:xfrm>
            <a:off x="2335746" y="1149032"/>
            <a:ext cx="655807" cy="576000"/>
          </a:xfrm>
          <a:prstGeom prst="rect">
            <a:avLst/>
          </a:prstGeom>
        </p:spPr>
      </p:pic>
      <p:pic>
        <p:nvPicPr>
          <p:cNvPr id="22" name="Picture 6"/>
          <p:cNvPicPr>
            <a:picLocks noChangeAspect="1"/>
          </p:cNvPicPr>
          <p:nvPr/>
        </p:nvPicPr>
        <p:blipFill>
          <a:blip r:embed="rId5"/>
          <a:stretch>
            <a:fillRect/>
          </a:stretch>
        </p:blipFill>
        <p:spPr>
          <a:xfrm>
            <a:off x="1840455" y="3348000"/>
            <a:ext cx="706415" cy="180000"/>
          </a:xfrm>
          <a:prstGeom prst="rect">
            <a:avLst/>
          </a:prstGeom>
        </p:spPr>
      </p:pic>
      <p:pic>
        <p:nvPicPr>
          <p:cNvPr id="23" name="Picture 7"/>
          <p:cNvPicPr>
            <a:picLocks noChangeAspect="1"/>
          </p:cNvPicPr>
          <p:nvPr/>
        </p:nvPicPr>
        <p:blipFill>
          <a:blip r:embed="rId6"/>
          <a:stretch>
            <a:fillRect/>
          </a:stretch>
        </p:blipFill>
        <p:spPr>
          <a:xfrm>
            <a:off x="2708870" y="3348000"/>
            <a:ext cx="778674" cy="180000"/>
          </a:xfrm>
          <a:prstGeom prst="rect">
            <a:avLst/>
          </a:prstGeom>
        </p:spPr>
      </p:pic>
      <p:sp>
        <p:nvSpPr>
          <p:cNvPr id="3" name="TextBox 2">
            <a:extLst>
              <a:ext uri="{FF2B5EF4-FFF2-40B4-BE49-F238E27FC236}">
                <a16:creationId xmlns:a16="http://schemas.microsoft.com/office/drawing/2014/main" id="{11D4E6AD-AB82-4AF5-C182-2D69961D0098}"/>
              </a:ext>
            </a:extLst>
          </p:cNvPr>
          <p:cNvSpPr>
            <a:spLocks noGrp="1"/>
          </p:cNvSpPr>
          <p:nvPr/>
        </p:nvSpPr>
        <p:spPr>
          <a:xfrm>
            <a:off x="288000" y="704176"/>
            <a:ext cx="4752000" cy="153888"/>
          </a:xfrm>
          <a:prstGeom prst="rect">
            <a:avLst/>
          </a:prstGeom>
          <a:noFill/>
        </p:spPr>
        <p:txBody>
          <a:bodyPr wrap="square" lIns="0" tIns="0" rIns="0" bIns="0">
            <a:spAutoFit/>
          </a:bodyPr>
          <a:lstStyle/>
          <a:p>
            <a:pPr algn="ctr">
              <a:lnSpc>
                <a:spcPct val="100000"/>
              </a:lnSpc>
              <a:buNone/>
            </a:pPr>
            <a:r>
              <a:rPr sz="1000" b="1">
                <a:solidFill>
                  <a:srgbClr val="B67CFF"/>
                </a:solidFill>
                <a:latin typeface="Open Sans Condensed"/>
                <a:ea typeface="Open Sans Condensed"/>
                <a:cs typeface="Open Sans Condensed"/>
              </a:rPr>
              <a:t>OBJECT RECOGNITION</a:t>
            </a:r>
          </a:p>
        </p:txBody>
      </p:sp>
      <p:sp>
        <p:nvSpPr>
          <p:cNvPr id="10" name="TextBox 4">
            <a:extLst>
              <a:ext uri="{FF2B5EF4-FFF2-40B4-BE49-F238E27FC236}">
                <a16:creationId xmlns:a16="http://schemas.microsoft.com/office/drawing/2014/main" id="{72B189D4-BE20-BD4A-F03E-82CD4CE17E4C}"/>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lnSpc>
                <a:spcPct val="100000"/>
              </a:lnSpc>
              <a:buNone/>
            </a:pPr>
            <a:r>
              <a:rPr sz="2400" b="1">
                <a:solidFill>
                  <a:srgbClr val="E6EDF3"/>
                </a:solidFill>
                <a:latin typeface="Open Sans Condensed"/>
                <a:ea typeface="Open Sans Condensed"/>
                <a:cs typeface="Open Sans Condensed"/>
              </a:rPr>
              <a:t>TRAIN THE AI</a:t>
            </a:r>
          </a:p>
        </p:txBody>
      </p:sp>
      <p:sp>
        <p:nvSpPr>
          <p:cNvPr id="11" name="TextBox 5">
            <a:extLst>
              <a:ext uri="{FF2B5EF4-FFF2-40B4-BE49-F238E27FC236}">
                <a16:creationId xmlns:a16="http://schemas.microsoft.com/office/drawing/2014/main" id="{EB54A2C6-7743-E220-FDC4-3D50EA13621A}"/>
              </a:ext>
            </a:extLst>
          </p:cNvPr>
          <p:cNvSpPr>
            <a:spLocks noGrp="1"/>
          </p:cNvSpPr>
          <p:nvPr/>
        </p:nvSpPr>
        <p:spPr>
          <a:xfrm>
            <a:off x="288000" y="2605432"/>
            <a:ext cx="4752000" cy="153888"/>
          </a:xfrm>
          <a:prstGeom prst="rect">
            <a:avLst/>
          </a:prstGeom>
          <a:noFill/>
        </p:spPr>
        <p:txBody>
          <a:bodyPr wrap="square" lIns="0" tIns="0" rIns="0" bIns="0">
            <a:spAutoFit/>
          </a:bodyPr>
          <a:lstStyle/>
          <a:p>
            <a:pPr algn="ctr">
              <a:lnSpc>
                <a:spcPct val="100000"/>
              </a:lnSpc>
              <a:buNone/>
            </a:pPr>
            <a:r>
              <a:rPr sz="1000" b="1">
                <a:solidFill>
                  <a:srgbClr val="B67CFF"/>
                </a:solidFill>
                <a:latin typeface="Open Sans Light"/>
                <a:ea typeface="Open Sans Light"/>
                <a:cs typeface="Open Sans Light"/>
              </a:rPr>
              <a:t>You help shape it.</a:t>
            </a:r>
          </a:p>
        </p:txBody>
      </p:sp>
      <p:sp>
        <p:nvSpPr>
          <p:cNvPr id="12" name="Rectangle 2">
            <a:extLst>
              <a:ext uri="{FF2B5EF4-FFF2-40B4-BE49-F238E27FC236}">
                <a16:creationId xmlns:a16="http://schemas.microsoft.com/office/drawing/2014/main" id="{01FF6DE8-EE2B-9B82-DFD7-907952833B60}"/>
              </a:ext>
            </a:extLst>
          </p:cNvPr>
          <p:cNvSpPr>
            <a:spLocks noGrp="1"/>
          </p:cNvSpPr>
          <p:nvPr/>
        </p:nvSpPr>
        <p:spPr>
          <a:xfrm>
            <a:off x="349857" y="2647798"/>
            <a:ext cx="1542553" cy="79513"/>
          </a:xfrm>
          <a:prstGeom prst="rect">
            <a:avLst/>
          </a:prstGeom>
          <a:solidFill>
            <a:srgbClr val="6E559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4195907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9EFE28-C7B3-41BF-A61E-A8DA62534DCC}"/>
              </a:ext>
            </a:extLst>
          </p:cNvPr>
          <p:cNvSpPr>
            <a:spLocks noGrp="1"/>
          </p:cNvSpPr>
          <p:nvPr/>
        </p:nvSpPr>
        <p:spPr>
          <a:xfrm>
            <a:off x="0" y="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39A4F643-D246-4490-BA12-CEBF8B242ACA}"/>
              </a:ext>
            </a:extLst>
          </p:cNvPr>
          <p:cNvSpPr>
            <a:spLocks noGrp="1"/>
          </p:cNvSpPr>
          <p:nvPr/>
        </p:nvSpPr>
        <p:spPr>
          <a:xfrm>
            <a:off x="0" y="0"/>
            <a:ext cx="5328000" cy="72000"/>
          </a:xfrm>
          <a:prstGeom prst="rect">
            <a:avLst/>
          </a:prstGeom>
          <a:solidFill>
            <a:srgbClr val="B57B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Picture 13"/>
          <p:cNvPicPr>
            <a:picLocks noChangeAspect="1"/>
          </p:cNvPicPr>
          <p:nvPr/>
        </p:nvPicPr>
        <p:blipFill>
          <a:blip r:embed="rId3"/>
          <a:stretch>
            <a:fillRect/>
          </a:stretch>
        </p:blipFill>
        <p:spPr>
          <a:xfrm>
            <a:off x="288000" y="3438000"/>
            <a:ext cx="565132" cy="144000"/>
          </a:xfrm>
          <a:prstGeom prst="rect">
            <a:avLst/>
          </a:prstGeom>
        </p:spPr>
      </p:pic>
      <p:pic>
        <p:nvPicPr>
          <p:cNvPr id="23" name="Picture 14"/>
          <p:cNvPicPr>
            <a:picLocks noChangeAspect="1"/>
          </p:cNvPicPr>
          <p:nvPr/>
        </p:nvPicPr>
        <p:blipFill>
          <a:blip r:embed="rId4"/>
          <a:stretch>
            <a:fillRect/>
          </a:stretch>
        </p:blipFill>
        <p:spPr>
          <a:xfrm>
            <a:off x="961132" y="3438000"/>
            <a:ext cx="622939" cy="144000"/>
          </a:xfrm>
          <a:prstGeom prst="rect">
            <a:avLst/>
          </a:prstGeom>
        </p:spPr>
      </p:pic>
      <p:sp>
        <p:nvSpPr>
          <p:cNvPr id="16" name="TextBox 15">
            <a:extLst>
              <a:ext uri="{FF2B5EF4-FFF2-40B4-BE49-F238E27FC236}">
                <a16:creationId xmlns:a16="http://schemas.microsoft.com/office/drawing/2014/main" id="{0276A720-9EA6-4670-9A97-9C5936252FD2}"/>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
        <p:nvSpPr>
          <p:cNvPr id="17" name="TextBox 6">
            <a:extLst>
              <a:ext uri="{FF2B5EF4-FFF2-40B4-BE49-F238E27FC236}">
                <a16:creationId xmlns:a16="http://schemas.microsoft.com/office/drawing/2014/main" id="{A2B8C6FC-908A-42C5-D7C6-0B4F5B6FAFE4}"/>
              </a:ext>
            </a:extLst>
          </p:cNvPr>
          <p:cNvSpPr>
            <a:spLocks noGrp="1"/>
          </p:cNvSpPr>
          <p:nvPr/>
        </p:nvSpPr>
        <p:spPr>
          <a:xfrm>
            <a:off x="288000" y="819219"/>
            <a:ext cx="4752000" cy="2558796"/>
          </a:xfrm>
          <a:prstGeom prst="rect">
            <a:avLst/>
          </a:prstGeom>
          <a:noFill/>
        </p:spPr>
        <p:txBody>
          <a:bodyPr wrap="square" lIns="0" tIns="0" rIns="0" bIns="0">
            <a:spAutoFit/>
          </a:bodyPr>
          <a:lstStyle/>
          <a:p>
            <a:pPr marL="285750" indent="-285750">
              <a:lnSpc>
                <a:spcPct val="115000"/>
              </a:lnSpc>
              <a:buAutoNum type="romanUcPeriod"/>
            </a:pPr>
            <a:r>
              <a:rPr sz="1000">
                <a:solidFill>
                  <a:srgbClr val="B67CFF"/>
                </a:solidFill>
                <a:latin typeface="Open Sans"/>
                <a:ea typeface="Open Sans"/>
                <a:cs typeface="Open Sans"/>
              </a:rPr>
              <a:t>EXPLORATION</a:t>
            </a:r>
          </a:p>
          <a:p>
            <a:pPr marL="228600" indent="-228600">
              <a:lnSpc>
                <a:spcPct val="115000"/>
              </a:lnSpc>
              <a:buAutoNum type="arabicPeriod"/>
            </a:pPr>
            <a:r>
              <a:rPr sz="1000">
                <a:solidFill>
                  <a:srgbClr val="141A33"/>
                </a:solidFill>
                <a:latin typeface="Open Sans"/>
                <a:ea typeface="Open Sans"/>
                <a:cs typeface="Open Sans"/>
              </a:rPr>
              <a:t>Choose two objects. Give them meaningful names on screen. </a:t>
            </a:r>
          </a:p>
          <a:p>
            <a:pPr marL="228600" indent="-228600">
              <a:lnSpc>
                <a:spcPct val="115000"/>
              </a:lnSpc>
              <a:buAutoNum type="arabicPeriod"/>
            </a:pPr>
            <a:r>
              <a:rPr sz="1000">
                <a:solidFill>
                  <a:srgbClr val="141A33"/>
                </a:solidFill>
                <a:latin typeface="Open Sans"/>
                <a:ea typeface="Open Sans"/>
                <a:cs typeface="Open Sans"/>
              </a:rPr>
              <a:t>Record 8–10 examples of each from different angles.</a:t>
            </a:r>
          </a:p>
          <a:p>
            <a:pPr marL="228600" indent="-228600">
              <a:lnSpc>
                <a:spcPct val="115000"/>
              </a:lnSpc>
              <a:buAutoNum type="arabicPeriod"/>
            </a:pPr>
            <a:r>
              <a:rPr sz="1000">
                <a:solidFill>
                  <a:srgbClr val="141A33"/>
                </a:solidFill>
                <a:latin typeface="Open Sans"/>
                <a:ea typeface="Open Sans"/>
                <a:cs typeface="Open Sans"/>
              </a:rPr>
              <a:t>Test: Does the AI recognise both reliably?</a:t>
            </a:r>
          </a:p>
          <a:p>
            <a:pPr marL="228600" indent="-228600">
              <a:lnSpc>
                <a:spcPct val="115000"/>
              </a:lnSpc>
              <a:buAutoNum type="arabicPeriod"/>
            </a:pPr>
            <a:endParaRPr sz="1000">
              <a:solidFill>
                <a:srgbClr val="141A33"/>
              </a:solidFill>
              <a:latin typeface="Open Sans"/>
              <a:ea typeface="Open Sans"/>
              <a:cs typeface="Open Sans"/>
            </a:endParaRPr>
          </a:p>
          <a:p>
            <a:pPr marL="285750" indent="-285750">
              <a:lnSpc>
                <a:spcPct val="115000"/>
              </a:lnSpc>
              <a:buAutoNum type="romanUcPeriod" startAt="2"/>
            </a:pPr>
            <a:r>
              <a:rPr sz="1000">
                <a:solidFill>
                  <a:srgbClr val="B67CFF"/>
                </a:solidFill>
                <a:latin typeface="Open Sans"/>
                <a:ea typeface="Open Sans"/>
                <a:cs typeface="Open Sans"/>
              </a:rPr>
              <a:t>CHALLENGE</a:t>
            </a:r>
          </a:p>
          <a:p>
            <a:pPr>
              <a:lnSpc>
                <a:spcPct val="115000"/>
              </a:lnSpc>
              <a:buNone/>
            </a:pPr>
            <a:r>
              <a:rPr sz="1000">
                <a:solidFill>
                  <a:srgbClr val="141A33"/>
                </a:solidFill>
                <a:latin typeface="Open Sans"/>
                <a:ea typeface="Open Sans"/>
                <a:cs typeface="Open Sans"/>
              </a:rPr>
              <a:t>The bias experiment: train it badly on purpose—record one object only from the front and the other only from the back. Then turn both around. What happens, and what is this problem called in real AI systems?</a:t>
            </a:r>
          </a:p>
          <a:p>
            <a:pPr>
              <a:lnSpc>
                <a:spcPct val="115000"/>
              </a:lnSpc>
              <a:buNone/>
            </a:pPr>
            <a:endParaRPr sz="1000">
              <a:solidFill>
                <a:srgbClr val="141A33"/>
              </a:solidFill>
              <a:latin typeface="Open Sans"/>
              <a:ea typeface="Open Sans"/>
              <a:cs typeface="Open Sans"/>
            </a:endParaRPr>
          </a:p>
          <a:p>
            <a:pPr marL="285750" indent="-285750">
              <a:lnSpc>
                <a:spcPct val="115000"/>
              </a:lnSpc>
              <a:buAutoNum type="romanUcPeriod" startAt="3"/>
            </a:pPr>
            <a:r>
              <a:rPr sz="1000">
                <a:solidFill>
                  <a:srgbClr val="B67CFF"/>
                </a:solidFill>
                <a:latin typeface="Open Sans"/>
                <a:ea typeface="Open Sans"/>
                <a:cs typeface="Open Sans"/>
              </a:rPr>
              <a:t>REFLECTION</a:t>
            </a:r>
          </a:p>
          <a:p>
            <a:pPr>
              <a:lnSpc>
                <a:spcPct val="115000"/>
              </a:lnSpc>
              <a:buNone/>
            </a:pPr>
            <a:r>
              <a:rPr sz="1000">
                <a:solidFill>
                  <a:srgbClr val="141A33"/>
                </a:solidFill>
                <a:latin typeface="Open Sans"/>
                <a:ea typeface="Open Sans"/>
                <a:cs typeface="Open Sans"/>
              </a:rPr>
              <a:t>Here, you can delete all the data at the touch of a button. Where online would you like to be able to do that too?</a:t>
            </a:r>
          </a:p>
        </p:txBody>
      </p:sp>
      <p:sp>
        <p:nvSpPr>
          <p:cNvPr id="4" name="TextBox 4">
            <a:extLst>
              <a:ext uri="{FF2B5EF4-FFF2-40B4-BE49-F238E27FC236}">
                <a16:creationId xmlns:a16="http://schemas.microsoft.com/office/drawing/2014/main" id="{EA3B8FFB-9B71-50CF-C81F-4BF594F8B42B}"/>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TRAIN THE AI</a:t>
            </a:r>
          </a:p>
        </p:txBody>
      </p:sp>
    </p:spTree>
    <p:extLst>
      <p:ext uri="{BB962C8B-B14F-4D97-AF65-F5344CB8AC3E}">
        <p14:creationId xmlns:p14="http://schemas.microsoft.com/office/powerpoint/2010/main" val="2013139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
          <p:cNvPicPr>
            <a:picLocks noChangeAspect="1"/>
          </p:cNvPicPr>
          <p:nvPr/>
        </p:nvPicPr>
        <p:blipFill>
          <a:blip r:embed="rId3">
            <a:grayscl/>
          </a:blip>
          <a:stretch>
            <a:fillRect/>
          </a:stretch>
        </p:blipFill>
        <p:spPr>
          <a:xfrm>
            <a:off x="0" y="0"/>
            <a:ext cx="5328000" cy="3780000"/>
          </a:xfrm>
          <a:prstGeom prst="rect">
            <a:avLst/>
          </a:prstGeom>
        </p:spPr>
      </p:pic>
      <p:sp>
        <p:nvSpPr>
          <p:cNvPr id="5" name="Abgerundetes Rechteck 4">
            <a:extLst>
              <a:ext uri="{FF2B5EF4-FFF2-40B4-BE49-F238E27FC236}">
                <a16:creationId xmlns:a16="http://schemas.microsoft.com/office/drawing/2014/main" id="{7956C4DA-C7C9-D2B4-8365-B3EC7A30B99B}"/>
              </a:ext>
            </a:extLst>
          </p:cNvPr>
          <p:cNvSpPr>
            <a:spLocks noGrp="1"/>
          </p:cNvSpPr>
          <p:nvPr/>
        </p:nvSpPr>
        <p:spPr>
          <a:xfrm>
            <a:off x="2303813" y="1048454"/>
            <a:ext cx="794394" cy="777156"/>
          </a:xfrm>
          <a:prstGeom prst="roundRect">
            <a:avLst/>
          </a:prstGeom>
          <a:solidFill>
            <a:srgbClr val="676767">
              <a:alpha val="44706"/>
            </a:srgbClr>
          </a:solidFill>
          <a:ln>
            <a:solidFill>
              <a:srgbClr val="B5B5B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Picture 3"/>
          <p:cNvPicPr>
            <a:picLocks noChangeAspect="1"/>
          </p:cNvPicPr>
          <p:nvPr/>
        </p:nvPicPr>
        <p:blipFill>
          <a:blip r:embed="rId4"/>
          <a:stretch>
            <a:fillRect/>
          </a:stretch>
        </p:blipFill>
        <p:spPr>
          <a:xfrm>
            <a:off x="2509010" y="1174509"/>
            <a:ext cx="384000" cy="576000"/>
          </a:xfrm>
          <a:prstGeom prst="rect">
            <a:avLst/>
          </a:prstGeom>
        </p:spPr>
      </p:pic>
      <p:pic>
        <p:nvPicPr>
          <p:cNvPr id="19" name="Picture 6"/>
          <p:cNvPicPr>
            <a:picLocks noChangeAspect="1"/>
          </p:cNvPicPr>
          <p:nvPr/>
        </p:nvPicPr>
        <p:blipFill>
          <a:blip r:embed="rId5"/>
          <a:stretch>
            <a:fillRect/>
          </a:stretch>
        </p:blipFill>
        <p:spPr>
          <a:xfrm>
            <a:off x="1840455" y="3348000"/>
            <a:ext cx="706415" cy="180000"/>
          </a:xfrm>
          <a:prstGeom prst="rect">
            <a:avLst/>
          </a:prstGeom>
        </p:spPr>
      </p:pic>
      <p:pic>
        <p:nvPicPr>
          <p:cNvPr id="20" name="Picture 7"/>
          <p:cNvPicPr>
            <a:picLocks noChangeAspect="1"/>
          </p:cNvPicPr>
          <p:nvPr/>
        </p:nvPicPr>
        <p:blipFill>
          <a:blip r:embed="rId6"/>
          <a:stretch>
            <a:fillRect/>
          </a:stretch>
        </p:blipFill>
        <p:spPr>
          <a:xfrm>
            <a:off x="2708870" y="3348000"/>
            <a:ext cx="778674" cy="180000"/>
          </a:xfrm>
          <a:prstGeom prst="rect">
            <a:avLst/>
          </a:prstGeom>
        </p:spPr>
      </p:pic>
      <p:sp>
        <p:nvSpPr>
          <p:cNvPr id="3" name="TextBox 2">
            <a:extLst>
              <a:ext uri="{FF2B5EF4-FFF2-40B4-BE49-F238E27FC236}">
                <a16:creationId xmlns:a16="http://schemas.microsoft.com/office/drawing/2014/main" id="{CF576DE6-5E39-599D-7320-217CFB8DACD3}"/>
              </a:ext>
            </a:extLst>
          </p:cNvPr>
          <p:cNvSpPr>
            <a:spLocks noGrp="1"/>
          </p:cNvSpPr>
          <p:nvPr/>
        </p:nvSpPr>
        <p:spPr>
          <a:xfrm>
            <a:off x="288000" y="704176"/>
            <a:ext cx="4752000" cy="153888"/>
          </a:xfrm>
          <a:prstGeom prst="rect">
            <a:avLst/>
          </a:prstGeom>
          <a:noFill/>
        </p:spPr>
        <p:txBody>
          <a:bodyPr wrap="square" lIns="0" tIns="0" rIns="0" bIns="0">
            <a:spAutoFit/>
          </a:bodyPr>
          <a:lstStyle/>
          <a:p>
            <a:pPr algn="ctr">
              <a:lnSpc>
                <a:spcPct val="100000"/>
              </a:lnSpc>
              <a:buNone/>
            </a:pPr>
            <a:r>
              <a:rPr sz="1000" b="1">
                <a:solidFill>
                  <a:schemeClr val="bg1"/>
                </a:solidFill>
                <a:latin typeface="Open Sans Condensed"/>
                <a:ea typeface="Open Sans Condensed"/>
                <a:cs typeface="Open Sans Condensed"/>
              </a:rPr>
              <a:t>PRIVACY</a:t>
            </a:r>
          </a:p>
        </p:txBody>
      </p:sp>
      <p:sp>
        <p:nvSpPr>
          <p:cNvPr id="10" name="TextBox 4">
            <a:extLst>
              <a:ext uri="{FF2B5EF4-FFF2-40B4-BE49-F238E27FC236}">
                <a16:creationId xmlns:a16="http://schemas.microsoft.com/office/drawing/2014/main" id="{2A4D927E-898D-C0F9-F3BB-C257A9D51DCF}"/>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lnSpc>
                <a:spcPct val="100000"/>
              </a:lnSpc>
              <a:buNone/>
            </a:pPr>
            <a:r>
              <a:rPr sz="2400" b="1">
                <a:solidFill>
                  <a:srgbClr val="E6EDF3"/>
                </a:solidFill>
                <a:latin typeface="Open Sans Condensed"/>
                <a:ea typeface="Open Sans Condensed"/>
                <a:cs typeface="Open Sans Condensed"/>
              </a:rPr>
              <a:t>PRIVACY SHIELD</a:t>
            </a:r>
          </a:p>
        </p:txBody>
      </p:sp>
      <p:sp>
        <p:nvSpPr>
          <p:cNvPr id="11" name="TextBox 5">
            <a:extLst>
              <a:ext uri="{FF2B5EF4-FFF2-40B4-BE49-F238E27FC236}">
                <a16:creationId xmlns:a16="http://schemas.microsoft.com/office/drawing/2014/main" id="{4ED6717A-C8AD-DAF1-93C6-7E4867592E6F}"/>
              </a:ext>
            </a:extLst>
          </p:cNvPr>
          <p:cNvSpPr>
            <a:spLocks noGrp="1"/>
          </p:cNvSpPr>
          <p:nvPr/>
        </p:nvSpPr>
        <p:spPr>
          <a:xfrm>
            <a:off x="288000" y="2600177"/>
            <a:ext cx="4752000" cy="153888"/>
          </a:xfrm>
          <a:prstGeom prst="rect">
            <a:avLst/>
          </a:prstGeom>
          <a:noFill/>
        </p:spPr>
        <p:txBody>
          <a:bodyPr wrap="square" lIns="0" tIns="0" rIns="0" bIns="0">
            <a:spAutoFit/>
          </a:bodyPr>
          <a:lstStyle/>
          <a:p>
            <a:pPr algn="ctr">
              <a:lnSpc>
                <a:spcPct val="100000"/>
              </a:lnSpc>
              <a:buNone/>
            </a:pPr>
            <a:r>
              <a:rPr sz="1000" b="1">
                <a:solidFill>
                  <a:schemeClr val="bg1"/>
                </a:solidFill>
                <a:latin typeface="Open Sans Light"/>
                <a:ea typeface="Open Sans Light"/>
                <a:cs typeface="Open Sans Light"/>
              </a:rPr>
              <a:t>Privacy by Design.</a:t>
            </a:r>
          </a:p>
        </p:txBody>
      </p:sp>
      <p:sp>
        <p:nvSpPr>
          <p:cNvPr id="6" name="Rectangle 2">
            <a:extLst>
              <a:ext uri="{FF2B5EF4-FFF2-40B4-BE49-F238E27FC236}">
                <a16:creationId xmlns:a16="http://schemas.microsoft.com/office/drawing/2014/main" id="{6B9CAD5D-33E9-944C-9384-CB96BBCB8445}"/>
              </a:ext>
            </a:extLst>
          </p:cNvPr>
          <p:cNvSpPr>
            <a:spLocks noGrp="1"/>
          </p:cNvSpPr>
          <p:nvPr/>
        </p:nvSpPr>
        <p:spPr>
          <a:xfrm>
            <a:off x="349857" y="2647798"/>
            <a:ext cx="1542553" cy="79513"/>
          </a:xfrm>
          <a:prstGeom prst="rect">
            <a:avLst/>
          </a:prstGeom>
          <a:solidFill>
            <a:srgbClr val="70707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3763618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CC104E-5C79-4F4B-B468-1DCDAE9F60D1}"/>
              </a:ext>
            </a:extLst>
          </p:cNvPr>
          <p:cNvSpPr>
            <a:spLocks noGrp="1"/>
          </p:cNvSpPr>
          <p:nvPr/>
        </p:nvSpPr>
        <p:spPr>
          <a:xfrm>
            <a:off x="0" y="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D18BBC36-7190-4C17-8B88-792D7C23324A}"/>
              </a:ext>
            </a:extLst>
          </p:cNvPr>
          <p:cNvSpPr>
            <a:spLocks noGrp="1"/>
          </p:cNvSpPr>
          <p:nvPr/>
        </p:nvSpPr>
        <p:spPr>
          <a:xfrm>
            <a:off x="0" y="0"/>
            <a:ext cx="5328000" cy="72000"/>
          </a:xfrm>
          <a:prstGeom prst="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Picture 13"/>
          <p:cNvPicPr>
            <a:picLocks noChangeAspect="1"/>
          </p:cNvPicPr>
          <p:nvPr/>
        </p:nvPicPr>
        <p:blipFill>
          <a:blip r:embed="rId3"/>
          <a:stretch>
            <a:fillRect/>
          </a:stretch>
        </p:blipFill>
        <p:spPr>
          <a:xfrm>
            <a:off x="288000" y="3438000"/>
            <a:ext cx="565132" cy="144000"/>
          </a:xfrm>
          <a:prstGeom prst="rect">
            <a:avLst/>
          </a:prstGeom>
        </p:spPr>
      </p:pic>
      <p:pic>
        <p:nvPicPr>
          <p:cNvPr id="23" name="Picture 14"/>
          <p:cNvPicPr>
            <a:picLocks noChangeAspect="1"/>
          </p:cNvPicPr>
          <p:nvPr/>
        </p:nvPicPr>
        <p:blipFill>
          <a:blip r:embed="rId4"/>
          <a:stretch>
            <a:fillRect/>
          </a:stretch>
        </p:blipFill>
        <p:spPr>
          <a:xfrm>
            <a:off x="961132" y="3438000"/>
            <a:ext cx="622939" cy="144000"/>
          </a:xfrm>
          <a:prstGeom prst="rect">
            <a:avLst/>
          </a:prstGeom>
        </p:spPr>
      </p:pic>
      <p:sp>
        <p:nvSpPr>
          <p:cNvPr id="16" name="TextBox 15">
            <a:extLst>
              <a:ext uri="{FF2B5EF4-FFF2-40B4-BE49-F238E27FC236}">
                <a16:creationId xmlns:a16="http://schemas.microsoft.com/office/drawing/2014/main" id="{4665F6A5-5790-4EE0-9BD4-432FB61EAE13}"/>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
        <p:nvSpPr>
          <p:cNvPr id="17" name="TextBox 6">
            <a:extLst>
              <a:ext uri="{FF2B5EF4-FFF2-40B4-BE49-F238E27FC236}">
                <a16:creationId xmlns:a16="http://schemas.microsoft.com/office/drawing/2014/main" id="{671CF2A7-1C12-E96A-0FFC-2946105AF0CB}"/>
              </a:ext>
            </a:extLst>
          </p:cNvPr>
          <p:cNvSpPr>
            <a:spLocks noGrp="1"/>
          </p:cNvSpPr>
          <p:nvPr/>
        </p:nvSpPr>
        <p:spPr>
          <a:xfrm>
            <a:off x="288000" y="819219"/>
            <a:ext cx="4752000" cy="2558796"/>
          </a:xfrm>
          <a:prstGeom prst="rect">
            <a:avLst/>
          </a:prstGeom>
          <a:noFill/>
        </p:spPr>
        <p:txBody>
          <a:bodyPr wrap="square" lIns="0" tIns="0" rIns="0" bIns="0">
            <a:spAutoFit/>
          </a:bodyPr>
          <a:lstStyle/>
          <a:p>
            <a:pPr marL="285750" indent="-285750">
              <a:lnSpc>
                <a:spcPct val="115000"/>
              </a:lnSpc>
              <a:buAutoNum type="romanUcPeriod"/>
            </a:pPr>
            <a:r>
              <a:rPr sz="1000">
                <a:solidFill>
                  <a:srgbClr val="766F67"/>
                </a:solidFill>
                <a:latin typeface="Open Sans"/>
                <a:ea typeface="Open Sans"/>
                <a:cs typeface="Open Sans"/>
              </a:rPr>
              <a:t>EXPLORATION</a:t>
            </a:r>
          </a:p>
          <a:p>
            <a:pPr marL="228600" indent="-228600">
              <a:lnSpc>
                <a:spcPct val="115000"/>
              </a:lnSpc>
              <a:buAutoNum type="arabicPeriod"/>
            </a:pPr>
            <a:r>
              <a:rPr sz="1000">
                <a:solidFill>
                  <a:srgbClr val="141A33"/>
                </a:solidFill>
                <a:latin typeface="Open Sans"/>
                <a:ea typeface="Open Sans"/>
                <a:cs typeface="Open Sans"/>
              </a:rPr>
              <a:t>Look into the camera—your faces are blurred at once.</a:t>
            </a:r>
          </a:p>
          <a:p>
            <a:pPr marL="228600" indent="-228600">
              <a:lnSpc>
                <a:spcPct val="115000"/>
              </a:lnSpc>
              <a:buAutoNum type="arabicPeriod"/>
            </a:pPr>
            <a:r>
              <a:rPr sz="1000">
                <a:solidFill>
                  <a:srgbClr val="141A33"/>
                </a:solidFill>
                <a:latin typeface="Open Sans"/>
                <a:ea typeface="Open Sans"/>
                <a:cs typeface="Open Sans"/>
              </a:rPr>
              <a:t>Try all three styles. Turn protection off briefly: how does the difference feel? </a:t>
            </a:r>
          </a:p>
          <a:p>
            <a:pPr marL="228600" indent="-228600">
              <a:lnSpc>
                <a:spcPct val="115000"/>
              </a:lnSpc>
              <a:buAutoNum type="arabicPeriod"/>
            </a:pPr>
            <a:r>
              <a:rPr sz="1000">
                <a:solidFill>
                  <a:srgbClr val="141A33"/>
                </a:solidFill>
                <a:latin typeface="Open Sans"/>
                <a:ea typeface="Open Sans"/>
                <a:cs typeface="Open Sans"/>
              </a:rPr>
              <a:t>Test the limits: turn your head, cover half your face, or wear sunglasses.</a:t>
            </a:r>
          </a:p>
          <a:p>
            <a:pPr marL="228600" indent="-228600">
              <a:lnSpc>
                <a:spcPct val="115000"/>
              </a:lnSpc>
              <a:buAutoNum type="arabicPeriod"/>
            </a:pPr>
            <a:endParaRPr sz="1000">
              <a:solidFill>
                <a:srgbClr val="141A33"/>
              </a:solidFill>
              <a:latin typeface="Open Sans"/>
              <a:ea typeface="Open Sans"/>
              <a:cs typeface="Open Sans"/>
            </a:endParaRPr>
          </a:p>
          <a:p>
            <a:pPr marL="285750" indent="-285750">
              <a:lnSpc>
                <a:spcPct val="115000"/>
              </a:lnSpc>
              <a:buAutoNum type="romanUcPeriod" startAt="2"/>
            </a:pPr>
            <a:r>
              <a:rPr sz="1000">
                <a:solidFill>
                  <a:schemeClr val="bg1">
                    <a:lumMod val="50000"/>
                  </a:schemeClr>
                </a:solidFill>
                <a:latin typeface="Open Sans"/>
                <a:ea typeface="Open Sans"/>
                <a:cs typeface="Open Sans"/>
              </a:rPr>
              <a:t>CHALLENGE</a:t>
            </a:r>
          </a:p>
          <a:p>
            <a:pPr>
              <a:lnSpc>
                <a:spcPct val="115000"/>
              </a:lnSpc>
              <a:buNone/>
            </a:pPr>
            <a:r>
              <a:rPr sz="1000">
                <a:solidFill>
                  <a:srgbClr val="141A33"/>
                </a:solidFill>
                <a:latin typeface="Open Sans"/>
                <a:ea typeface="Open Sans"/>
                <a:cs typeface="Open Sans"/>
              </a:rPr>
              <a:t>Find two ways the protection fails. Why is that a problem for a promised safeguard?</a:t>
            </a:r>
          </a:p>
          <a:p>
            <a:pPr>
              <a:lnSpc>
                <a:spcPct val="115000"/>
              </a:lnSpc>
              <a:buNone/>
            </a:pPr>
            <a:endParaRPr sz="1000">
              <a:solidFill>
                <a:srgbClr val="141A33"/>
              </a:solidFill>
              <a:latin typeface="Open Sans"/>
              <a:ea typeface="Open Sans"/>
              <a:cs typeface="Open Sans"/>
            </a:endParaRPr>
          </a:p>
          <a:p>
            <a:pPr marL="285750" indent="-285750">
              <a:lnSpc>
                <a:spcPct val="115000"/>
              </a:lnSpc>
              <a:buAutoNum type="romanUcPeriod" startAt="3"/>
            </a:pPr>
            <a:r>
              <a:rPr sz="1000">
                <a:solidFill>
                  <a:schemeClr val="bg1">
                    <a:lumMod val="50000"/>
                  </a:schemeClr>
                </a:solidFill>
                <a:latin typeface="Open Sans"/>
                <a:ea typeface="Open Sans"/>
                <a:cs typeface="Open Sans"/>
              </a:rPr>
              <a:t>REFLECTION</a:t>
            </a:r>
          </a:p>
          <a:p>
            <a:pPr>
              <a:lnSpc>
                <a:spcPct val="115000"/>
              </a:lnSpc>
              <a:buNone/>
            </a:pPr>
            <a:r>
              <a:rPr sz="1000">
                <a:solidFill>
                  <a:srgbClr val="141A33"/>
                </a:solidFill>
                <a:latin typeface="Open Sans"/>
                <a:ea typeface="Open Sans"/>
                <a:cs typeface="Open Sans"/>
              </a:rPr>
              <a:t>Face detection (“there is a face”) is not identification (“that is Ali from class 8B”). Why does this matter?</a:t>
            </a:r>
          </a:p>
        </p:txBody>
      </p:sp>
      <p:sp>
        <p:nvSpPr>
          <p:cNvPr id="4" name="TextBox 4">
            <a:extLst>
              <a:ext uri="{FF2B5EF4-FFF2-40B4-BE49-F238E27FC236}">
                <a16:creationId xmlns:a16="http://schemas.microsoft.com/office/drawing/2014/main" id="{7A1D3441-0674-025D-3D15-24210519E795}"/>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PRIVACY SHIELD</a:t>
            </a:r>
          </a:p>
        </p:txBody>
      </p:sp>
    </p:spTree>
    <p:extLst>
      <p:ext uri="{BB962C8B-B14F-4D97-AF65-F5344CB8AC3E}">
        <p14:creationId xmlns:p14="http://schemas.microsoft.com/office/powerpoint/2010/main" val="2019710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
          <p:cNvPicPr>
            <a:picLocks noChangeAspect="1"/>
          </p:cNvPicPr>
          <p:nvPr/>
        </p:nvPicPr>
        <p:blipFill>
          <a:blip r:embed="rId3"/>
          <a:stretch>
            <a:fillRect/>
          </a:stretch>
        </p:blipFill>
        <p:spPr>
          <a:xfrm>
            <a:off x="-350" y="0"/>
            <a:ext cx="5328000" cy="3780000"/>
          </a:xfrm>
          <a:prstGeom prst="rect">
            <a:avLst/>
          </a:prstGeom>
        </p:spPr>
      </p:pic>
      <p:sp>
        <p:nvSpPr>
          <p:cNvPr id="3" name="Abgerundetes Rechteck 2">
            <a:extLst>
              <a:ext uri="{FF2B5EF4-FFF2-40B4-BE49-F238E27FC236}">
                <a16:creationId xmlns:a16="http://schemas.microsoft.com/office/drawing/2014/main" id="{19EC69FE-BB2C-AAE8-BCFF-8B351B138852}"/>
              </a:ext>
            </a:extLst>
          </p:cNvPr>
          <p:cNvSpPr>
            <a:spLocks noGrp="1"/>
          </p:cNvSpPr>
          <p:nvPr/>
        </p:nvSpPr>
        <p:spPr>
          <a:xfrm>
            <a:off x="2303813" y="1048454"/>
            <a:ext cx="794394" cy="777156"/>
          </a:xfrm>
          <a:prstGeom prst="roundRect">
            <a:avLst/>
          </a:prstGeom>
          <a:solidFill>
            <a:srgbClr val="676767">
              <a:alpha val="44706"/>
            </a:srgbClr>
          </a:solidFill>
          <a:ln>
            <a:solidFill>
              <a:srgbClr val="FFB34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Picture 3"/>
          <p:cNvPicPr>
            <a:picLocks noChangeAspect="1"/>
          </p:cNvPicPr>
          <p:nvPr/>
        </p:nvPicPr>
        <p:blipFill>
          <a:blip r:embed="rId4"/>
          <a:stretch>
            <a:fillRect/>
          </a:stretch>
        </p:blipFill>
        <p:spPr>
          <a:xfrm>
            <a:off x="2413010" y="1137778"/>
            <a:ext cx="576000" cy="576000"/>
          </a:xfrm>
          <a:prstGeom prst="rect">
            <a:avLst/>
          </a:prstGeom>
        </p:spPr>
      </p:pic>
      <p:pic>
        <p:nvPicPr>
          <p:cNvPr id="19" name="Picture 6"/>
          <p:cNvPicPr>
            <a:picLocks noChangeAspect="1"/>
          </p:cNvPicPr>
          <p:nvPr/>
        </p:nvPicPr>
        <p:blipFill>
          <a:blip r:embed="rId5"/>
          <a:stretch>
            <a:fillRect/>
          </a:stretch>
        </p:blipFill>
        <p:spPr>
          <a:xfrm>
            <a:off x="1840455" y="3348000"/>
            <a:ext cx="706415" cy="180000"/>
          </a:xfrm>
          <a:prstGeom prst="rect">
            <a:avLst/>
          </a:prstGeom>
        </p:spPr>
      </p:pic>
      <p:pic>
        <p:nvPicPr>
          <p:cNvPr id="20" name="Picture 7"/>
          <p:cNvPicPr>
            <a:picLocks noChangeAspect="1"/>
          </p:cNvPicPr>
          <p:nvPr/>
        </p:nvPicPr>
        <p:blipFill>
          <a:blip r:embed="rId6"/>
          <a:stretch>
            <a:fillRect/>
          </a:stretch>
        </p:blipFill>
        <p:spPr>
          <a:xfrm>
            <a:off x="2708870" y="3348000"/>
            <a:ext cx="778674" cy="180000"/>
          </a:xfrm>
          <a:prstGeom prst="rect">
            <a:avLst/>
          </a:prstGeom>
        </p:spPr>
      </p:pic>
      <p:sp>
        <p:nvSpPr>
          <p:cNvPr id="9" name="TextBox 2">
            <a:extLst>
              <a:ext uri="{FF2B5EF4-FFF2-40B4-BE49-F238E27FC236}">
                <a16:creationId xmlns:a16="http://schemas.microsoft.com/office/drawing/2014/main" id="{CD6EA270-67BF-DF03-8B05-11893407947D}"/>
              </a:ext>
            </a:extLst>
          </p:cNvPr>
          <p:cNvSpPr>
            <a:spLocks noGrp="1"/>
          </p:cNvSpPr>
          <p:nvPr/>
        </p:nvSpPr>
        <p:spPr>
          <a:xfrm>
            <a:off x="332870" y="709517"/>
            <a:ext cx="4752000" cy="153888"/>
          </a:xfrm>
          <a:prstGeom prst="rect">
            <a:avLst/>
          </a:prstGeom>
          <a:noFill/>
        </p:spPr>
        <p:txBody>
          <a:bodyPr wrap="square" lIns="0" tIns="0" rIns="0" bIns="0">
            <a:spAutoFit/>
          </a:bodyPr>
          <a:lstStyle/>
          <a:p>
            <a:pPr algn="ctr">
              <a:lnSpc>
                <a:spcPct val="100000"/>
              </a:lnSpc>
              <a:buNone/>
            </a:pPr>
            <a:r>
              <a:rPr sz="1000" b="1">
                <a:solidFill>
                  <a:srgbClr val="FFB347"/>
                </a:solidFill>
                <a:latin typeface="Open Sans Condensed"/>
                <a:ea typeface="Open Sans Condensed"/>
                <a:cs typeface="Open Sans Condensed"/>
              </a:rPr>
              <a:t>TRACKING</a:t>
            </a:r>
          </a:p>
        </p:txBody>
      </p:sp>
      <p:sp>
        <p:nvSpPr>
          <p:cNvPr id="10" name="TextBox 4">
            <a:extLst>
              <a:ext uri="{FF2B5EF4-FFF2-40B4-BE49-F238E27FC236}">
                <a16:creationId xmlns:a16="http://schemas.microsoft.com/office/drawing/2014/main" id="{37209C95-C259-A71F-7A27-A1AB5F51F506}"/>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lnSpc>
                <a:spcPct val="100000"/>
              </a:lnSpc>
              <a:buNone/>
            </a:pPr>
            <a:r>
              <a:rPr sz="2400" b="1">
                <a:solidFill>
                  <a:srgbClr val="E6EDF3"/>
                </a:solidFill>
                <a:latin typeface="Open Sans Condensed"/>
                <a:ea typeface="Open Sans Condensed"/>
                <a:cs typeface="Open Sans Condensed"/>
              </a:rPr>
              <a:t>THE DATA TRAIL</a:t>
            </a:r>
          </a:p>
        </p:txBody>
      </p:sp>
      <p:sp>
        <p:nvSpPr>
          <p:cNvPr id="11" name="TextBox 5">
            <a:extLst>
              <a:ext uri="{FF2B5EF4-FFF2-40B4-BE49-F238E27FC236}">
                <a16:creationId xmlns:a16="http://schemas.microsoft.com/office/drawing/2014/main" id="{CB437B9D-8CF9-40DB-3743-F412D871981F}"/>
              </a:ext>
            </a:extLst>
          </p:cNvPr>
          <p:cNvSpPr>
            <a:spLocks noGrp="1"/>
          </p:cNvSpPr>
          <p:nvPr/>
        </p:nvSpPr>
        <p:spPr>
          <a:xfrm>
            <a:off x="288000" y="2605432"/>
            <a:ext cx="4752000" cy="153888"/>
          </a:xfrm>
          <a:prstGeom prst="rect">
            <a:avLst/>
          </a:prstGeom>
          <a:noFill/>
        </p:spPr>
        <p:txBody>
          <a:bodyPr wrap="square" lIns="0" tIns="0" rIns="0" bIns="0">
            <a:spAutoFit/>
          </a:bodyPr>
          <a:lstStyle/>
          <a:p>
            <a:pPr algn="ctr">
              <a:lnSpc>
                <a:spcPct val="100000"/>
              </a:lnSpc>
              <a:buNone/>
            </a:pPr>
            <a:r>
              <a:rPr sz="1000" b="1">
                <a:solidFill>
                  <a:srgbClr val="FFB347"/>
                </a:solidFill>
                <a:latin typeface="Open Sans Light"/>
                <a:ea typeface="Open Sans Light"/>
                <a:cs typeface="Open Sans Light"/>
              </a:rPr>
              <a:t>Cameras and movement.</a:t>
            </a:r>
          </a:p>
        </p:txBody>
      </p:sp>
      <p:sp>
        <p:nvSpPr>
          <p:cNvPr id="6" name="Rectangle 2">
            <a:extLst>
              <a:ext uri="{FF2B5EF4-FFF2-40B4-BE49-F238E27FC236}">
                <a16:creationId xmlns:a16="http://schemas.microsoft.com/office/drawing/2014/main" id="{94E6DF16-85F3-7064-3AB8-3C4B293318E9}"/>
              </a:ext>
            </a:extLst>
          </p:cNvPr>
          <p:cNvSpPr>
            <a:spLocks noGrp="1"/>
          </p:cNvSpPr>
          <p:nvPr/>
        </p:nvSpPr>
        <p:spPr>
          <a:xfrm>
            <a:off x="349857" y="2647798"/>
            <a:ext cx="1542553" cy="79513"/>
          </a:xfrm>
          <a:prstGeom prst="rect">
            <a:avLst/>
          </a:prstGeom>
          <a:solidFill>
            <a:srgbClr val="906E4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3129688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91720B-0988-477C-820E-A98FDD4013C4}"/>
              </a:ext>
            </a:extLst>
          </p:cNvPr>
          <p:cNvSpPr>
            <a:spLocks noGrp="1"/>
          </p:cNvSpPr>
          <p:nvPr/>
        </p:nvSpPr>
        <p:spPr>
          <a:xfrm>
            <a:off x="0" y="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89E07539-EE7A-4A8D-9B74-6A83D09E0D94}"/>
              </a:ext>
            </a:extLst>
          </p:cNvPr>
          <p:cNvSpPr>
            <a:spLocks noGrp="1"/>
          </p:cNvSpPr>
          <p:nvPr/>
        </p:nvSpPr>
        <p:spPr>
          <a:xfrm>
            <a:off x="0" y="0"/>
            <a:ext cx="5328000" cy="72000"/>
          </a:xfrm>
          <a:prstGeom prst="rect">
            <a:avLst/>
          </a:prstGeom>
          <a:solidFill>
            <a:srgbClr val="FFB34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Picture 13"/>
          <p:cNvPicPr>
            <a:picLocks noChangeAspect="1"/>
          </p:cNvPicPr>
          <p:nvPr/>
        </p:nvPicPr>
        <p:blipFill>
          <a:blip r:embed="rId3"/>
          <a:stretch>
            <a:fillRect/>
          </a:stretch>
        </p:blipFill>
        <p:spPr>
          <a:xfrm>
            <a:off x="288000" y="3438000"/>
            <a:ext cx="565132" cy="144000"/>
          </a:xfrm>
          <a:prstGeom prst="rect">
            <a:avLst/>
          </a:prstGeom>
        </p:spPr>
      </p:pic>
      <p:pic>
        <p:nvPicPr>
          <p:cNvPr id="23" name="Picture 14"/>
          <p:cNvPicPr>
            <a:picLocks noChangeAspect="1"/>
          </p:cNvPicPr>
          <p:nvPr/>
        </p:nvPicPr>
        <p:blipFill>
          <a:blip r:embed="rId4"/>
          <a:stretch>
            <a:fillRect/>
          </a:stretch>
        </p:blipFill>
        <p:spPr>
          <a:xfrm>
            <a:off x="961132" y="3438000"/>
            <a:ext cx="622939" cy="144000"/>
          </a:xfrm>
          <a:prstGeom prst="rect">
            <a:avLst/>
          </a:prstGeom>
        </p:spPr>
      </p:pic>
      <p:sp>
        <p:nvSpPr>
          <p:cNvPr id="16" name="TextBox 15">
            <a:extLst>
              <a:ext uri="{FF2B5EF4-FFF2-40B4-BE49-F238E27FC236}">
                <a16:creationId xmlns:a16="http://schemas.microsoft.com/office/drawing/2014/main" id="{A336E490-2134-448F-AEA5-438AD6EAF6DF}"/>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
        <p:nvSpPr>
          <p:cNvPr id="17" name="TextBox 6">
            <a:extLst>
              <a:ext uri="{FF2B5EF4-FFF2-40B4-BE49-F238E27FC236}">
                <a16:creationId xmlns:a16="http://schemas.microsoft.com/office/drawing/2014/main" id="{59E900B6-504F-89C4-33A8-1E59BF869AC1}"/>
              </a:ext>
            </a:extLst>
          </p:cNvPr>
          <p:cNvSpPr>
            <a:spLocks noGrp="1"/>
          </p:cNvSpPr>
          <p:nvPr/>
        </p:nvSpPr>
        <p:spPr>
          <a:xfrm>
            <a:off x="288000" y="819219"/>
            <a:ext cx="4752000" cy="2558796"/>
          </a:xfrm>
          <a:prstGeom prst="rect">
            <a:avLst/>
          </a:prstGeom>
          <a:noFill/>
        </p:spPr>
        <p:txBody>
          <a:bodyPr wrap="square" lIns="0" tIns="0" rIns="0" bIns="0">
            <a:spAutoFit/>
          </a:bodyPr>
          <a:lstStyle/>
          <a:p>
            <a:pPr marL="285750" indent="-285750">
              <a:lnSpc>
                <a:spcPct val="115000"/>
              </a:lnSpc>
              <a:buAutoNum type="romanUcPeriod"/>
            </a:pPr>
            <a:r>
              <a:rPr sz="1000">
                <a:solidFill>
                  <a:srgbClr val="FFB347"/>
                </a:solidFill>
                <a:latin typeface="Open Sans"/>
                <a:ea typeface="Open Sans"/>
                <a:cs typeface="Open Sans"/>
              </a:rPr>
              <a:t>EXPLORATION</a:t>
            </a:r>
          </a:p>
          <a:p>
            <a:pPr marL="228600" indent="-228600">
              <a:lnSpc>
                <a:spcPct val="115000"/>
              </a:lnSpc>
              <a:buAutoNum type="arabicPeriod"/>
            </a:pPr>
            <a:r>
              <a:rPr sz="1000">
                <a:solidFill>
                  <a:srgbClr val="141A33"/>
                </a:solidFill>
                <a:latin typeface="Open Sans"/>
                <a:ea typeface="Open Sans"/>
                <a:cs typeface="Open Sans"/>
              </a:rPr>
              <a:t>Open the station and look at the heatmap. This data was collected in the background while you were playing! </a:t>
            </a:r>
          </a:p>
          <a:p>
            <a:pPr marL="228600" indent="-228600">
              <a:lnSpc>
                <a:spcPct val="115000"/>
              </a:lnSpc>
              <a:buAutoNum type="arabicPeriod"/>
            </a:pPr>
            <a:r>
              <a:rPr sz="1000">
                <a:solidFill>
                  <a:srgbClr val="141A33"/>
                </a:solidFill>
                <a:latin typeface="Open Sans"/>
                <a:ea typeface="Open Sans"/>
                <a:cs typeface="Open Sans"/>
              </a:rPr>
              <a:t>As a group, walk along a particular route—can you see your trail appear?</a:t>
            </a:r>
          </a:p>
          <a:p>
            <a:pPr marL="228600" indent="-228600">
              <a:lnSpc>
                <a:spcPct val="115000"/>
              </a:lnSpc>
              <a:buAutoNum type="arabicPeriod"/>
            </a:pPr>
            <a:r>
              <a:rPr sz="1000">
                <a:solidFill>
                  <a:srgbClr val="141A33"/>
                </a:solidFill>
                <a:latin typeface="Open Sans"/>
                <a:ea typeface="Open Sans"/>
                <a:cs typeface="Open Sans"/>
              </a:rPr>
              <a:t>Press “Delete data trail”. Who should have this button in real life?</a:t>
            </a:r>
          </a:p>
          <a:p>
            <a:pPr>
              <a:lnSpc>
                <a:spcPct val="115000"/>
              </a:lnSpc>
              <a:buNone/>
            </a:pPr>
            <a:endParaRPr sz="1000">
              <a:solidFill>
                <a:srgbClr val="141A33"/>
              </a:solidFill>
              <a:latin typeface="Open Sans"/>
              <a:ea typeface="Open Sans"/>
              <a:cs typeface="Open Sans"/>
            </a:endParaRPr>
          </a:p>
          <a:p>
            <a:pPr marL="285750" indent="-285750">
              <a:lnSpc>
                <a:spcPct val="115000"/>
              </a:lnSpc>
              <a:buAutoNum type="romanUcPeriod" startAt="2"/>
            </a:pPr>
            <a:r>
              <a:rPr sz="1000">
                <a:solidFill>
                  <a:srgbClr val="FFB347"/>
                </a:solidFill>
                <a:latin typeface="Open Sans"/>
                <a:ea typeface="Open Sans"/>
                <a:cs typeface="Open Sans"/>
              </a:rPr>
              <a:t>CHALLENGE</a:t>
            </a:r>
          </a:p>
          <a:p>
            <a:pPr>
              <a:lnSpc>
                <a:spcPct val="115000"/>
              </a:lnSpc>
              <a:buNone/>
            </a:pPr>
            <a:r>
              <a:rPr sz="1000">
                <a:solidFill>
                  <a:srgbClr val="141A33"/>
                </a:solidFill>
                <a:latin typeface="Open Sans"/>
                <a:ea typeface="Open Sans"/>
                <a:cs typeface="Open Sans"/>
              </a:rPr>
              <a:t>Name three things such a map could reveal about a room and the people in it—without showing any faces.</a:t>
            </a:r>
          </a:p>
          <a:p>
            <a:pPr>
              <a:lnSpc>
                <a:spcPct val="115000"/>
              </a:lnSpc>
              <a:buNone/>
            </a:pPr>
            <a:endParaRPr sz="1000">
              <a:solidFill>
                <a:srgbClr val="141A33"/>
              </a:solidFill>
              <a:latin typeface="Open Sans"/>
              <a:ea typeface="Open Sans"/>
              <a:cs typeface="Open Sans"/>
            </a:endParaRPr>
          </a:p>
          <a:p>
            <a:pPr marL="285750" indent="-285750">
              <a:lnSpc>
                <a:spcPct val="115000"/>
              </a:lnSpc>
              <a:buAutoNum type="romanUcPeriod" startAt="3"/>
            </a:pPr>
            <a:r>
              <a:rPr sz="1000">
                <a:solidFill>
                  <a:srgbClr val="FFB347"/>
                </a:solidFill>
                <a:latin typeface="Open Sans"/>
                <a:ea typeface="Open Sans"/>
                <a:cs typeface="Open Sans"/>
              </a:rPr>
              <a:t>REFLECTION</a:t>
            </a:r>
          </a:p>
          <a:p>
            <a:pPr>
              <a:lnSpc>
                <a:spcPct val="115000"/>
              </a:lnSpc>
              <a:buNone/>
            </a:pPr>
            <a:r>
              <a:rPr sz="1000">
                <a:solidFill>
                  <a:srgbClr val="141A33"/>
                </a:solidFill>
                <a:latin typeface="Open Sans"/>
                <a:ea typeface="Open Sans"/>
                <a:cs typeface="Open Sans"/>
              </a:rPr>
              <a:t>“I have nothing to hide”—does that also apply to your routes, habits, and favourite corner?</a:t>
            </a:r>
          </a:p>
        </p:txBody>
      </p:sp>
      <p:sp>
        <p:nvSpPr>
          <p:cNvPr id="4" name="TextBox 4">
            <a:extLst>
              <a:ext uri="{FF2B5EF4-FFF2-40B4-BE49-F238E27FC236}">
                <a16:creationId xmlns:a16="http://schemas.microsoft.com/office/drawing/2014/main" id="{BD283121-E62E-B16F-08D8-E4089ADD2297}"/>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THE DATA TRAIL</a:t>
            </a:r>
          </a:p>
        </p:txBody>
      </p:sp>
    </p:spTree>
    <p:extLst>
      <p:ext uri="{BB962C8B-B14F-4D97-AF65-F5344CB8AC3E}">
        <p14:creationId xmlns:p14="http://schemas.microsoft.com/office/powerpoint/2010/main" val="2014261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
          <p:cNvPicPr>
            <a:picLocks noChangeAspect="1"/>
          </p:cNvPicPr>
          <p:nvPr/>
        </p:nvPicPr>
        <p:blipFill>
          <a:blip r:embed="rId3"/>
          <a:stretch>
            <a:fillRect/>
          </a:stretch>
        </p:blipFill>
        <p:spPr>
          <a:xfrm>
            <a:off x="0" y="0"/>
            <a:ext cx="5328000" cy="3780000"/>
          </a:xfrm>
          <a:prstGeom prst="rect">
            <a:avLst/>
          </a:prstGeom>
        </p:spPr>
      </p:pic>
      <p:sp>
        <p:nvSpPr>
          <p:cNvPr id="3" name="Abgerundetes Rechteck 2">
            <a:extLst>
              <a:ext uri="{FF2B5EF4-FFF2-40B4-BE49-F238E27FC236}">
                <a16:creationId xmlns:a16="http://schemas.microsoft.com/office/drawing/2014/main" id="{FE8BA3A5-53D9-34C8-B6F4-15E757CDD442}"/>
              </a:ext>
            </a:extLst>
          </p:cNvPr>
          <p:cNvSpPr>
            <a:spLocks noGrp="1"/>
          </p:cNvSpPr>
          <p:nvPr/>
        </p:nvSpPr>
        <p:spPr>
          <a:xfrm>
            <a:off x="2303813" y="1048454"/>
            <a:ext cx="794394" cy="777156"/>
          </a:xfrm>
          <a:prstGeom prst="roundRect">
            <a:avLst/>
          </a:prstGeom>
          <a:solidFill>
            <a:srgbClr val="676767">
              <a:alpha val="44706"/>
            </a:srgbClr>
          </a:solidFill>
          <a:ln>
            <a:solidFill>
              <a:srgbClr val="FF5D8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Picture 3"/>
          <p:cNvPicPr>
            <a:picLocks noChangeAspect="1"/>
          </p:cNvPicPr>
          <p:nvPr/>
        </p:nvPicPr>
        <p:blipFill>
          <a:blip r:embed="rId4"/>
          <a:stretch>
            <a:fillRect/>
          </a:stretch>
        </p:blipFill>
        <p:spPr>
          <a:xfrm>
            <a:off x="2414542" y="1149032"/>
            <a:ext cx="572936" cy="576000"/>
          </a:xfrm>
          <a:prstGeom prst="rect">
            <a:avLst/>
          </a:prstGeom>
        </p:spPr>
      </p:pic>
      <p:pic>
        <p:nvPicPr>
          <p:cNvPr id="19" name="Picture 6"/>
          <p:cNvPicPr>
            <a:picLocks noChangeAspect="1"/>
          </p:cNvPicPr>
          <p:nvPr/>
        </p:nvPicPr>
        <p:blipFill>
          <a:blip r:embed="rId5"/>
          <a:stretch>
            <a:fillRect/>
          </a:stretch>
        </p:blipFill>
        <p:spPr>
          <a:xfrm>
            <a:off x="1840455" y="3348000"/>
            <a:ext cx="706415" cy="180000"/>
          </a:xfrm>
          <a:prstGeom prst="rect">
            <a:avLst/>
          </a:prstGeom>
        </p:spPr>
      </p:pic>
      <p:pic>
        <p:nvPicPr>
          <p:cNvPr id="20" name="Picture 7"/>
          <p:cNvPicPr>
            <a:picLocks noChangeAspect="1"/>
          </p:cNvPicPr>
          <p:nvPr/>
        </p:nvPicPr>
        <p:blipFill>
          <a:blip r:embed="rId6"/>
          <a:stretch>
            <a:fillRect/>
          </a:stretch>
        </p:blipFill>
        <p:spPr>
          <a:xfrm>
            <a:off x="2708870" y="3348000"/>
            <a:ext cx="778674" cy="180000"/>
          </a:xfrm>
          <a:prstGeom prst="rect">
            <a:avLst/>
          </a:prstGeom>
        </p:spPr>
      </p:pic>
      <p:sp>
        <p:nvSpPr>
          <p:cNvPr id="9" name="TextBox 2">
            <a:extLst>
              <a:ext uri="{FF2B5EF4-FFF2-40B4-BE49-F238E27FC236}">
                <a16:creationId xmlns:a16="http://schemas.microsoft.com/office/drawing/2014/main" id="{B6D62D08-9136-076C-425C-E6760EFFE25D}"/>
              </a:ext>
            </a:extLst>
          </p:cNvPr>
          <p:cNvSpPr>
            <a:spLocks noGrp="1"/>
          </p:cNvSpPr>
          <p:nvPr/>
        </p:nvSpPr>
        <p:spPr>
          <a:xfrm>
            <a:off x="287825" y="715455"/>
            <a:ext cx="4752000" cy="153888"/>
          </a:xfrm>
          <a:prstGeom prst="rect">
            <a:avLst/>
          </a:prstGeom>
          <a:noFill/>
        </p:spPr>
        <p:txBody>
          <a:bodyPr wrap="square" lIns="0" tIns="0" rIns="0" bIns="0">
            <a:spAutoFit/>
          </a:bodyPr>
          <a:lstStyle/>
          <a:p>
            <a:pPr algn="ctr">
              <a:lnSpc>
                <a:spcPct val="100000"/>
              </a:lnSpc>
              <a:buNone/>
            </a:pPr>
            <a:r>
              <a:rPr sz="1000" b="1">
                <a:solidFill>
                  <a:srgbClr val="FF5D8F"/>
                </a:solidFill>
                <a:latin typeface="Open Sans Condensed"/>
                <a:ea typeface="Open Sans Condensed"/>
                <a:cs typeface="Open Sans Condensed"/>
              </a:rPr>
              <a:t>FACES AND GHOSTS</a:t>
            </a:r>
          </a:p>
        </p:txBody>
      </p:sp>
      <p:sp>
        <p:nvSpPr>
          <p:cNvPr id="10" name="TextBox 4">
            <a:extLst>
              <a:ext uri="{FF2B5EF4-FFF2-40B4-BE49-F238E27FC236}">
                <a16:creationId xmlns:a16="http://schemas.microsoft.com/office/drawing/2014/main" id="{934C4677-1D2C-F312-7A19-F76C618ECB5A}"/>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lnSpc>
                <a:spcPct val="100000"/>
              </a:lnSpc>
              <a:buNone/>
            </a:pPr>
            <a:r>
              <a:rPr sz="2400" b="1">
                <a:solidFill>
                  <a:srgbClr val="E6EDF3"/>
                </a:solidFill>
                <a:latin typeface="Open Sans Condensed"/>
                <a:ea typeface="Open Sans Condensed"/>
                <a:cs typeface="Open Sans Condensed"/>
              </a:rPr>
              <a:t>TRICK THE AI</a:t>
            </a:r>
          </a:p>
        </p:txBody>
      </p:sp>
      <p:sp>
        <p:nvSpPr>
          <p:cNvPr id="11" name="TextBox 5">
            <a:extLst>
              <a:ext uri="{FF2B5EF4-FFF2-40B4-BE49-F238E27FC236}">
                <a16:creationId xmlns:a16="http://schemas.microsoft.com/office/drawing/2014/main" id="{EFD94A9F-37DC-FF1F-BE1F-5444B5E6A0F7}"/>
              </a:ext>
            </a:extLst>
          </p:cNvPr>
          <p:cNvSpPr>
            <a:spLocks noGrp="1"/>
          </p:cNvSpPr>
          <p:nvPr/>
        </p:nvSpPr>
        <p:spPr>
          <a:xfrm>
            <a:off x="288000" y="2605432"/>
            <a:ext cx="4752000" cy="153888"/>
          </a:xfrm>
          <a:prstGeom prst="rect">
            <a:avLst/>
          </a:prstGeom>
          <a:noFill/>
        </p:spPr>
        <p:txBody>
          <a:bodyPr wrap="square" lIns="0" tIns="0" rIns="0" bIns="0">
            <a:spAutoFit/>
          </a:bodyPr>
          <a:lstStyle/>
          <a:p>
            <a:pPr algn="ctr">
              <a:lnSpc>
                <a:spcPct val="100000"/>
              </a:lnSpc>
              <a:buNone/>
            </a:pPr>
            <a:r>
              <a:rPr sz="1000" b="1">
                <a:solidFill>
                  <a:srgbClr val="FF5D8F"/>
                </a:solidFill>
                <a:latin typeface="Open Sans Light"/>
                <a:ea typeface="Open Sans Light"/>
                <a:cs typeface="Open Sans Light"/>
              </a:rPr>
              <a:t>Images and imagination.</a:t>
            </a:r>
          </a:p>
        </p:txBody>
      </p:sp>
      <p:sp>
        <p:nvSpPr>
          <p:cNvPr id="6" name="Rectangle 2">
            <a:extLst>
              <a:ext uri="{FF2B5EF4-FFF2-40B4-BE49-F238E27FC236}">
                <a16:creationId xmlns:a16="http://schemas.microsoft.com/office/drawing/2014/main" id="{218895F6-ED58-B069-D4C4-A1E1CF67E294}"/>
              </a:ext>
            </a:extLst>
          </p:cNvPr>
          <p:cNvSpPr>
            <a:spLocks noGrp="1"/>
          </p:cNvSpPr>
          <p:nvPr/>
        </p:nvSpPr>
        <p:spPr>
          <a:xfrm>
            <a:off x="349857" y="2647798"/>
            <a:ext cx="1542553" cy="79513"/>
          </a:xfrm>
          <a:prstGeom prst="rect">
            <a:avLst/>
          </a:prstGeom>
          <a:solidFill>
            <a:srgbClr val="8F466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3285768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E275E5-7632-0B91-D059-603D0775AF69}"/>
              </a:ext>
            </a:extLst>
          </p:cNvPr>
          <p:cNvSpPr>
            <a:spLocks noGrp="1"/>
          </p:cNvSpPr>
          <p:nvPr/>
        </p:nvSpPr>
        <p:spPr>
          <a:xfrm>
            <a:off x="0" y="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6A52E14A-E8F6-3171-EDBE-ADF62268FBB9}"/>
              </a:ext>
            </a:extLst>
          </p:cNvPr>
          <p:cNvSpPr>
            <a:spLocks noGrp="1"/>
          </p:cNvSpPr>
          <p:nvPr/>
        </p:nvSpPr>
        <p:spPr>
          <a:xfrm>
            <a:off x="0" y="0"/>
            <a:ext cx="5328000" cy="72000"/>
          </a:xfrm>
          <a:prstGeom prst="rect">
            <a:avLst/>
          </a:prstGeom>
          <a:solidFill>
            <a:srgbClr val="FF5D8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0" name="Picture 11"/>
          <p:cNvPicPr>
            <a:picLocks noChangeAspect="1"/>
          </p:cNvPicPr>
          <p:nvPr/>
        </p:nvPicPr>
        <p:blipFill>
          <a:blip r:embed="rId3"/>
          <a:stretch>
            <a:fillRect/>
          </a:stretch>
        </p:blipFill>
        <p:spPr>
          <a:xfrm>
            <a:off x="288000" y="3438000"/>
            <a:ext cx="565132" cy="144000"/>
          </a:xfrm>
          <a:prstGeom prst="rect">
            <a:avLst/>
          </a:prstGeom>
        </p:spPr>
      </p:pic>
      <p:pic>
        <p:nvPicPr>
          <p:cNvPr id="21" name="Picture 12"/>
          <p:cNvPicPr>
            <a:picLocks noChangeAspect="1"/>
          </p:cNvPicPr>
          <p:nvPr/>
        </p:nvPicPr>
        <p:blipFill>
          <a:blip r:embed="rId4"/>
          <a:stretch>
            <a:fillRect/>
          </a:stretch>
        </p:blipFill>
        <p:spPr>
          <a:xfrm>
            <a:off x="961132" y="3438000"/>
            <a:ext cx="622939" cy="144000"/>
          </a:xfrm>
          <a:prstGeom prst="rect">
            <a:avLst/>
          </a:prstGeom>
        </p:spPr>
      </p:pic>
      <p:sp>
        <p:nvSpPr>
          <p:cNvPr id="14" name="TextBox 13">
            <a:extLst>
              <a:ext uri="{FF2B5EF4-FFF2-40B4-BE49-F238E27FC236}">
                <a16:creationId xmlns:a16="http://schemas.microsoft.com/office/drawing/2014/main" id="{08AD9F55-6B7A-0014-0A8A-C141B7C42ACF}"/>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
        <p:nvSpPr>
          <p:cNvPr id="15" name="TextBox 6">
            <a:extLst>
              <a:ext uri="{FF2B5EF4-FFF2-40B4-BE49-F238E27FC236}">
                <a16:creationId xmlns:a16="http://schemas.microsoft.com/office/drawing/2014/main" id="{F7B94123-805C-FD2E-208F-662C5F7AF841}"/>
              </a:ext>
            </a:extLst>
          </p:cNvPr>
          <p:cNvSpPr>
            <a:spLocks noGrp="1"/>
          </p:cNvSpPr>
          <p:nvPr/>
        </p:nvSpPr>
        <p:spPr>
          <a:xfrm>
            <a:off x="288000" y="819219"/>
            <a:ext cx="4752000" cy="2208276"/>
          </a:xfrm>
          <a:prstGeom prst="rect">
            <a:avLst/>
          </a:prstGeom>
          <a:noFill/>
        </p:spPr>
        <p:txBody>
          <a:bodyPr wrap="square" lIns="0" tIns="0" rIns="0" bIns="0">
            <a:spAutoFit/>
          </a:bodyPr>
          <a:lstStyle/>
          <a:p>
            <a:pPr marL="285750" indent="-285750">
              <a:lnSpc>
                <a:spcPct val="115000"/>
              </a:lnSpc>
              <a:buAutoNum type="romanUcPeriod"/>
            </a:pPr>
            <a:r>
              <a:rPr sz="1000">
                <a:solidFill>
                  <a:srgbClr val="FF5D8F"/>
                </a:solidFill>
                <a:latin typeface="Open Sans"/>
                <a:ea typeface="Open Sans"/>
                <a:cs typeface="Open Sans"/>
              </a:rPr>
              <a:t>EXPLORATION</a:t>
            </a:r>
          </a:p>
          <a:p>
            <a:pPr>
              <a:lnSpc>
                <a:spcPct val="115000"/>
              </a:lnSpc>
              <a:buNone/>
            </a:pPr>
            <a:r>
              <a:rPr sz="1000">
                <a:solidFill>
                  <a:srgbClr val="141A33"/>
                </a:solidFill>
                <a:latin typeface="Open Sans"/>
                <a:ea typeface="Open Sans"/>
                <a:cs typeface="Open Sans"/>
              </a:rPr>
              <a:t>The four challenges are displayed on screen.</a:t>
            </a:r>
            <a:br/>
            <a:r>
              <a:rPr sz="1000">
                <a:solidFill>
                  <a:srgbClr val="141A33"/>
                </a:solidFill>
                <a:latin typeface="Open Sans"/>
                <a:ea typeface="Open Sans"/>
                <a:cs typeface="Open Sans"/>
              </a:rPr>
              <a:t>Invisible 🥷 · Mix-up 🎩 · Bullseye 💯 · Ghosts 👻</a:t>
            </a:r>
          </a:p>
          <a:p>
            <a:pPr>
              <a:lnSpc>
                <a:spcPct val="115000"/>
              </a:lnSpc>
              <a:buNone/>
            </a:pPr>
            <a:endParaRPr sz="1000">
              <a:solidFill>
                <a:srgbClr val="141A33"/>
              </a:solidFill>
              <a:latin typeface="Open Sans"/>
              <a:ea typeface="Open Sans"/>
              <a:cs typeface="Open Sans"/>
            </a:endParaRPr>
          </a:p>
          <a:p>
            <a:pPr marL="285750" indent="-285750">
              <a:lnSpc>
                <a:spcPct val="115000"/>
              </a:lnSpc>
              <a:buAutoNum type="romanUcPeriod" startAt="2"/>
            </a:pPr>
            <a:r>
              <a:rPr sz="1000">
                <a:solidFill>
                  <a:srgbClr val="FF5D8F"/>
                </a:solidFill>
                <a:latin typeface="Open Sans"/>
                <a:ea typeface="Open Sans"/>
                <a:cs typeface="Open Sans"/>
              </a:rPr>
              <a:t>CHALLENGE</a:t>
            </a:r>
          </a:p>
          <a:p>
            <a:pPr>
              <a:lnSpc>
                <a:spcPct val="115000"/>
              </a:lnSpc>
              <a:buNone/>
            </a:pPr>
            <a:r>
              <a:rPr sz="1000">
                <a:solidFill>
                  <a:srgbClr val="141A33"/>
                </a:solidFill>
                <a:latin typeface="Open Sans"/>
                <a:ea typeface="Open Sans"/>
                <a:cs typeface="Open Sans"/>
              </a:rPr>
              <a:t>Complete at least two challenges and record how you succeeded. Your tricks are the insight!</a:t>
            </a:r>
          </a:p>
          <a:p>
            <a:pPr>
              <a:lnSpc>
                <a:spcPct val="115000"/>
              </a:lnSpc>
              <a:buNone/>
            </a:pPr>
            <a:endParaRPr sz="1000">
              <a:solidFill>
                <a:srgbClr val="141A33"/>
              </a:solidFill>
              <a:latin typeface="Open Sans"/>
              <a:ea typeface="Open Sans"/>
              <a:cs typeface="Open Sans"/>
            </a:endParaRPr>
          </a:p>
          <a:p>
            <a:pPr marL="285750" indent="-285750">
              <a:lnSpc>
                <a:spcPct val="115000"/>
              </a:lnSpc>
              <a:buAutoNum type="romanUcPeriod" startAt="3"/>
            </a:pPr>
            <a:r>
              <a:rPr sz="1000">
                <a:solidFill>
                  <a:srgbClr val="FF5D8F"/>
                </a:solidFill>
                <a:latin typeface="Open Sans"/>
                <a:ea typeface="Open Sans"/>
                <a:cs typeface="Open Sans"/>
              </a:rPr>
              <a:t>REFLECTION</a:t>
            </a:r>
          </a:p>
          <a:p>
            <a:pPr>
              <a:lnSpc>
                <a:spcPct val="115000"/>
              </a:lnSpc>
              <a:buNone/>
            </a:pPr>
            <a:r>
              <a:rPr sz="1000">
                <a:solidFill>
                  <a:srgbClr val="141A33"/>
                </a:solidFill>
                <a:latin typeface="Open Sans"/>
                <a:ea typeface="Open Sans"/>
                <a:cs typeface="Open Sans"/>
              </a:rPr>
              <a:t>You outsmarted an AI in just a few minutes. What does that mean for places where AI systems make decisions alone—border control, hiring, autonomous driving?</a:t>
            </a:r>
          </a:p>
        </p:txBody>
      </p:sp>
      <p:sp>
        <p:nvSpPr>
          <p:cNvPr id="4" name="TextBox 4">
            <a:extLst>
              <a:ext uri="{FF2B5EF4-FFF2-40B4-BE49-F238E27FC236}">
                <a16:creationId xmlns:a16="http://schemas.microsoft.com/office/drawing/2014/main" id="{D1D18D52-360E-7FA7-4CE2-DF3D9A492D44}"/>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TRICK THE AI</a:t>
            </a:r>
          </a:p>
        </p:txBody>
      </p:sp>
    </p:spTree>
    <p:extLst>
      <p:ext uri="{BB962C8B-B14F-4D97-AF65-F5344CB8AC3E}">
        <p14:creationId xmlns:p14="http://schemas.microsoft.com/office/powerpoint/2010/main" val="89977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
          <p:cNvPicPr>
            <a:picLocks noChangeAspect="1"/>
          </p:cNvPicPr>
          <p:nvPr/>
        </p:nvPicPr>
        <p:blipFill>
          <a:blip r:embed="rId3"/>
          <a:stretch>
            <a:fillRect/>
          </a:stretch>
        </p:blipFill>
        <p:spPr>
          <a:xfrm>
            <a:off x="0" y="0"/>
            <a:ext cx="5328000" cy="3780000"/>
          </a:xfrm>
          <a:prstGeom prst="rect">
            <a:avLst/>
          </a:prstGeom>
        </p:spPr>
      </p:pic>
      <p:sp>
        <p:nvSpPr>
          <p:cNvPr id="3" name="Abgerundetes Rechteck 2">
            <a:extLst>
              <a:ext uri="{FF2B5EF4-FFF2-40B4-BE49-F238E27FC236}">
                <a16:creationId xmlns:a16="http://schemas.microsoft.com/office/drawing/2014/main" id="{D73432C4-5F8A-506C-9B2E-78C3939ED164}"/>
              </a:ext>
            </a:extLst>
          </p:cNvPr>
          <p:cNvSpPr>
            <a:spLocks noGrp="1"/>
          </p:cNvSpPr>
          <p:nvPr/>
        </p:nvSpPr>
        <p:spPr>
          <a:xfrm>
            <a:off x="2303813" y="1048454"/>
            <a:ext cx="794394" cy="777156"/>
          </a:xfrm>
          <a:prstGeom prst="roundRect">
            <a:avLst/>
          </a:prstGeom>
          <a:solidFill>
            <a:srgbClr val="676767">
              <a:alpha val="44706"/>
            </a:srgbClr>
          </a:solidFill>
          <a:ln>
            <a:solidFill>
              <a:srgbClr val="2DD4B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Picture 3"/>
          <p:cNvPicPr>
            <a:picLocks noChangeAspect="1"/>
          </p:cNvPicPr>
          <p:nvPr/>
        </p:nvPicPr>
        <p:blipFill>
          <a:blip r:embed="rId4"/>
          <a:stretch>
            <a:fillRect/>
          </a:stretch>
        </p:blipFill>
        <p:spPr>
          <a:xfrm>
            <a:off x="2420629" y="1137778"/>
            <a:ext cx="560762" cy="576000"/>
          </a:xfrm>
          <a:prstGeom prst="rect">
            <a:avLst/>
          </a:prstGeom>
        </p:spPr>
      </p:pic>
      <p:pic>
        <p:nvPicPr>
          <p:cNvPr id="19" name="Picture 6"/>
          <p:cNvPicPr>
            <a:picLocks noChangeAspect="1"/>
          </p:cNvPicPr>
          <p:nvPr/>
        </p:nvPicPr>
        <p:blipFill>
          <a:blip r:embed="rId5"/>
          <a:stretch>
            <a:fillRect/>
          </a:stretch>
        </p:blipFill>
        <p:spPr>
          <a:xfrm>
            <a:off x="1840455" y="3348000"/>
            <a:ext cx="706415" cy="180000"/>
          </a:xfrm>
          <a:prstGeom prst="rect">
            <a:avLst/>
          </a:prstGeom>
        </p:spPr>
      </p:pic>
      <p:pic>
        <p:nvPicPr>
          <p:cNvPr id="20" name="Picture 7"/>
          <p:cNvPicPr>
            <a:picLocks noChangeAspect="1"/>
          </p:cNvPicPr>
          <p:nvPr/>
        </p:nvPicPr>
        <p:blipFill>
          <a:blip r:embed="rId6"/>
          <a:stretch>
            <a:fillRect/>
          </a:stretch>
        </p:blipFill>
        <p:spPr>
          <a:xfrm>
            <a:off x="2708870" y="3348000"/>
            <a:ext cx="778674" cy="180000"/>
          </a:xfrm>
          <a:prstGeom prst="rect">
            <a:avLst/>
          </a:prstGeom>
        </p:spPr>
      </p:pic>
      <p:sp>
        <p:nvSpPr>
          <p:cNvPr id="9" name="TextBox 2">
            <a:extLst>
              <a:ext uri="{FF2B5EF4-FFF2-40B4-BE49-F238E27FC236}">
                <a16:creationId xmlns:a16="http://schemas.microsoft.com/office/drawing/2014/main" id="{AA15982C-BA8C-7E7E-5E43-7C839D8EDF27}"/>
              </a:ext>
            </a:extLst>
          </p:cNvPr>
          <p:cNvSpPr>
            <a:spLocks noGrp="1"/>
          </p:cNvSpPr>
          <p:nvPr/>
        </p:nvSpPr>
        <p:spPr>
          <a:xfrm>
            <a:off x="325010" y="704176"/>
            <a:ext cx="4752000" cy="153888"/>
          </a:xfrm>
          <a:prstGeom prst="rect">
            <a:avLst/>
          </a:prstGeom>
          <a:noFill/>
        </p:spPr>
        <p:txBody>
          <a:bodyPr wrap="square" lIns="0" tIns="0" rIns="0" bIns="0">
            <a:spAutoFit/>
          </a:bodyPr>
          <a:lstStyle/>
          <a:p>
            <a:pPr algn="ctr">
              <a:lnSpc>
                <a:spcPct val="100000"/>
              </a:lnSpc>
              <a:buNone/>
            </a:pPr>
            <a:r>
              <a:rPr sz="1000" b="1">
                <a:solidFill>
                  <a:srgbClr val="2DD4BF"/>
                </a:solidFill>
                <a:latin typeface="Open Sans Condensed"/>
                <a:ea typeface="Open Sans Condensed"/>
                <a:cs typeface="Open Sans Condensed"/>
              </a:rPr>
              <a:t>MOVEMENT</a:t>
            </a:r>
          </a:p>
        </p:txBody>
      </p:sp>
      <p:sp>
        <p:nvSpPr>
          <p:cNvPr id="10" name="TextBox 4">
            <a:extLst>
              <a:ext uri="{FF2B5EF4-FFF2-40B4-BE49-F238E27FC236}">
                <a16:creationId xmlns:a16="http://schemas.microsoft.com/office/drawing/2014/main" id="{F48A9402-5D79-304F-FF33-79B2181C3611}"/>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lnSpc>
                <a:spcPct val="100000"/>
              </a:lnSpc>
              <a:buNone/>
            </a:pPr>
            <a:r>
              <a:rPr sz="2400" b="1">
                <a:solidFill>
                  <a:srgbClr val="E6EDF3"/>
                </a:solidFill>
                <a:latin typeface="Open Sans Condensed"/>
                <a:ea typeface="Open Sans Condensed"/>
                <a:cs typeface="Open Sans Condensed"/>
              </a:rPr>
              <a:t>SKELETON MIRROR</a:t>
            </a:r>
          </a:p>
        </p:txBody>
      </p:sp>
      <p:sp>
        <p:nvSpPr>
          <p:cNvPr id="11" name="TextBox 5">
            <a:extLst>
              <a:ext uri="{FF2B5EF4-FFF2-40B4-BE49-F238E27FC236}">
                <a16:creationId xmlns:a16="http://schemas.microsoft.com/office/drawing/2014/main" id="{B10EA5A6-D7FE-F98F-6623-821350063C76}"/>
              </a:ext>
            </a:extLst>
          </p:cNvPr>
          <p:cNvSpPr>
            <a:spLocks noGrp="1"/>
          </p:cNvSpPr>
          <p:nvPr/>
        </p:nvSpPr>
        <p:spPr>
          <a:xfrm>
            <a:off x="288000" y="2605432"/>
            <a:ext cx="4752000" cy="153888"/>
          </a:xfrm>
          <a:prstGeom prst="rect">
            <a:avLst/>
          </a:prstGeom>
          <a:noFill/>
        </p:spPr>
        <p:txBody>
          <a:bodyPr wrap="square" lIns="0" tIns="0" rIns="0" bIns="0">
            <a:spAutoFit/>
          </a:bodyPr>
          <a:lstStyle/>
          <a:p>
            <a:pPr algn="ctr">
              <a:lnSpc>
                <a:spcPct val="100000"/>
              </a:lnSpc>
              <a:buNone/>
            </a:pPr>
            <a:r>
              <a:rPr sz="1000" b="1">
                <a:solidFill>
                  <a:srgbClr val="2DD4BF"/>
                </a:solidFill>
                <a:latin typeface="Open Sans Light"/>
                <a:ea typeface="Open Sans Light"/>
                <a:cs typeface="Open Sans Light"/>
              </a:rPr>
              <a:t>Motion recognition.</a:t>
            </a:r>
          </a:p>
        </p:txBody>
      </p:sp>
      <p:sp>
        <p:nvSpPr>
          <p:cNvPr id="6" name="Rectangle 2">
            <a:extLst>
              <a:ext uri="{FF2B5EF4-FFF2-40B4-BE49-F238E27FC236}">
                <a16:creationId xmlns:a16="http://schemas.microsoft.com/office/drawing/2014/main" id="{7DD4440A-FBF5-E204-2D64-437F53971FB1}"/>
              </a:ext>
            </a:extLst>
          </p:cNvPr>
          <p:cNvSpPr>
            <a:spLocks noGrp="1"/>
          </p:cNvSpPr>
          <p:nvPr/>
        </p:nvSpPr>
        <p:spPr>
          <a:xfrm>
            <a:off x="349857" y="2647798"/>
            <a:ext cx="1542553" cy="79513"/>
          </a:xfrm>
          <a:prstGeom prst="rect">
            <a:avLst/>
          </a:prstGeom>
          <a:solidFill>
            <a:srgbClr val="2C7E7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977998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15127A-154D-4128-A508-35A66BA464DE}"/>
              </a:ext>
            </a:extLst>
          </p:cNvPr>
          <p:cNvSpPr>
            <a:spLocks noGrp="1"/>
          </p:cNvSpPr>
          <p:nvPr/>
        </p:nvSpPr>
        <p:spPr>
          <a:xfrm>
            <a:off x="0" y="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EA97FE3B-63AE-458E-8EF6-818836945038}"/>
              </a:ext>
            </a:extLst>
          </p:cNvPr>
          <p:cNvSpPr>
            <a:spLocks noGrp="1"/>
          </p:cNvSpPr>
          <p:nvPr/>
        </p:nvSpPr>
        <p:spPr>
          <a:xfrm>
            <a:off x="0" y="0"/>
            <a:ext cx="5328000" cy="72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Picture 13"/>
          <p:cNvPicPr>
            <a:picLocks noChangeAspect="1"/>
          </p:cNvPicPr>
          <p:nvPr/>
        </p:nvPicPr>
        <p:blipFill>
          <a:blip r:embed="rId3"/>
          <a:stretch>
            <a:fillRect/>
          </a:stretch>
        </p:blipFill>
        <p:spPr>
          <a:xfrm>
            <a:off x="288000" y="3438000"/>
            <a:ext cx="565132" cy="144000"/>
          </a:xfrm>
          <a:prstGeom prst="rect">
            <a:avLst/>
          </a:prstGeom>
        </p:spPr>
      </p:pic>
      <p:pic>
        <p:nvPicPr>
          <p:cNvPr id="23" name="Picture 14"/>
          <p:cNvPicPr>
            <a:picLocks noChangeAspect="1"/>
          </p:cNvPicPr>
          <p:nvPr/>
        </p:nvPicPr>
        <p:blipFill>
          <a:blip r:embed="rId4"/>
          <a:stretch>
            <a:fillRect/>
          </a:stretch>
        </p:blipFill>
        <p:spPr>
          <a:xfrm>
            <a:off x="961132" y="3438000"/>
            <a:ext cx="622939" cy="144000"/>
          </a:xfrm>
          <a:prstGeom prst="rect">
            <a:avLst/>
          </a:prstGeom>
        </p:spPr>
      </p:pic>
      <p:sp>
        <p:nvSpPr>
          <p:cNvPr id="16" name="TextBox 15">
            <a:extLst>
              <a:ext uri="{FF2B5EF4-FFF2-40B4-BE49-F238E27FC236}">
                <a16:creationId xmlns:a16="http://schemas.microsoft.com/office/drawing/2014/main" id="{9A8E3B69-7EC9-4FEB-8FF1-23E69E4235CC}"/>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
        <p:nvSpPr>
          <p:cNvPr id="17" name="TextBox 6">
            <a:extLst>
              <a:ext uri="{FF2B5EF4-FFF2-40B4-BE49-F238E27FC236}">
                <a16:creationId xmlns:a16="http://schemas.microsoft.com/office/drawing/2014/main" id="{ABF9D68F-7F45-713F-3F56-D81331D37983}"/>
              </a:ext>
            </a:extLst>
          </p:cNvPr>
          <p:cNvSpPr>
            <a:spLocks noGrp="1"/>
          </p:cNvSpPr>
          <p:nvPr/>
        </p:nvSpPr>
        <p:spPr>
          <a:xfrm>
            <a:off x="288000" y="819219"/>
            <a:ext cx="4752000" cy="2734056"/>
          </a:xfrm>
          <a:prstGeom prst="rect">
            <a:avLst/>
          </a:prstGeom>
          <a:noFill/>
        </p:spPr>
        <p:txBody>
          <a:bodyPr wrap="square" lIns="0" tIns="0" rIns="0" bIns="0">
            <a:spAutoFit/>
          </a:bodyPr>
          <a:lstStyle/>
          <a:p>
            <a:pPr marL="285750" indent="-285750">
              <a:lnSpc>
                <a:spcPct val="115000"/>
              </a:lnSpc>
              <a:buAutoNum type="romanUcPeriod"/>
            </a:pPr>
            <a:r>
              <a:rPr sz="1000">
                <a:solidFill>
                  <a:srgbClr val="2DD4BF"/>
                </a:solidFill>
                <a:latin typeface="Open Sans"/>
                <a:ea typeface="Open Sans"/>
                <a:cs typeface="Open Sans"/>
              </a:rPr>
              <a:t>EXPLORATION</a:t>
            </a:r>
          </a:p>
          <a:p>
            <a:pPr marL="228600" indent="-228600">
              <a:lnSpc>
                <a:spcPct val="115000"/>
              </a:lnSpc>
              <a:buAutoNum type="arabicPeriod"/>
            </a:pPr>
            <a:r>
              <a:rPr sz="1000">
                <a:solidFill>
                  <a:srgbClr val="141A33"/>
                </a:solidFill>
                <a:latin typeface="Open Sans"/>
                <a:ea typeface="Open Sans"/>
                <a:cs typeface="Open Sans"/>
              </a:rPr>
              <a:t>Stand before the camera—you become stick figures with 17 points.</a:t>
            </a:r>
          </a:p>
          <a:p>
            <a:pPr marL="228600" indent="-228600">
              <a:lnSpc>
                <a:spcPct val="115000"/>
              </a:lnSpc>
              <a:buAutoNum type="arabicPeriod"/>
            </a:pPr>
            <a:r>
              <a:rPr sz="1000">
                <a:solidFill>
                  <a:srgbClr val="141A33"/>
                </a:solidFill>
                <a:latin typeface="Open Sans"/>
                <a:ea typeface="Open Sans"/>
                <a:cs typeface="Open Sans"/>
              </a:rPr>
              <a:t>Try the pose challenge: who can complete all four poses fastest?</a:t>
            </a:r>
          </a:p>
          <a:p>
            <a:pPr marL="228600" indent="-228600">
              <a:lnSpc>
                <a:spcPct val="115000"/>
              </a:lnSpc>
              <a:buAutoNum type="arabicPeriod"/>
            </a:pPr>
            <a:r>
              <a:rPr sz="1000">
                <a:solidFill>
                  <a:srgbClr val="141A33"/>
                </a:solidFill>
                <a:latin typeface="Open Sans"/>
                <a:ea typeface="Open Sans"/>
                <a:cs typeface="Open Sans"/>
              </a:rPr>
              <a:t>Turn on ghost mode: no video, just skeletons. Can you still tell who is who?</a:t>
            </a:r>
          </a:p>
          <a:p>
            <a:pPr>
              <a:lnSpc>
                <a:spcPct val="115000"/>
              </a:lnSpc>
              <a:buNone/>
            </a:pPr>
            <a:endParaRPr sz="1000">
              <a:solidFill>
                <a:srgbClr val="141A33"/>
              </a:solidFill>
              <a:latin typeface="Open Sans"/>
              <a:ea typeface="Open Sans"/>
              <a:cs typeface="Open Sans"/>
            </a:endParaRPr>
          </a:p>
          <a:p>
            <a:pPr marL="285750" indent="-285750">
              <a:lnSpc>
                <a:spcPct val="115000"/>
              </a:lnSpc>
              <a:buAutoNum type="romanUcPeriod" startAt="2"/>
            </a:pPr>
            <a:r>
              <a:rPr sz="1000">
                <a:solidFill>
                  <a:srgbClr val="2DD4BF"/>
                </a:solidFill>
                <a:latin typeface="Open Sans"/>
                <a:ea typeface="Open Sans"/>
                <a:cs typeface="Open Sans"/>
              </a:rPr>
              <a:t>CHALLENGE</a:t>
            </a:r>
          </a:p>
          <a:p>
            <a:pPr>
              <a:lnSpc>
                <a:spcPct val="115000"/>
              </a:lnSpc>
              <a:buNone/>
            </a:pPr>
            <a:r>
              <a:rPr sz="1000">
                <a:solidFill>
                  <a:srgbClr val="141A33"/>
                </a:solidFill>
                <a:latin typeface="Open Sans"/>
                <a:ea typeface="Open Sans"/>
                <a:cs typeface="Open Sans"/>
              </a:rPr>
              <a:t>In ghost mode, find three things you can learn about someone without seeing their face.</a:t>
            </a:r>
          </a:p>
          <a:p>
            <a:pPr>
              <a:lnSpc>
                <a:spcPct val="115000"/>
              </a:lnSpc>
              <a:buNone/>
            </a:pPr>
            <a:endParaRPr sz="1000">
              <a:solidFill>
                <a:srgbClr val="141A33"/>
              </a:solidFill>
              <a:latin typeface="Open Sans"/>
              <a:ea typeface="Open Sans"/>
              <a:cs typeface="Open Sans"/>
            </a:endParaRPr>
          </a:p>
          <a:p>
            <a:pPr marL="285750" indent="-285750">
              <a:lnSpc>
                <a:spcPct val="115000"/>
              </a:lnSpc>
              <a:buAutoNum type="romanUcPeriod" startAt="3"/>
            </a:pPr>
            <a:r>
              <a:rPr sz="1000">
                <a:solidFill>
                  <a:srgbClr val="2DD4BF"/>
                </a:solidFill>
                <a:latin typeface="Open Sans"/>
                <a:ea typeface="Open Sans"/>
                <a:cs typeface="Open Sans"/>
              </a:rPr>
              <a:t>REFLECTION</a:t>
            </a:r>
          </a:p>
          <a:p>
            <a:pPr>
              <a:lnSpc>
                <a:spcPct val="115000"/>
              </a:lnSpc>
              <a:buNone/>
            </a:pPr>
            <a:r>
              <a:rPr sz="1000">
                <a:solidFill>
                  <a:srgbClr val="141A33"/>
                </a:solidFill>
                <a:latin typeface="Open Sans"/>
                <a:ea typeface="Open Sans"/>
                <a:cs typeface="Open Sans"/>
              </a:rPr>
              <a:t>Game consoles, care-home fall detectors and pool cameras that detect drowning all use skeleton tracking. When is it care, when surveillance—and who decides?</a:t>
            </a:r>
          </a:p>
        </p:txBody>
      </p:sp>
      <p:sp>
        <p:nvSpPr>
          <p:cNvPr id="4" name="TextBox 4">
            <a:extLst>
              <a:ext uri="{FF2B5EF4-FFF2-40B4-BE49-F238E27FC236}">
                <a16:creationId xmlns:a16="http://schemas.microsoft.com/office/drawing/2014/main" id="{384EEC51-2128-B9DA-9028-559BEFCCEAFC}"/>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SKELETON MIRROR</a:t>
            </a:r>
          </a:p>
        </p:txBody>
      </p:sp>
    </p:spTree>
    <p:extLst>
      <p:ext uri="{BB962C8B-B14F-4D97-AF65-F5344CB8AC3E}">
        <p14:creationId xmlns:p14="http://schemas.microsoft.com/office/powerpoint/2010/main" val="606551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
          <p:cNvPicPr>
            <a:picLocks noChangeAspect="1"/>
          </p:cNvPicPr>
          <p:nvPr/>
        </p:nvPicPr>
        <p:blipFill>
          <a:blip r:embed="rId3"/>
          <a:stretch>
            <a:fillRect/>
          </a:stretch>
        </p:blipFill>
        <p:spPr>
          <a:xfrm>
            <a:off x="0" y="0"/>
            <a:ext cx="5328000" cy="3780000"/>
          </a:xfrm>
          <a:prstGeom prst="rect">
            <a:avLst/>
          </a:prstGeom>
        </p:spPr>
      </p:pic>
      <p:pic>
        <p:nvPicPr>
          <p:cNvPr id="19" name="Grafik 10"/>
          <p:cNvPicPr>
            <a:picLocks noChangeAspect="1"/>
          </p:cNvPicPr>
          <p:nvPr/>
        </p:nvPicPr>
        <p:blipFill>
          <a:blip r:embed="rId4">
            <a:alphaModFix amt="10000"/>
          </a:blip>
          <a:srcRect l="32601" t="18817" r="38310" b="14339"/>
          <a:stretch>
            <a:fillRect/>
          </a:stretch>
        </p:blipFill>
        <p:spPr>
          <a:xfrm>
            <a:off x="-350" y="-572599"/>
            <a:ext cx="5328000" cy="4757695"/>
          </a:xfrm>
          <a:prstGeom prst="rect">
            <a:avLst/>
          </a:prstGeom>
        </p:spPr>
      </p:pic>
      <p:sp>
        <p:nvSpPr>
          <p:cNvPr id="9" name="Abgerundetes Rechteck 8">
            <a:extLst>
              <a:ext uri="{FF2B5EF4-FFF2-40B4-BE49-F238E27FC236}">
                <a16:creationId xmlns:a16="http://schemas.microsoft.com/office/drawing/2014/main" id="{807C7542-6B42-5A8F-EA88-9D3510620637}"/>
              </a:ext>
            </a:extLst>
          </p:cNvPr>
          <p:cNvSpPr>
            <a:spLocks noGrp="1"/>
          </p:cNvSpPr>
          <p:nvPr/>
        </p:nvSpPr>
        <p:spPr>
          <a:xfrm>
            <a:off x="2303813" y="1048454"/>
            <a:ext cx="794394" cy="777156"/>
          </a:xfrm>
          <a:prstGeom prst="roundRect">
            <a:avLst/>
          </a:prstGeom>
          <a:solidFill>
            <a:srgbClr val="523E97">
              <a:alpha val="23529"/>
            </a:srgbClr>
          </a:solidFill>
          <a:ln>
            <a:solidFill>
              <a:srgbClr val="8A4FD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9339B992-0677-467D-81D2-3650955680B6}"/>
              </a:ext>
            </a:extLst>
          </p:cNvPr>
          <p:cNvSpPr>
            <a:spLocks noGrp="1"/>
          </p:cNvSpPr>
          <p:nvPr/>
        </p:nvSpPr>
        <p:spPr>
          <a:xfrm>
            <a:off x="332870" y="720000"/>
            <a:ext cx="4752000" cy="113429"/>
          </a:xfrm>
          <a:prstGeom prst="rect">
            <a:avLst/>
          </a:prstGeom>
          <a:noFill/>
        </p:spPr>
        <p:txBody>
          <a:bodyPr wrap="square" lIns="0" tIns="0" rIns="0" bIns="0">
            <a:spAutoFit/>
          </a:bodyPr>
          <a:lstStyle/>
          <a:p>
            <a:pPr algn="ctr">
              <a:lnSpc>
                <a:spcPct val="100000"/>
              </a:lnSpc>
              <a:buNone/>
            </a:pPr>
            <a:r>
              <a:rPr sz="737" b="1">
                <a:solidFill>
                  <a:srgbClr val="8A4FD8"/>
                </a:solidFill>
                <a:latin typeface="Helvetica Neue"/>
                <a:ea typeface="Helvetica Neue"/>
                <a:cs typeface="Helvetica Neue"/>
              </a:rPr>
              <a:t>DISCUSSION CARD</a:t>
            </a:r>
          </a:p>
        </p:txBody>
      </p:sp>
      <p:pic>
        <p:nvPicPr>
          <p:cNvPr id="22" name="Picture 3"/>
          <p:cNvPicPr>
            <a:picLocks noChangeAspect="1"/>
          </p:cNvPicPr>
          <p:nvPr/>
        </p:nvPicPr>
        <p:blipFill>
          <a:blip r:embed="rId5"/>
          <a:stretch>
            <a:fillRect/>
          </a:stretch>
        </p:blipFill>
        <p:spPr>
          <a:xfrm>
            <a:off x="2420870" y="1136714"/>
            <a:ext cx="576000" cy="576000"/>
          </a:xfrm>
          <a:prstGeom prst="rect">
            <a:avLst/>
          </a:prstGeom>
        </p:spPr>
      </p:pic>
      <p:sp>
        <p:nvSpPr>
          <p:cNvPr id="5" name="TextBox 4">
            <a:extLst>
              <a:ext uri="{FF2B5EF4-FFF2-40B4-BE49-F238E27FC236}">
                <a16:creationId xmlns:a16="http://schemas.microsoft.com/office/drawing/2014/main" id="{5D2B1A3D-ECE3-4F53-8B1A-95A7D352E268}"/>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lnSpc>
                <a:spcPct val="100000"/>
              </a:lnSpc>
              <a:buNone/>
            </a:pPr>
            <a:r>
              <a:rPr sz="2400" b="1">
                <a:solidFill>
                  <a:srgbClr val="E6EDF3"/>
                </a:solidFill>
                <a:latin typeface="Open Sans Condensed"/>
                <a:ea typeface="Open Sans Condensed"/>
                <a:cs typeface="Open Sans Condensed"/>
              </a:rPr>
              <a:t>THE SMART DOORBELL</a:t>
            </a:r>
          </a:p>
        </p:txBody>
      </p:sp>
      <p:sp>
        <p:nvSpPr>
          <p:cNvPr id="6" name="TextBox 5">
            <a:extLst>
              <a:ext uri="{FF2B5EF4-FFF2-40B4-BE49-F238E27FC236}">
                <a16:creationId xmlns:a16="http://schemas.microsoft.com/office/drawing/2014/main" id="{9338198C-1A5B-4119-8808-9187E9EEB4FE}"/>
              </a:ext>
            </a:extLst>
          </p:cNvPr>
          <p:cNvSpPr>
            <a:spLocks noGrp="1"/>
          </p:cNvSpPr>
          <p:nvPr/>
        </p:nvSpPr>
        <p:spPr>
          <a:xfrm>
            <a:off x="288000" y="2595020"/>
            <a:ext cx="4752000" cy="216000"/>
          </a:xfrm>
          <a:prstGeom prst="rect">
            <a:avLst/>
          </a:prstGeom>
          <a:noFill/>
        </p:spPr>
        <p:txBody>
          <a:bodyPr wrap="square" lIns="0" tIns="0" rIns="0" bIns="0">
            <a:spAutoFit/>
          </a:bodyPr>
          <a:lstStyle/>
          <a:p>
            <a:pPr algn="ctr">
              <a:lnSpc>
                <a:spcPct val="100000"/>
              </a:lnSpc>
              <a:buNone/>
            </a:pPr>
            <a:r>
              <a:rPr sz="1020" b="1">
                <a:solidFill>
                  <a:srgbClr val="8A4FD8"/>
                </a:solidFill>
                <a:latin typeface="Helvetica Neue"/>
                <a:ea typeface="Helvetica Neue"/>
                <a:cs typeface="Helvetica Neue"/>
              </a:rPr>
              <a:t>Privacy &amp; AI</a:t>
            </a:r>
          </a:p>
        </p:txBody>
      </p:sp>
      <p:pic>
        <p:nvPicPr>
          <p:cNvPr id="25" name="Picture 6"/>
          <p:cNvPicPr>
            <a:picLocks noChangeAspect="1"/>
          </p:cNvPicPr>
          <p:nvPr/>
        </p:nvPicPr>
        <p:blipFill>
          <a:blip r:embed="rId6"/>
          <a:stretch>
            <a:fillRect/>
          </a:stretch>
        </p:blipFill>
        <p:spPr>
          <a:xfrm>
            <a:off x="1840455" y="3348000"/>
            <a:ext cx="706415" cy="180000"/>
          </a:xfrm>
          <a:prstGeom prst="rect">
            <a:avLst/>
          </a:prstGeom>
        </p:spPr>
      </p:pic>
      <p:pic>
        <p:nvPicPr>
          <p:cNvPr id="26" name="Picture 7"/>
          <p:cNvPicPr>
            <a:picLocks noChangeAspect="1"/>
          </p:cNvPicPr>
          <p:nvPr/>
        </p:nvPicPr>
        <p:blipFill>
          <a:blip r:embed="rId7"/>
          <a:stretch>
            <a:fillRect/>
          </a:stretch>
        </p:blipFill>
        <p:spPr>
          <a:xfrm>
            <a:off x="2708870" y="3348000"/>
            <a:ext cx="778674" cy="180000"/>
          </a:xfrm>
          <a:prstGeom prst="rect">
            <a:avLst/>
          </a:prstGeom>
        </p:spPr>
      </p:pic>
      <p:sp>
        <p:nvSpPr>
          <p:cNvPr id="12" name="Rectangle 2">
            <a:extLst>
              <a:ext uri="{FF2B5EF4-FFF2-40B4-BE49-F238E27FC236}">
                <a16:creationId xmlns:a16="http://schemas.microsoft.com/office/drawing/2014/main" id="{8407EC28-325A-7F1C-D088-6C6E05179391}"/>
              </a:ext>
            </a:extLst>
          </p:cNvPr>
          <p:cNvSpPr>
            <a:spLocks noGrp="1"/>
          </p:cNvSpPr>
          <p:nvPr/>
        </p:nvSpPr>
        <p:spPr>
          <a:xfrm>
            <a:off x="349857" y="2647798"/>
            <a:ext cx="1542553" cy="79513"/>
          </a:xfrm>
          <a:prstGeom prst="rect">
            <a:avLst/>
          </a:prstGeom>
          <a:solidFill>
            <a:srgbClr val="593F8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995975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BD8ED9-38FD-3F61-A329-032A2BE322F1}"/>
              </a:ext>
            </a:extLst>
          </p:cNvPr>
          <p:cNvSpPr>
            <a:spLocks noGrp="1"/>
          </p:cNvSpPr>
          <p:nvPr/>
        </p:nvSpPr>
        <p:spPr>
          <a:xfrm>
            <a:off x="0" y="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6C99EEC6-4EA7-308C-8881-B3B6A2F2E78A}"/>
              </a:ext>
            </a:extLst>
          </p:cNvPr>
          <p:cNvSpPr>
            <a:spLocks noGrp="1"/>
          </p:cNvSpPr>
          <p:nvPr/>
        </p:nvSpPr>
        <p:spPr>
          <a:xfrm>
            <a:off x="0" y="0"/>
            <a:ext cx="5328000" cy="72000"/>
          </a:xfrm>
          <a:prstGeom prst="rect">
            <a:avLst/>
          </a:prstGeom>
          <a:solidFill>
            <a:srgbClr val="8A4FD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7" name="Picture 9"/>
          <p:cNvPicPr>
            <a:picLocks noChangeAspect="1"/>
          </p:cNvPicPr>
          <p:nvPr/>
        </p:nvPicPr>
        <p:blipFill>
          <a:blip r:embed="rId3"/>
          <a:stretch>
            <a:fillRect/>
          </a:stretch>
        </p:blipFill>
        <p:spPr>
          <a:xfrm>
            <a:off x="288000" y="3438000"/>
            <a:ext cx="565132" cy="144000"/>
          </a:xfrm>
          <a:prstGeom prst="rect">
            <a:avLst/>
          </a:prstGeom>
        </p:spPr>
      </p:pic>
      <p:pic>
        <p:nvPicPr>
          <p:cNvPr id="28" name="Picture 10"/>
          <p:cNvPicPr>
            <a:picLocks noChangeAspect="1"/>
          </p:cNvPicPr>
          <p:nvPr/>
        </p:nvPicPr>
        <p:blipFill>
          <a:blip r:embed="rId4"/>
          <a:stretch>
            <a:fillRect/>
          </a:stretch>
        </p:blipFill>
        <p:spPr>
          <a:xfrm>
            <a:off x="961132" y="3438000"/>
            <a:ext cx="622939" cy="144000"/>
          </a:xfrm>
          <a:prstGeom prst="rect">
            <a:avLst/>
          </a:prstGeom>
        </p:spPr>
      </p:pic>
      <p:sp>
        <p:nvSpPr>
          <p:cNvPr id="12" name="TextBox 11">
            <a:extLst>
              <a:ext uri="{FF2B5EF4-FFF2-40B4-BE49-F238E27FC236}">
                <a16:creationId xmlns:a16="http://schemas.microsoft.com/office/drawing/2014/main" id="{3BBB8E7C-0EE9-7A57-2CE0-839B713ACC98}"/>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
        <p:nvSpPr>
          <p:cNvPr id="4" name="TextBox 6">
            <a:extLst>
              <a:ext uri="{FF2B5EF4-FFF2-40B4-BE49-F238E27FC236}">
                <a16:creationId xmlns:a16="http://schemas.microsoft.com/office/drawing/2014/main" id="{218D97AE-E7C7-4BC2-25F1-DA00FF628EF6}"/>
              </a:ext>
            </a:extLst>
          </p:cNvPr>
          <p:cNvSpPr>
            <a:spLocks noGrp="1"/>
          </p:cNvSpPr>
          <p:nvPr/>
        </p:nvSpPr>
        <p:spPr>
          <a:xfrm>
            <a:off x="288000" y="819219"/>
            <a:ext cx="4752000" cy="1367028"/>
          </a:xfrm>
          <a:prstGeom prst="rect">
            <a:avLst/>
          </a:prstGeom>
          <a:noFill/>
        </p:spPr>
        <p:txBody>
          <a:bodyPr wrap="square" lIns="0" tIns="0" rIns="0" bIns="0">
            <a:spAutoFit/>
          </a:bodyPr>
          <a:lstStyle/>
          <a:p>
            <a:pPr>
              <a:lnSpc>
                <a:spcPct val="115000"/>
              </a:lnSpc>
              <a:buNone/>
            </a:pPr>
            <a:r>
              <a:rPr sz="1000">
                <a:solidFill>
                  <a:srgbClr val="141A33"/>
                </a:solidFill>
                <a:latin typeface="Open Sans"/>
                <a:ea typeface="Open Sans"/>
                <a:cs typeface="Open Sans"/>
              </a:rPr>
              <a:t>The Yilmaz family has a video doorbell. It automatically records the pavement too—including neighbours, postal workers, and children playing. The recordings are sent to the manufacturer’s servers in the USA.</a:t>
            </a:r>
          </a:p>
          <a:p>
            <a:pPr>
              <a:lnSpc>
                <a:spcPct val="115000"/>
              </a:lnSpc>
              <a:buNone/>
            </a:pPr>
            <a:endParaRPr sz="1000">
              <a:solidFill>
                <a:srgbClr val="141A33"/>
              </a:solidFill>
              <a:latin typeface="Open Sans"/>
              <a:ea typeface="Open Sans"/>
              <a:cs typeface="Open Sans"/>
            </a:endParaRPr>
          </a:p>
          <a:p>
            <a:pPr>
              <a:lnSpc>
                <a:spcPct val="115000"/>
              </a:lnSpc>
              <a:buNone/>
            </a:pPr>
            <a:r>
              <a:rPr sz="1000">
                <a:solidFill>
                  <a:srgbClr val="B67CFF"/>
                </a:solidFill>
                <a:latin typeface="Open Sans"/>
                <a:ea typeface="Open Sans"/>
                <a:cs typeface="Open Sans"/>
              </a:rPr>
              <a:t>DISCUSS</a:t>
            </a:r>
          </a:p>
          <a:p>
            <a:pPr>
              <a:lnSpc>
                <a:spcPct val="115000"/>
              </a:lnSpc>
              <a:buNone/>
            </a:pPr>
            <a:r>
              <a:rPr sz="1000">
                <a:solidFill>
                  <a:srgbClr val="141A33"/>
                </a:solidFill>
                <a:latin typeface="Open Sans"/>
                <a:ea typeface="Open Sans"/>
                <a:cs typeface="Open Sans"/>
              </a:rPr>
              <a:t>Whose privacy matters here? What would you change if you could design the doorbell? </a:t>
            </a:r>
          </a:p>
        </p:txBody>
      </p:sp>
      <p:sp>
        <p:nvSpPr>
          <p:cNvPr id="13" name="TextBox 4">
            <a:extLst>
              <a:ext uri="{FF2B5EF4-FFF2-40B4-BE49-F238E27FC236}">
                <a16:creationId xmlns:a16="http://schemas.microsoft.com/office/drawing/2014/main" id="{78F39AC2-ECAD-D1B2-BA73-03E8E60BD50D}"/>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THE SMART DOORBELL</a:t>
            </a:r>
          </a:p>
        </p:txBody>
      </p:sp>
      <p:pic>
        <p:nvPicPr>
          <p:cNvPr id="32" name="Grafik 19"/>
          <p:cNvPicPr>
            <a:picLocks noChangeAspect="1"/>
          </p:cNvPicPr>
          <p:nvPr/>
        </p:nvPicPr>
        <p:blipFill>
          <a:blip r:embed="rId5"/>
          <a:stretch>
            <a:fillRect/>
          </a:stretch>
        </p:blipFill>
        <p:spPr>
          <a:xfrm>
            <a:off x="341153" y="2705141"/>
            <a:ext cx="302090" cy="302090"/>
          </a:xfrm>
          <a:prstGeom prst="rect">
            <a:avLst/>
          </a:prstGeom>
        </p:spPr>
      </p:pic>
      <p:sp>
        <p:nvSpPr>
          <p:cNvPr id="21" name="Textfeld 20">
            <a:extLst>
              <a:ext uri="{FF2B5EF4-FFF2-40B4-BE49-F238E27FC236}">
                <a16:creationId xmlns:a16="http://schemas.microsoft.com/office/drawing/2014/main" id="{93C63D22-2ECC-FBC6-EC1B-E08FC528D611}"/>
              </a:ext>
            </a:extLst>
          </p:cNvPr>
          <p:cNvSpPr>
            <a:spLocks noGrp="1"/>
          </p:cNvSpPr>
          <p:nvPr/>
        </p:nvSpPr>
        <p:spPr>
          <a:xfrm>
            <a:off x="643243" y="2624157"/>
            <a:ext cx="4343254" cy="441960"/>
          </a:xfrm>
          <a:prstGeom prst="rect">
            <a:avLst/>
          </a:prstGeom>
          <a:noFill/>
        </p:spPr>
        <p:txBody>
          <a:bodyPr wrap="square">
            <a:spAutoFit/>
          </a:bodyPr>
          <a:lstStyle/>
          <a:p>
            <a:pPr>
              <a:lnSpc>
                <a:spcPct val="115000"/>
              </a:lnSpc>
              <a:buNone/>
            </a:pPr>
            <a:r>
              <a:rPr sz="1000">
                <a:solidFill>
                  <a:srgbClr val="8992AB"/>
                </a:solidFill>
                <a:latin typeface="Open Sans"/>
                <a:ea typeface="Open Sans"/>
                <a:cs typeface="Open Sans"/>
              </a:rPr>
              <a:t>Hint: Today, you saw a camera that blurs faces before storing the footage.</a:t>
            </a:r>
          </a:p>
        </p:txBody>
      </p:sp>
    </p:spTree>
    <p:extLst>
      <p:ext uri="{BB962C8B-B14F-4D97-AF65-F5344CB8AC3E}">
        <p14:creationId xmlns:p14="http://schemas.microsoft.com/office/powerpoint/2010/main" val="987333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
          <p:cNvPicPr>
            <a:picLocks noChangeAspect="1"/>
          </p:cNvPicPr>
          <p:nvPr/>
        </p:nvPicPr>
        <p:blipFill>
          <a:blip r:embed="rId3"/>
          <a:stretch>
            <a:fillRect/>
          </a:stretch>
        </p:blipFill>
        <p:spPr>
          <a:xfrm>
            <a:off x="0" y="0"/>
            <a:ext cx="5328000" cy="3780000"/>
          </a:xfrm>
          <a:prstGeom prst="rect">
            <a:avLst/>
          </a:prstGeom>
        </p:spPr>
      </p:pic>
      <p:pic>
        <p:nvPicPr>
          <p:cNvPr id="16" name="Grafik 10"/>
          <p:cNvPicPr>
            <a:picLocks noChangeAspect="1"/>
          </p:cNvPicPr>
          <p:nvPr/>
        </p:nvPicPr>
        <p:blipFill>
          <a:blip r:embed="rId4">
            <a:alphaModFix amt="10000"/>
          </a:blip>
          <a:srcRect l="32601" t="18817" r="38310" b="14339"/>
          <a:stretch>
            <a:fillRect/>
          </a:stretch>
        </p:blipFill>
        <p:spPr>
          <a:xfrm>
            <a:off x="-350" y="-572599"/>
            <a:ext cx="5328000" cy="4757695"/>
          </a:xfrm>
          <a:prstGeom prst="rect">
            <a:avLst/>
          </a:prstGeom>
        </p:spPr>
      </p:pic>
      <p:sp>
        <p:nvSpPr>
          <p:cNvPr id="9" name="Abgerundetes Rechteck 8">
            <a:extLst>
              <a:ext uri="{FF2B5EF4-FFF2-40B4-BE49-F238E27FC236}">
                <a16:creationId xmlns:a16="http://schemas.microsoft.com/office/drawing/2014/main" id="{34FE1045-A32A-323F-D810-2E391BFF7E0E}"/>
              </a:ext>
            </a:extLst>
          </p:cNvPr>
          <p:cNvSpPr>
            <a:spLocks noGrp="1"/>
          </p:cNvSpPr>
          <p:nvPr/>
        </p:nvSpPr>
        <p:spPr>
          <a:xfrm>
            <a:off x="2303813" y="1048454"/>
            <a:ext cx="794394" cy="777156"/>
          </a:xfrm>
          <a:prstGeom prst="roundRect">
            <a:avLst/>
          </a:prstGeom>
          <a:solidFill>
            <a:srgbClr val="676767">
              <a:alpha val="44706"/>
            </a:srgbClr>
          </a:solidFill>
          <a:ln>
            <a:solidFill>
              <a:srgbClr val="C326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D5971D0-D007-4AB5-8DCA-EA92C2F440A1}"/>
              </a:ext>
            </a:extLst>
          </p:cNvPr>
          <p:cNvSpPr>
            <a:spLocks noGrp="1"/>
          </p:cNvSpPr>
          <p:nvPr/>
        </p:nvSpPr>
        <p:spPr>
          <a:xfrm>
            <a:off x="332870" y="718678"/>
            <a:ext cx="4752000" cy="113429"/>
          </a:xfrm>
          <a:prstGeom prst="rect">
            <a:avLst/>
          </a:prstGeom>
          <a:noFill/>
        </p:spPr>
        <p:txBody>
          <a:bodyPr wrap="square" lIns="0" tIns="0" rIns="0" bIns="0">
            <a:spAutoFit/>
          </a:bodyPr>
          <a:lstStyle/>
          <a:p>
            <a:pPr algn="ctr">
              <a:lnSpc>
                <a:spcPct val="100000"/>
              </a:lnSpc>
              <a:buNone/>
            </a:pPr>
            <a:r>
              <a:rPr sz="737" b="1">
                <a:solidFill>
                  <a:srgbClr val="C32683"/>
                </a:solidFill>
                <a:latin typeface="Helvetica Neue"/>
                <a:ea typeface="Helvetica Neue"/>
                <a:cs typeface="Helvetica Neue"/>
              </a:rPr>
              <a:t>DISCUSSION CARD</a:t>
            </a:r>
          </a:p>
        </p:txBody>
      </p:sp>
      <p:pic>
        <p:nvPicPr>
          <p:cNvPr id="19" name="Picture 3"/>
          <p:cNvPicPr>
            <a:picLocks noChangeAspect="1"/>
          </p:cNvPicPr>
          <p:nvPr/>
        </p:nvPicPr>
        <p:blipFill>
          <a:blip r:embed="rId5"/>
          <a:stretch>
            <a:fillRect/>
          </a:stretch>
        </p:blipFill>
        <p:spPr>
          <a:xfrm>
            <a:off x="2391737" y="1149032"/>
            <a:ext cx="618545" cy="576000"/>
          </a:xfrm>
          <a:prstGeom prst="rect">
            <a:avLst/>
          </a:prstGeom>
        </p:spPr>
      </p:pic>
      <p:sp>
        <p:nvSpPr>
          <p:cNvPr id="5" name="TextBox 4">
            <a:extLst>
              <a:ext uri="{FF2B5EF4-FFF2-40B4-BE49-F238E27FC236}">
                <a16:creationId xmlns:a16="http://schemas.microsoft.com/office/drawing/2014/main" id="{8CFFB168-51F1-4E3F-A33C-0B9788CEE329}"/>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buNone/>
            </a:pPr>
            <a:r>
              <a:rPr sz="2400" b="1">
                <a:solidFill>
                  <a:srgbClr val="E6EDF3"/>
                </a:solidFill>
                <a:latin typeface="Open Sans Condensed"/>
                <a:ea typeface="Open Sans Condensed"/>
                <a:cs typeface="Open Sans Condensed"/>
              </a:rPr>
              <a:t>THE STADIUM</a:t>
            </a:r>
          </a:p>
        </p:txBody>
      </p:sp>
      <p:sp>
        <p:nvSpPr>
          <p:cNvPr id="6" name="TextBox 5">
            <a:extLst>
              <a:ext uri="{FF2B5EF4-FFF2-40B4-BE49-F238E27FC236}">
                <a16:creationId xmlns:a16="http://schemas.microsoft.com/office/drawing/2014/main" id="{18980C72-2577-46F5-A5BF-ABCF4B7B1CE3}"/>
              </a:ext>
            </a:extLst>
          </p:cNvPr>
          <p:cNvSpPr>
            <a:spLocks noGrp="1"/>
          </p:cNvSpPr>
          <p:nvPr/>
        </p:nvSpPr>
        <p:spPr>
          <a:xfrm>
            <a:off x="288000" y="2574000"/>
            <a:ext cx="4752000" cy="216000"/>
          </a:xfrm>
          <a:prstGeom prst="rect">
            <a:avLst/>
          </a:prstGeom>
          <a:noFill/>
        </p:spPr>
        <p:txBody>
          <a:bodyPr wrap="square" lIns="0" tIns="0" rIns="0" bIns="0">
            <a:spAutoFit/>
          </a:bodyPr>
          <a:lstStyle/>
          <a:p>
            <a:pPr algn="ctr">
              <a:lnSpc>
                <a:spcPct val="100000"/>
              </a:lnSpc>
              <a:buNone/>
            </a:pPr>
            <a:r>
              <a:rPr sz="1020" b="1">
                <a:solidFill>
                  <a:srgbClr val="C32683"/>
                </a:solidFill>
                <a:latin typeface="Helvetica Neue"/>
                <a:ea typeface="Helvetica Neue"/>
                <a:cs typeface="Helvetica Neue"/>
              </a:rPr>
              <a:t>Privacy &amp; AI</a:t>
            </a:r>
          </a:p>
        </p:txBody>
      </p:sp>
      <p:pic>
        <p:nvPicPr>
          <p:cNvPr id="22" name="Picture 6"/>
          <p:cNvPicPr>
            <a:picLocks noChangeAspect="1"/>
          </p:cNvPicPr>
          <p:nvPr/>
        </p:nvPicPr>
        <p:blipFill>
          <a:blip r:embed="rId6"/>
          <a:stretch>
            <a:fillRect/>
          </a:stretch>
        </p:blipFill>
        <p:spPr>
          <a:xfrm>
            <a:off x="1840455" y="3348000"/>
            <a:ext cx="706415" cy="180000"/>
          </a:xfrm>
          <a:prstGeom prst="rect">
            <a:avLst/>
          </a:prstGeom>
        </p:spPr>
      </p:pic>
      <p:pic>
        <p:nvPicPr>
          <p:cNvPr id="23" name="Picture 7"/>
          <p:cNvPicPr>
            <a:picLocks noChangeAspect="1"/>
          </p:cNvPicPr>
          <p:nvPr/>
        </p:nvPicPr>
        <p:blipFill>
          <a:blip r:embed="rId7"/>
          <a:stretch>
            <a:fillRect/>
          </a:stretch>
        </p:blipFill>
        <p:spPr>
          <a:xfrm>
            <a:off x="2708870" y="3348000"/>
            <a:ext cx="778674" cy="180000"/>
          </a:xfrm>
          <a:prstGeom prst="rect">
            <a:avLst/>
          </a:prstGeom>
        </p:spPr>
      </p:pic>
    </p:spTree>
    <p:extLst>
      <p:ext uri="{BB962C8B-B14F-4D97-AF65-F5344CB8AC3E}">
        <p14:creationId xmlns:p14="http://schemas.microsoft.com/office/powerpoint/2010/main" val="379349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BE4B16-A878-C6AB-A17E-9440C9891582}"/>
              </a:ext>
            </a:extLst>
          </p:cNvPr>
          <p:cNvSpPr>
            <a:spLocks noGrp="1"/>
          </p:cNvSpPr>
          <p:nvPr/>
        </p:nvSpPr>
        <p:spPr>
          <a:xfrm>
            <a:off x="0" y="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Picture 9"/>
          <p:cNvPicPr>
            <a:picLocks noChangeAspect="1"/>
          </p:cNvPicPr>
          <p:nvPr/>
        </p:nvPicPr>
        <p:blipFill>
          <a:blip r:embed="rId3"/>
          <a:stretch>
            <a:fillRect/>
          </a:stretch>
        </p:blipFill>
        <p:spPr>
          <a:xfrm>
            <a:off x="288000" y="3438000"/>
            <a:ext cx="565132" cy="144000"/>
          </a:xfrm>
          <a:prstGeom prst="rect">
            <a:avLst/>
          </a:prstGeom>
        </p:spPr>
      </p:pic>
      <p:pic>
        <p:nvPicPr>
          <p:cNvPr id="19" name="Picture 10"/>
          <p:cNvPicPr>
            <a:picLocks noChangeAspect="1"/>
          </p:cNvPicPr>
          <p:nvPr/>
        </p:nvPicPr>
        <p:blipFill>
          <a:blip r:embed="rId4"/>
          <a:stretch>
            <a:fillRect/>
          </a:stretch>
        </p:blipFill>
        <p:spPr>
          <a:xfrm>
            <a:off x="961132" y="3438000"/>
            <a:ext cx="622939" cy="144000"/>
          </a:xfrm>
          <a:prstGeom prst="rect">
            <a:avLst/>
          </a:prstGeom>
        </p:spPr>
      </p:pic>
      <p:sp>
        <p:nvSpPr>
          <p:cNvPr id="12" name="TextBox 11">
            <a:extLst>
              <a:ext uri="{FF2B5EF4-FFF2-40B4-BE49-F238E27FC236}">
                <a16:creationId xmlns:a16="http://schemas.microsoft.com/office/drawing/2014/main" id="{7F806653-9FC2-7F09-814B-5FC110489435}"/>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
        <p:nvSpPr>
          <p:cNvPr id="4" name="TextBox 6">
            <a:extLst>
              <a:ext uri="{FF2B5EF4-FFF2-40B4-BE49-F238E27FC236}">
                <a16:creationId xmlns:a16="http://schemas.microsoft.com/office/drawing/2014/main" id="{FE05468F-C1A0-0A78-F2C3-95B8F0634241}"/>
              </a:ext>
            </a:extLst>
          </p:cNvPr>
          <p:cNvSpPr>
            <a:spLocks noGrp="1"/>
          </p:cNvSpPr>
          <p:nvPr/>
        </p:nvSpPr>
        <p:spPr>
          <a:xfrm>
            <a:off x="288000" y="819219"/>
            <a:ext cx="4752000" cy="1682496"/>
          </a:xfrm>
          <a:prstGeom prst="rect">
            <a:avLst/>
          </a:prstGeom>
          <a:noFill/>
        </p:spPr>
        <p:txBody>
          <a:bodyPr wrap="square" lIns="0" tIns="0" rIns="0" bIns="0">
            <a:spAutoFit/>
          </a:bodyPr>
          <a:lstStyle/>
          <a:p>
            <a:pPr>
              <a:lnSpc>
                <a:spcPct val="115000"/>
              </a:lnSpc>
              <a:buNone/>
            </a:pPr>
            <a:r>
              <a:rPr sz="1000">
                <a:solidFill>
                  <a:srgbClr val="141A33"/>
                </a:solidFill>
                <a:latin typeface="Open Sans"/>
                <a:ea typeface="Open Sans"/>
                <a:cs typeface="Open Sans"/>
              </a:rPr>
              <a:t>A football stadium wants facial recognition at the entrance: known violent offenders are to be identified automatically. To do this, the faces of all 50,000 visitors are scanned and compared with a database.</a:t>
            </a:r>
          </a:p>
          <a:p>
            <a:pPr>
              <a:lnSpc>
                <a:spcPct val="115000"/>
              </a:lnSpc>
              <a:buNone/>
            </a:pPr>
            <a:endParaRPr sz="1000">
              <a:solidFill>
                <a:srgbClr val="141A33"/>
              </a:solidFill>
              <a:latin typeface="Open Sans"/>
              <a:ea typeface="Open Sans"/>
              <a:cs typeface="Open Sans"/>
            </a:endParaRPr>
          </a:p>
          <a:p>
            <a:pPr>
              <a:lnSpc>
                <a:spcPct val="115000"/>
              </a:lnSpc>
              <a:buNone/>
            </a:pPr>
            <a:r>
              <a:rPr sz="1000">
                <a:solidFill>
                  <a:srgbClr val="C32683"/>
                </a:solidFill>
                <a:latin typeface="Open Sans"/>
                <a:ea typeface="Open Sans"/>
                <a:cs typeface="Open Sans"/>
              </a:rPr>
              <a:t>DISCUSS</a:t>
            </a:r>
          </a:p>
          <a:p>
            <a:pPr>
              <a:lnSpc>
                <a:spcPct val="115000"/>
              </a:lnSpc>
              <a:buNone/>
            </a:pPr>
            <a:r>
              <a:rPr sz="1000">
                <a:solidFill>
                  <a:srgbClr val="141A33"/>
                </a:solidFill>
                <a:latin typeface="Open Sans"/>
                <a:ea typeface="Open Sans"/>
                <a:cs typeface="Open Sans"/>
              </a:rPr>
              <a:t>49,990 uninvolved people are scanned to find 10. Is that fair? What if the AI is wrong—you now know it can be?</a:t>
            </a:r>
          </a:p>
          <a:p>
            <a:pPr>
              <a:lnSpc>
                <a:spcPct val="115000"/>
              </a:lnSpc>
              <a:buNone/>
            </a:pPr>
            <a:endParaRPr sz="1000">
              <a:solidFill>
                <a:srgbClr val="141A33"/>
              </a:solidFill>
              <a:latin typeface="Open Sans"/>
              <a:ea typeface="Open Sans"/>
              <a:cs typeface="Open Sans"/>
            </a:endParaRPr>
          </a:p>
        </p:txBody>
      </p:sp>
      <p:sp>
        <p:nvSpPr>
          <p:cNvPr id="13" name="TextBox 4">
            <a:extLst>
              <a:ext uri="{FF2B5EF4-FFF2-40B4-BE49-F238E27FC236}">
                <a16:creationId xmlns:a16="http://schemas.microsoft.com/office/drawing/2014/main" id="{EF6DD6DA-AE6C-2651-E83C-C51A80D6BF11}"/>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THE STADIUM</a:t>
            </a:r>
          </a:p>
        </p:txBody>
      </p:sp>
      <p:pic>
        <p:nvPicPr>
          <p:cNvPr id="23" name="Grafik 18"/>
          <p:cNvPicPr>
            <a:picLocks noChangeAspect="1"/>
          </p:cNvPicPr>
          <p:nvPr/>
        </p:nvPicPr>
        <p:blipFill>
          <a:blip r:embed="rId5"/>
          <a:stretch>
            <a:fillRect/>
          </a:stretch>
        </p:blipFill>
        <p:spPr>
          <a:xfrm>
            <a:off x="341153" y="2705141"/>
            <a:ext cx="302090" cy="302090"/>
          </a:xfrm>
          <a:prstGeom prst="rect">
            <a:avLst/>
          </a:prstGeom>
        </p:spPr>
      </p:pic>
      <p:sp>
        <p:nvSpPr>
          <p:cNvPr id="5" name="Rectangle 2">
            <a:extLst>
              <a:ext uri="{FF2B5EF4-FFF2-40B4-BE49-F238E27FC236}">
                <a16:creationId xmlns:a16="http://schemas.microsoft.com/office/drawing/2014/main" id="{61E4B5BE-E0E3-0A8B-A12A-29FE6981DCD6}"/>
              </a:ext>
            </a:extLst>
          </p:cNvPr>
          <p:cNvSpPr>
            <a:spLocks noGrp="1"/>
          </p:cNvSpPr>
          <p:nvPr/>
        </p:nvSpPr>
        <p:spPr>
          <a:xfrm>
            <a:off x="0" y="0"/>
            <a:ext cx="5328000" cy="72000"/>
          </a:xfrm>
          <a:prstGeom prst="rect">
            <a:avLst/>
          </a:prstGeom>
          <a:solidFill>
            <a:srgbClr val="C3268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feld 6">
            <a:extLst>
              <a:ext uri="{FF2B5EF4-FFF2-40B4-BE49-F238E27FC236}">
                <a16:creationId xmlns:a16="http://schemas.microsoft.com/office/drawing/2014/main" id="{249097FF-D990-5F42-7AF0-634103F1BD1B}"/>
              </a:ext>
            </a:extLst>
          </p:cNvPr>
          <p:cNvSpPr>
            <a:spLocks noGrp="1"/>
          </p:cNvSpPr>
          <p:nvPr/>
        </p:nvSpPr>
        <p:spPr>
          <a:xfrm>
            <a:off x="643243" y="2624157"/>
            <a:ext cx="4343254" cy="441960"/>
          </a:xfrm>
          <a:prstGeom prst="rect">
            <a:avLst/>
          </a:prstGeom>
          <a:noFill/>
        </p:spPr>
        <p:txBody>
          <a:bodyPr wrap="square">
            <a:spAutoFit/>
          </a:bodyPr>
          <a:lstStyle/>
          <a:p>
            <a:pPr>
              <a:lnSpc>
                <a:spcPct val="115000"/>
              </a:lnSpc>
              <a:buNone/>
            </a:pPr>
            <a:r>
              <a:rPr sz="1000">
                <a:solidFill>
                  <a:srgbClr val="8992AB"/>
                </a:solidFill>
                <a:latin typeface="Open Sans"/>
                <a:ea typeface="Open Sans"/>
                <a:cs typeface="Open Sans"/>
              </a:rPr>
              <a:t>Hint: </a:t>
            </a:r>
            <a:br/>
            <a:r>
              <a:rPr sz="1000">
                <a:solidFill>
                  <a:srgbClr val="8992AB"/>
                </a:solidFill>
                <a:latin typeface="Open Sans"/>
                <a:ea typeface="Open Sans"/>
                <a:cs typeface="Open Sans"/>
              </a:rPr>
              <a:t>Today, you also trained objects—and possibly faces—yourselves.</a:t>
            </a:r>
          </a:p>
        </p:txBody>
      </p:sp>
    </p:spTree>
    <p:extLst>
      <p:ext uri="{BB962C8B-B14F-4D97-AF65-F5344CB8AC3E}">
        <p14:creationId xmlns:p14="http://schemas.microsoft.com/office/powerpoint/2010/main" val="356638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
          <p:cNvPicPr>
            <a:picLocks noChangeAspect="1"/>
          </p:cNvPicPr>
          <p:nvPr/>
        </p:nvPicPr>
        <p:blipFill>
          <a:blip r:embed="rId3"/>
          <a:stretch>
            <a:fillRect/>
          </a:stretch>
        </p:blipFill>
        <p:spPr>
          <a:xfrm>
            <a:off x="0" y="0"/>
            <a:ext cx="5328000" cy="3780000"/>
          </a:xfrm>
          <a:prstGeom prst="rect">
            <a:avLst/>
          </a:prstGeom>
        </p:spPr>
      </p:pic>
      <p:pic>
        <p:nvPicPr>
          <p:cNvPr id="16" name="Grafik 11"/>
          <p:cNvPicPr>
            <a:picLocks noChangeAspect="1"/>
          </p:cNvPicPr>
          <p:nvPr/>
        </p:nvPicPr>
        <p:blipFill>
          <a:blip r:embed="rId4">
            <a:alphaModFix amt="10000"/>
          </a:blip>
          <a:srcRect l="32601" t="18817" r="38310" b="14339"/>
          <a:stretch>
            <a:fillRect/>
          </a:stretch>
        </p:blipFill>
        <p:spPr>
          <a:xfrm>
            <a:off x="0" y="-572599"/>
            <a:ext cx="5327650" cy="4757382"/>
          </a:xfrm>
          <a:prstGeom prst="rect">
            <a:avLst/>
          </a:prstGeom>
        </p:spPr>
      </p:pic>
      <p:sp>
        <p:nvSpPr>
          <p:cNvPr id="9" name="Abgerundetes Rechteck 8">
            <a:extLst>
              <a:ext uri="{FF2B5EF4-FFF2-40B4-BE49-F238E27FC236}">
                <a16:creationId xmlns:a16="http://schemas.microsoft.com/office/drawing/2014/main" id="{B261DEAC-E7DD-B2F6-8DF1-BEAEFE1DA551}"/>
              </a:ext>
            </a:extLst>
          </p:cNvPr>
          <p:cNvSpPr>
            <a:spLocks noGrp="1"/>
          </p:cNvSpPr>
          <p:nvPr/>
        </p:nvSpPr>
        <p:spPr>
          <a:xfrm>
            <a:off x="2303813" y="1048454"/>
            <a:ext cx="794394" cy="777156"/>
          </a:xfrm>
          <a:prstGeom prst="roundRect">
            <a:avLst/>
          </a:prstGeom>
          <a:solidFill>
            <a:srgbClr val="523E97">
              <a:alpha val="19608"/>
            </a:srgbClr>
          </a:solidFill>
          <a:ln>
            <a:solidFill>
              <a:srgbClr val="7C4D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351335F-A131-4099-BD76-10F1CE62974A}"/>
              </a:ext>
            </a:extLst>
          </p:cNvPr>
          <p:cNvSpPr>
            <a:spLocks noGrp="1"/>
          </p:cNvSpPr>
          <p:nvPr/>
        </p:nvSpPr>
        <p:spPr>
          <a:xfrm>
            <a:off x="332870" y="720000"/>
            <a:ext cx="4752000" cy="113429"/>
          </a:xfrm>
          <a:prstGeom prst="rect">
            <a:avLst/>
          </a:prstGeom>
          <a:noFill/>
        </p:spPr>
        <p:txBody>
          <a:bodyPr wrap="square" lIns="0" tIns="0" rIns="0" bIns="0">
            <a:spAutoFit/>
          </a:bodyPr>
          <a:lstStyle/>
          <a:p>
            <a:pPr algn="ctr">
              <a:lnSpc>
                <a:spcPct val="100000"/>
              </a:lnSpc>
              <a:buNone/>
            </a:pPr>
            <a:r>
              <a:rPr sz="737" b="1">
                <a:solidFill>
                  <a:srgbClr val="7C4DFF"/>
                </a:solidFill>
                <a:latin typeface="Helvetica Neue"/>
                <a:ea typeface="Helvetica Neue"/>
                <a:cs typeface="Helvetica Neue"/>
              </a:rPr>
              <a:t>DISCUSSION CARD</a:t>
            </a:r>
          </a:p>
        </p:txBody>
      </p:sp>
      <p:pic>
        <p:nvPicPr>
          <p:cNvPr id="19" name="Picture 3"/>
          <p:cNvPicPr>
            <a:picLocks noChangeAspect="1"/>
          </p:cNvPicPr>
          <p:nvPr/>
        </p:nvPicPr>
        <p:blipFill>
          <a:blip r:embed="rId5"/>
          <a:stretch>
            <a:fillRect/>
          </a:stretch>
        </p:blipFill>
        <p:spPr>
          <a:xfrm>
            <a:off x="2436365" y="1207897"/>
            <a:ext cx="545010" cy="438316"/>
          </a:xfrm>
          <a:prstGeom prst="rect">
            <a:avLst/>
          </a:prstGeom>
        </p:spPr>
      </p:pic>
      <p:sp>
        <p:nvSpPr>
          <p:cNvPr id="5" name="TextBox 4">
            <a:extLst>
              <a:ext uri="{FF2B5EF4-FFF2-40B4-BE49-F238E27FC236}">
                <a16:creationId xmlns:a16="http://schemas.microsoft.com/office/drawing/2014/main" id="{BD56C95E-6CD6-4E7B-8940-1190D863FDBB}"/>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lnSpc>
                <a:spcPct val="100000"/>
              </a:lnSpc>
              <a:buNone/>
            </a:pPr>
            <a:r>
              <a:rPr sz="2400" b="1">
                <a:solidFill>
                  <a:srgbClr val="E6EDF3"/>
                </a:solidFill>
                <a:latin typeface="Open Sans Condensed"/>
                <a:ea typeface="Open Sans Condensed"/>
                <a:cs typeface="Open Sans Condensed"/>
              </a:rPr>
              <a:t>THE SCHOOL CAMERA</a:t>
            </a:r>
          </a:p>
        </p:txBody>
      </p:sp>
      <p:sp>
        <p:nvSpPr>
          <p:cNvPr id="6" name="TextBox 5">
            <a:extLst>
              <a:ext uri="{FF2B5EF4-FFF2-40B4-BE49-F238E27FC236}">
                <a16:creationId xmlns:a16="http://schemas.microsoft.com/office/drawing/2014/main" id="{BAE246B5-2CD9-4016-9E6B-44F60E67AE49}"/>
              </a:ext>
            </a:extLst>
          </p:cNvPr>
          <p:cNvSpPr>
            <a:spLocks noGrp="1"/>
          </p:cNvSpPr>
          <p:nvPr/>
        </p:nvSpPr>
        <p:spPr>
          <a:xfrm>
            <a:off x="288000" y="2574000"/>
            <a:ext cx="4752000" cy="216000"/>
          </a:xfrm>
          <a:prstGeom prst="rect">
            <a:avLst/>
          </a:prstGeom>
          <a:noFill/>
        </p:spPr>
        <p:txBody>
          <a:bodyPr wrap="square" lIns="0" tIns="0" rIns="0" bIns="0">
            <a:spAutoFit/>
          </a:bodyPr>
          <a:lstStyle/>
          <a:p>
            <a:pPr algn="ctr">
              <a:lnSpc>
                <a:spcPct val="100000"/>
              </a:lnSpc>
              <a:buNone/>
            </a:pPr>
            <a:r>
              <a:rPr sz="1020" b="1">
                <a:solidFill>
                  <a:srgbClr val="7C4DFF"/>
                </a:solidFill>
                <a:latin typeface="Helvetica Neue"/>
                <a:ea typeface="Helvetica Neue"/>
                <a:cs typeface="Helvetica Neue"/>
              </a:rPr>
              <a:t>Privacy &amp; AI</a:t>
            </a:r>
          </a:p>
        </p:txBody>
      </p:sp>
      <p:pic>
        <p:nvPicPr>
          <p:cNvPr id="22" name="Picture 6"/>
          <p:cNvPicPr>
            <a:picLocks noChangeAspect="1"/>
          </p:cNvPicPr>
          <p:nvPr/>
        </p:nvPicPr>
        <p:blipFill>
          <a:blip r:embed="rId6"/>
          <a:stretch>
            <a:fillRect/>
          </a:stretch>
        </p:blipFill>
        <p:spPr>
          <a:xfrm>
            <a:off x="1840455" y="3348000"/>
            <a:ext cx="706415" cy="180000"/>
          </a:xfrm>
          <a:prstGeom prst="rect">
            <a:avLst/>
          </a:prstGeom>
        </p:spPr>
      </p:pic>
      <p:pic>
        <p:nvPicPr>
          <p:cNvPr id="23" name="Picture 7"/>
          <p:cNvPicPr>
            <a:picLocks noChangeAspect="1"/>
          </p:cNvPicPr>
          <p:nvPr/>
        </p:nvPicPr>
        <p:blipFill>
          <a:blip r:embed="rId7"/>
          <a:stretch>
            <a:fillRect/>
          </a:stretch>
        </p:blipFill>
        <p:spPr>
          <a:xfrm>
            <a:off x="2708870" y="3348000"/>
            <a:ext cx="778674" cy="180000"/>
          </a:xfrm>
          <a:prstGeom prst="rect">
            <a:avLst/>
          </a:prstGeom>
        </p:spPr>
      </p:pic>
    </p:spTree>
    <p:extLst>
      <p:ext uri="{BB962C8B-B14F-4D97-AF65-F5344CB8AC3E}">
        <p14:creationId xmlns:p14="http://schemas.microsoft.com/office/powerpoint/2010/main" val="137512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AC753CA-3BFF-8A6D-C9C8-9E61962E4C76}"/>
              </a:ext>
            </a:extLst>
          </p:cNvPr>
          <p:cNvSpPr>
            <a:spLocks noGrp="1"/>
          </p:cNvSpPr>
          <p:nvPr/>
        </p:nvSpPr>
        <p:spPr>
          <a:xfrm>
            <a:off x="0" y="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1" name="Picture 9"/>
          <p:cNvPicPr>
            <a:picLocks noChangeAspect="1"/>
          </p:cNvPicPr>
          <p:nvPr/>
        </p:nvPicPr>
        <p:blipFill>
          <a:blip r:embed="rId3"/>
          <a:stretch>
            <a:fillRect/>
          </a:stretch>
        </p:blipFill>
        <p:spPr>
          <a:xfrm>
            <a:off x="288000" y="3438000"/>
            <a:ext cx="565132" cy="144000"/>
          </a:xfrm>
          <a:prstGeom prst="rect">
            <a:avLst/>
          </a:prstGeom>
        </p:spPr>
      </p:pic>
      <p:pic>
        <p:nvPicPr>
          <p:cNvPr id="22" name="Picture 10"/>
          <p:cNvPicPr>
            <a:picLocks noChangeAspect="1"/>
          </p:cNvPicPr>
          <p:nvPr/>
        </p:nvPicPr>
        <p:blipFill>
          <a:blip r:embed="rId4"/>
          <a:stretch>
            <a:fillRect/>
          </a:stretch>
        </p:blipFill>
        <p:spPr>
          <a:xfrm>
            <a:off x="961132" y="3438000"/>
            <a:ext cx="622939" cy="144000"/>
          </a:xfrm>
          <a:prstGeom prst="rect">
            <a:avLst/>
          </a:prstGeom>
        </p:spPr>
      </p:pic>
      <p:sp>
        <p:nvSpPr>
          <p:cNvPr id="12" name="TextBox 11">
            <a:extLst>
              <a:ext uri="{FF2B5EF4-FFF2-40B4-BE49-F238E27FC236}">
                <a16:creationId xmlns:a16="http://schemas.microsoft.com/office/drawing/2014/main" id="{D31F037F-EAC9-73B0-2E4B-7D457787DE9E}"/>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
        <p:nvSpPr>
          <p:cNvPr id="4" name="TextBox 6">
            <a:extLst>
              <a:ext uri="{FF2B5EF4-FFF2-40B4-BE49-F238E27FC236}">
                <a16:creationId xmlns:a16="http://schemas.microsoft.com/office/drawing/2014/main" id="{B8B33230-AD25-0C8B-AA4F-E52836ACD52B}"/>
              </a:ext>
            </a:extLst>
          </p:cNvPr>
          <p:cNvSpPr>
            <a:spLocks noGrp="1"/>
          </p:cNvSpPr>
          <p:nvPr/>
        </p:nvSpPr>
        <p:spPr>
          <a:xfrm>
            <a:off x="288000" y="819219"/>
            <a:ext cx="4752000" cy="1227644"/>
          </a:xfrm>
          <a:prstGeom prst="rect">
            <a:avLst/>
          </a:prstGeom>
          <a:noFill/>
        </p:spPr>
        <p:txBody>
          <a:bodyPr wrap="square" lIns="0" tIns="0" rIns="0" bIns="0">
            <a:spAutoFit/>
          </a:bodyPr>
          <a:lstStyle/>
          <a:p>
            <a:pPr>
              <a:lnSpc>
                <a:spcPct val="115000"/>
              </a:lnSpc>
              <a:buNone/>
            </a:pPr>
            <a:r>
              <a:rPr sz="1000">
                <a:solidFill>
                  <a:srgbClr val="141A33"/>
                </a:solidFill>
                <a:latin typeface="Open Sans"/>
                <a:ea typeface="Open Sans"/>
                <a:cs typeface="Open Sans"/>
              </a:rPr>
              <a:t>Your school is considering AI cameras that flag “suspicious behaviour”—fights or vandalism. The school says nothing is stored; the system only raises an alert.</a:t>
            </a:r>
          </a:p>
          <a:p>
            <a:pPr>
              <a:lnSpc>
                <a:spcPct val="115000"/>
              </a:lnSpc>
              <a:buNone/>
            </a:pPr>
            <a:endParaRPr sz="1000">
              <a:solidFill>
                <a:srgbClr val="141A33"/>
              </a:solidFill>
              <a:latin typeface="Open Sans"/>
              <a:ea typeface="Open Sans"/>
              <a:cs typeface="Open Sans"/>
            </a:endParaRPr>
          </a:p>
          <a:p>
            <a:pPr>
              <a:lnSpc>
                <a:spcPct val="115000"/>
              </a:lnSpc>
              <a:buNone/>
            </a:pPr>
            <a:r>
              <a:rPr sz="1000">
                <a:solidFill>
                  <a:srgbClr val="7C4DFF"/>
                </a:solidFill>
                <a:latin typeface="Open Sans"/>
                <a:ea typeface="Open Sans"/>
                <a:cs typeface="Open Sans"/>
              </a:rPr>
              <a:t>DISCUSS</a:t>
            </a:r>
          </a:p>
          <a:p>
            <a:pPr>
              <a:lnSpc>
                <a:spcPct val="115000"/>
              </a:lnSpc>
              <a:buNone/>
            </a:pPr>
            <a:r>
              <a:rPr sz="1000">
                <a:solidFill>
                  <a:srgbClr val="141A33"/>
                </a:solidFill>
                <a:latin typeface="Open Sans"/>
                <a:ea typeface="Open Sans"/>
                <a:cs typeface="Open Sans"/>
              </a:rPr>
              <a:t>Would you feel safer—or watched? Does a camera change how you behave, even if it “stores nothing”?</a:t>
            </a:r>
          </a:p>
        </p:txBody>
      </p:sp>
      <p:sp>
        <p:nvSpPr>
          <p:cNvPr id="13" name="TextBox 4">
            <a:extLst>
              <a:ext uri="{FF2B5EF4-FFF2-40B4-BE49-F238E27FC236}">
                <a16:creationId xmlns:a16="http://schemas.microsoft.com/office/drawing/2014/main" id="{1C7F377C-219F-8116-D50C-CE0DB65F4FA7}"/>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THE SCHOOL CAMERA</a:t>
            </a:r>
          </a:p>
        </p:txBody>
      </p:sp>
      <p:sp>
        <p:nvSpPr>
          <p:cNvPr id="3" name="Rectangle 2">
            <a:extLst>
              <a:ext uri="{FF2B5EF4-FFF2-40B4-BE49-F238E27FC236}">
                <a16:creationId xmlns:a16="http://schemas.microsoft.com/office/drawing/2014/main" id="{B175A42A-1378-5F38-1B1D-560F22B89A0D}"/>
              </a:ext>
            </a:extLst>
          </p:cNvPr>
          <p:cNvSpPr>
            <a:spLocks noGrp="1"/>
          </p:cNvSpPr>
          <p:nvPr/>
        </p:nvSpPr>
        <p:spPr>
          <a:xfrm>
            <a:off x="-350" y="0"/>
            <a:ext cx="5328000" cy="720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7" name="Grafik 14"/>
          <p:cNvPicPr>
            <a:picLocks noChangeAspect="1"/>
          </p:cNvPicPr>
          <p:nvPr/>
        </p:nvPicPr>
        <p:blipFill>
          <a:blip r:embed="rId5"/>
          <a:stretch>
            <a:fillRect/>
          </a:stretch>
        </p:blipFill>
        <p:spPr>
          <a:xfrm>
            <a:off x="341153" y="2705008"/>
            <a:ext cx="302090" cy="302090"/>
          </a:xfrm>
          <a:prstGeom prst="rect">
            <a:avLst/>
          </a:prstGeom>
        </p:spPr>
      </p:pic>
      <p:sp>
        <p:nvSpPr>
          <p:cNvPr id="16" name="Textfeld 15">
            <a:extLst>
              <a:ext uri="{FF2B5EF4-FFF2-40B4-BE49-F238E27FC236}">
                <a16:creationId xmlns:a16="http://schemas.microsoft.com/office/drawing/2014/main" id="{2D952256-AA9F-7F15-6E52-2BF1A006BE8F}"/>
              </a:ext>
            </a:extLst>
          </p:cNvPr>
          <p:cNvSpPr>
            <a:spLocks noGrp="1"/>
          </p:cNvSpPr>
          <p:nvPr/>
        </p:nvSpPr>
        <p:spPr>
          <a:xfrm>
            <a:off x="643243" y="2624024"/>
            <a:ext cx="4343254" cy="441960"/>
          </a:xfrm>
          <a:prstGeom prst="rect">
            <a:avLst/>
          </a:prstGeom>
          <a:noFill/>
        </p:spPr>
        <p:txBody>
          <a:bodyPr wrap="square">
            <a:spAutoFit/>
          </a:bodyPr>
          <a:lstStyle/>
          <a:p>
            <a:pPr>
              <a:lnSpc>
                <a:spcPct val="115000"/>
              </a:lnSpc>
              <a:buNone/>
            </a:pPr>
            <a:r>
              <a:rPr sz="1000">
                <a:solidFill>
                  <a:srgbClr val="8992AB"/>
                </a:solidFill>
                <a:latin typeface="Open Sans"/>
                <a:ea typeface="Open Sans"/>
                <a:cs typeface="Open Sans"/>
              </a:rPr>
              <a:t>Hint:
Think back to the data trail station and how it worked.</a:t>
            </a:r>
          </a:p>
        </p:txBody>
      </p:sp>
    </p:spTree>
    <p:extLst>
      <p:ext uri="{BB962C8B-B14F-4D97-AF65-F5344CB8AC3E}">
        <p14:creationId xmlns:p14="http://schemas.microsoft.com/office/powerpoint/2010/main" val="3632294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
          <p:cNvPicPr>
            <a:picLocks noChangeAspect="1"/>
          </p:cNvPicPr>
          <p:nvPr/>
        </p:nvPicPr>
        <p:blipFill>
          <a:blip r:embed="rId3"/>
          <a:stretch>
            <a:fillRect/>
          </a:stretch>
        </p:blipFill>
        <p:spPr>
          <a:xfrm>
            <a:off x="0" y="0"/>
            <a:ext cx="5328000" cy="3780000"/>
          </a:xfrm>
          <a:prstGeom prst="rect">
            <a:avLst/>
          </a:prstGeom>
        </p:spPr>
      </p:pic>
      <p:pic>
        <p:nvPicPr>
          <p:cNvPr id="16" name="Grafik 10"/>
          <p:cNvPicPr>
            <a:picLocks noChangeAspect="1"/>
          </p:cNvPicPr>
          <p:nvPr/>
        </p:nvPicPr>
        <p:blipFill>
          <a:blip r:embed="rId4">
            <a:alphaModFix amt="10000"/>
          </a:blip>
          <a:srcRect l="32601" t="18817" r="38310" b="14339"/>
          <a:stretch>
            <a:fillRect/>
          </a:stretch>
        </p:blipFill>
        <p:spPr>
          <a:xfrm>
            <a:off x="0" y="-572599"/>
            <a:ext cx="5327650" cy="4757382"/>
          </a:xfrm>
          <a:prstGeom prst="rect">
            <a:avLst/>
          </a:prstGeom>
        </p:spPr>
      </p:pic>
      <p:sp>
        <p:nvSpPr>
          <p:cNvPr id="9" name="Abgerundetes Rechteck 8">
            <a:extLst>
              <a:ext uri="{FF2B5EF4-FFF2-40B4-BE49-F238E27FC236}">
                <a16:creationId xmlns:a16="http://schemas.microsoft.com/office/drawing/2014/main" id="{A5842A96-F750-1951-228B-307032F44AF9}"/>
              </a:ext>
            </a:extLst>
          </p:cNvPr>
          <p:cNvSpPr>
            <a:spLocks noGrp="1"/>
          </p:cNvSpPr>
          <p:nvPr/>
        </p:nvSpPr>
        <p:spPr>
          <a:xfrm>
            <a:off x="2303813" y="1048454"/>
            <a:ext cx="794394" cy="777156"/>
          </a:xfrm>
          <a:prstGeom prst="roundRect">
            <a:avLst/>
          </a:prstGeom>
          <a:solidFill>
            <a:srgbClr val="81376A">
              <a:alpha val="24706"/>
            </a:srgbClr>
          </a:solidFill>
          <a:ln>
            <a:solidFill>
              <a:srgbClr val="C3268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B6D9505-A797-4A46-9A38-A242DEF63CC1}"/>
              </a:ext>
            </a:extLst>
          </p:cNvPr>
          <p:cNvSpPr>
            <a:spLocks noGrp="1"/>
          </p:cNvSpPr>
          <p:nvPr/>
        </p:nvSpPr>
        <p:spPr>
          <a:xfrm>
            <a:off x="332869" y="720000"/>
            <a:ext cx="4752000" cy="113429"/>
          </a:xfrm>
          <a:prstGeom prst="rect">
            <a:avLst/>
          </a:prstGeom>
          <a:noFill/>
        </p:spPr>
        <p:txBody>
          <a:bodyPr wrap="square" lIns="0" tIns="0" rIns="0" bIns="0">
            <a:spAutoFit/>
          </a:bodyPr>
          <a:lstStyle/>
          <a:p>
            <a:pPr algn="ctr">
              <a:lnSpc>
                <a:spcPct val="100000"/>
              </a:lnSpc>
              <a:buNone/>
            </a:pPr>
            <a:r>
              <a:rPr sz="737" b="1">
                <a:solidFill>
                  <a:srgbClr val="E0409F"/>
                </a:solidFill>
                <a:latin typeface="Helvetica Neue"/>
                <a:ea typeface="Helvetica Neue"/>
                <a:cs typeface="Helvetica Neue"/>
              </a:rPr>
              <a:t>DISCUSSION CARD</a:t>
            </a:r>
          </a:p>
        </p:txBody>
      </p:sp>
      <p:pic>
        <p:nvPicPr>
          <p:cNvPr id="19" name="Picture 3"/>
          <p:cNvPicPr>
            <a:picLocks noChangeAspect="1"/>
          </p:cNvPicPr>
          <p:nvPr/>
        </p:nvPicPr>
        <p:blipFill>
          <a:blip r:embed="rId5"/>
          <a:stretch>
            <a:fillRect/>
          </a:stretch>
        </p:blipFill>
        <p:spPr>
          <a:xfrm>
            <a:off x="2553441" y="1149032"/>
            <a:ext cx="310857" cy="576000"/>
          </a:xfrm>
          <a:prstGeom prst="rect">
            <a:avLst/>
          </a:prstGeom>
        </p:spPr>
      </p:pic>
      <p:sp>
        <p:nvSpPr>
          <p:cNvPr id="5" name="TextBox 4">
            <a:extLst>
              <a:ext uri="{FF2B5EF4-FFF2-40B4-BE49-F238E27FC236}">
                <a16:creationId xmlns:a16="http://schemas.microsoft.com/office/drawing/2014/main" id="{36A31055-3830-424F-B85B-B52E736182CE}"/>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lnSpc>
                <a:spcPct val="100000"/>
              </a:lnSpc>
              <a:buNone/>
            </a:pPr>
            <a:r>
              <a:rPr sz="2400" b="1">
                <a:solidFill>
                  <a:srgbClr val="E6EDF3"/>
                </a:solidFill>
                <a:latin typeface="Open Sans Condensed"/>
                <a:ea typeface="Open Sans Condensed"/>
                <a:cs typeface="Open Sans Condensed"/>
              </a:rPr>
              <a:t>THE FILTER</a:t>
            </a:r>
          </a:p>
        </p:txBody>
      </p:sp>
      <p:sp>
        <p:nvSpPr>
          <p:cNvPr id="6" name="TextBox 5">
            <a:extLst>
              <a:ext uri="{FF2B5EF4-FFF2-40B4-BE49-F238E27FC236}">
                <a16:creationId xmlns:a16="http://schemas.microsoft.com/office/drawing/2014/main" id="{1E4E4892-8CE2-49F8-9EC0-0ABD450010B1}"/>
              </a:ext>
            </a:extLst>
          </p:cNvPr>
          <p:cNvSpPr>
            <a:spLocks noGrp="1"/>
          </p:cNvSpPr>
          <p:nvPr/>
        </p:nvSpPr>
        <p:spPr>
          <a:xfrm>
            <a:off x="288000" y="2574000"/>
            <a:ext cx="4752000" cy="216000"/>
          </a:xfrm>
          <a:prstGeom prst="rect">
            <a:avLst/>
          </a:prstGeom>
          <a:noFill/>
        </p:spPr>
        <p:txBody>
          <a:bodyPr wrap="square" lIns="0" tIns="0" rIns="0" bIns="0">
            <a:spAutoFit/>
          </a:bodyPr>
          <a:lstStyle/>
          <a:p>
            <a:pPr algn="ctr">
              <a:lnSpc>
                <a:spcPct val="100000"/>
              </a:lnSpc>
              <a:buNone/>
            </a:pPr>
            <a:r>
              <a:rPr sz="1020" b="1">
                <a:solidFill>
                  <a:srgbClr val="E0409F"/>
                </a:solidFill>
                <a:latin typeface="Helvetica Neue"/>
                <a:ea typeface="Helvetica Neue"/>
                <a:cs typeface="Helvetica Neue"/>
              </a:rPr>
              <a:t>Privacy &amp; AI</a:t>
            </a:r>
          </a:p>
        </p:txBody>
      </p:sp>
      <p:pic>
        <p:nvPicPr>
          <p:cNvPr id="22" name="Picture 6"/>
          <p:cNvPicPr>
            <a:picLocks noChangeAspect="1"/>
          </p:cNvPicPr>
          <p:nvPr/>
        </p:nvPicPr>
        <p:blipFill>
          <a:blip r:embed="rId6"/>
          <a:stretch>
            <a:fillRect/>
          </a:stretch>
        </p:blipFill>
        <p:spPr>
          <a:xfrm>
            <a:off x="1840455" y="3348000"/>
            <a:ext cx="706415" cy="180000"/>
          </a:xfrm>
          <a:prstGeom prst="rect">
            <a:avLst/>
          </a:prstGeom>
        </p:spPr>
      </p:pic>
      <p:pic>
        <p:nvPicPr>
          <p:cNvPr id="23" name="Picture 7"/>
          <p:cNvPicPr>
            <a:picLocks noChangeAspect="1"/>
          </p:cNvPicPr>
          <p:nvPr/>
        </p:nvPicPr>
        <p:blipFill>
          <a:blip r:embed="rId7"/>
          <a:stretch>
            <a:fillRect/>
          </a:stretch>
        </p:blipFill>
        <p:spPr>
          <a:xfrm>
            <a:off x="2708870" y="3348000"/>
            <a:ext cx="778674" cy="180000"/>
          </a:xfrm>
          <a:prstGeom prst="rect">
            <a:avLst/>
          </a:prstGeom>
        </p:spPr>
      </p:pic>
    </p:spTree>
    <p:extLst>
      <p:ext uri="{BB962C8B-B14F-4D97-AF65-F5344CB8AC3E}">
        <p14:creationId xmlns:p14="http://schemas.microsoft.com/office/powerpoint/2010/main" val="1084451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BB97B3-1973-1EC9-B233-18D36040ED85}"/>
              </a:ext>
            </a:extLst>
          </p:cNvPr>
          <p:cNvSpPr>
            <a:spLocks noGrp="1"/>
          </p:cNvSpPr>
          <p:nvPr/>
        </p:nvSpPr>
        <p:spPr>
          <a:xfrm>
            <a:off x="0" y="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Picture 9"/>
          <p:cNvPicPr>
            <a:picLocks noChangeAspect="1"/>
          </p:cNvPicPr>
          <p:nvPr/>
        </p:nvPicPr>
        <p:blipFill>
          <a:blip r:embed="rId3"/>
          <a:stretch>
            <a:fillRect/>
          </a:stretch>
        </p:blipFill>
        <p:spPr>
          <a:xfrm>
            <a:off x="288000" y="3438000"/>
            <a:ext cx="565132" cy="144000"/>
          </a:xfrm>
          <a:prstGeom prst="rect">
            <a:avLst/>
          </a:prstGeom>
        </p:spPr>
      </p:pic>
      <p:pic>
        <p:nvPicPr>
          <p:cNvPr id="19" name="Picture 10"/>
          <p:cNvPicPr>
            <a:picLocks noChangeAspect="1"/>
          </p:cNvPicPr>
          <p:nvPr/>
        </p:nvPicPr>
        <p:blipFill>
          <a:blip r:embed="rId4"/>
          <a:stretch>
            <a:fillRect/>
          </a:stretch>
        </p:blipFill>
        <p:spPr>
          <a:xfrm>
            <a:off x="961132" y="3438000"/>
            <a:ext cx="622939" cy="144000"/>
          </a:xfrm>
          <a:prstGeom prst="rect">
            <a:avLst/>
          </a:prstGeom>
        </p:spPr>
      </p:pic>
      <p:sp>
        <p:nvSpPr>
          <p:cNvPr id="12" name="TextBox 11">
            <a:extLst>
              <a:ext uri="{FF2B5EF4-FFF2-40B4-BE49-F238E27FC236}">
                <a16:creationId xmlns:a16="http://schemas.microsoft.com/office/drawing/2014/main" id="{25165497-1896-BD55-56A3-D0EF5361CD4C}"/>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
        <p:nvSpPr>
          <p:cNvPr id="4" name="TextBox 6">
            <a:extLst>
              <a:ext uri="{FF2B5EF4-FFF2-40B4-BE49-F238E27FC236}">
                <a16:creationId xmlns:a16="http://schemas.microsoft.com/office/drawing/2014/main" id="{F72B4997-A7F6-2241-460B-7414E8430FE9}"/>
              </a:ext>
            </a:extLst>
          </p:cNvPr>
          <p:cNvSpPr>
            <a:spLocks noGrp="1"/>
          </p:cNvSpPr>
          <p:nvPr/>
        </p:nvSpPr>
        <p:spPr>
          <a:xfrm>
            <a:off x="288000" y="819219"/>
            <a:ext cx="4752000" cy="1404615"/>
          </a:xfrm>
          <a:prstGeom prst="rect">
            <a:avLst/>
          </a:prstGeom>
          <a:noFill/>
        </p:spPr>
        <p:txBody>
          <a:bodyPr wrap="square" lIns="0" tIns="0" rIns="0" bIns="0">
            <a:spAutoFit/>
          </a:bodyPr>
          <a:lstStyle/>
          <a:p>
            <a:pPr>
              <a:buNone/>
            </a:pPr>
            <a:r>
              <a:rPr sz="1000">
                <a:solidFill>
                  <a:srgbClr val="141A33"/>
                </a:solidFill>
                <a:latin typeface="Open Sans"/>
                <a:ea typeface="Open Sans"/>
                <a:cs typeface="Open Sans"/>
              </a:rPr>
              <a:t>A photo app offers fun AI filters—for free. The fine print says that all uploaded faces may be used to train new AI models.</a:t>
            </a:r>
          </a:p>
          <a:p>
            <a:endParaRPr sz="1000">
              <a:solidFill>
                <a:srgbClr val="141A33"/>
              </a:solidFill>
              <a:latin typeface="Open Sans"/>
              <a:ea typeface="Open Sans"/>
              <a:cs typeface="Open Sans"/>
            </a:endParaRPr>
          </a:p>
          <a:p>
            <a:pPr>
              <a:buNone/>
            </a:pPr>
            <a:r>
              <a:rPr sz="1000">
                <a:solidFill>
                  <a:srgbClr val="C32683"/>
                </a:solidFill>
                <a:latin typeface="Open Sans"/>
                <a:ea typeface="Open Sans"/>
                <a:cs typeface="Open Sans"/>
              </a:rPr>
              <a:t>DISCUSS</a:t>
            </a:r>
          </a:p>
          <a:p>
            <a:pPr>
              <a:buNone/>
            </a:pPr>
            <a:r>
              <a:rPr sz="1000">
                <a:solidFill>
                  <a:srgbClr val="141A33"/>
                </a:solidFill>
                <a:latin typeface="Open Sans"/>
                <a:ea typeface="Open Sans"/>
                <a:cs typeface="Open Sans"/>
              </a:rPr>
              <a:t>Today, you trained an AI yourselves—with data you could delete afterwards. Why do most apps not offer that? What would be a fair exchange for a free filter?</a:t>
            </a:r>
          </a:p>
        </p:txBody>
      </p:sp>
      <p:sp>
        <p:nvSpPr>
          <p:cNvPr id="13" name="TextBox 4">
            <a:extLst>
              <a:ext uri="{FF2B5EF4-FFF2-40B4-BE49-F238E27FC236}">
                <a16:creationId xmlns:a16="http://schemas.microsoft.com/office/drawing/2014/main" id="{F83E5446-527D-77F9-2728-2F24DE395751}"/>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THE FILTER</a:t>
            </a:r>
          </a:p>
        </p:txBody>
      </p:sp>
      <p:sp>
        <p:nvSpPr>
          <p:cNvPr id="5" name="Rectangle 2">
            <a:extLst>
              <a:ext uri="{FF2B5EF4-FFF2-40B4-BE49-F238E27FC236}">
                <a16:creationId xmlns:a16="http://schemas.microsoft.com/office/drawing/2014/main" id="{57D5A1D8-27C0-7322-4E7B-9CBE4F81BFE3}"/>
              </a:ext>
            </a:extLst>
          </p:cNvPr>
          <p:cNvSpPr>
            <a:spLocks noGrp="1"/>
          </p:cNvSpPr>
          <p:nvPr/>
        </p:nvSpPr>
        <p:spPr>
          <a:xfrm>
            <a:off x="-350" y="0"/>
            <a:ext cx="5328000" cy="72000"/>
          </a:xfrm>
          <a:prstGeom prst="rect">
            <a:avLst/>
          </a:prstGeom>
          <a:solidFill>
            <a:srgbClr val="E0409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4" name="Grafik 6"/>
          <p:cNvPicPr>
            <a:picLocks noChangeAspect="1"/>
          </p:cNvPicPr>
          <p:nvPr/>
        </p:nvPicPr>
        <p:blipFill>
          <a:blip r:embed="rId5"/>
          <a:stretch>
            <a:fillRect/>
          </a:stretch>
        </p:blipFill>
        <p:spPr>
          <a:xfrm>
            <a:off x="341153" y="2705008"/>
            <a:ext cx="302090" cy="302090"/>
          </a:xfrm>
          <a:prstGeom prst="rect">
            <a:avLst/>
          </a:prstGeom>
        </p:spPr>
      </p:pic>
      <p:sp>
        <p:nvSpPr>
          <p:cNvPr id="8" name="Textfeld 7">
            <a:extLst>
              <a:ext uri="{FF2B5EF4-FFF2-40B4-BE49-F238E27FC236}">
                <a16:creationId xmlns:a16="http://schemas.microsoft.com/office/drawing/2014/main" id="{A5C11C8D-BEB1-0D14-49DF-93984D30B38A}"/>
              </a:ext>
            </a:extLst>
          </p:cNvPr>
          <p:cNvSpPr>
            <a:spLocks noGrp="1"/>
          </p:cNvSpPr>
          <p:nvPr/>
        </p:nvSpPr>
        <p:spPr>
          <a:xfrm>
            <a:off x="643243" y="2624024"/>
            <a:ext cx="4343254" cy="441960"/>
          </a:xfrm>
          <a:prstGeom prst="rect">
            <a:avLst/>
          </a:prstGeom>
          <a:noFill/>
        </p:spPr>
        <p:txBody>
          <a:bodyPr wrap="square">
            <a:spAutoFit/>
          </a:bodyPr>
          <a:lstStyle/>
          <a:p>
            <a:pPr>
              <a:lnSpc>
                <a:spcPct val="115000"/>
              </a:lnSpc>
              <a:buNone/>
            </a:pPr>
            <a:r>
              <a:rPr sz="1000">
                <a:solidFill>
                  <a:srgbClr val="8992AB"/>
                </a:solidFill>
                <a:latin typeface="Open Sans"/>
                <a:ea typeface="Open Sans"/>
                <a:cs typeface="Open Sans"/>
              </a:rPr>
              <a:t>Hint:</a:t>
            </a:r>
          </a:p>
          <a:p>
            <a:pPr>
              <a:lnSpc>
                <a:spcPct val="115000"/>
              </a:lnSpc>
              <a:buNone/>
            </a:pPr>
            <a:r>
              <a:rPr sz="1000">
                <a:solidFill>
                  <a:srgbClr val="8992AB"/>
                </a:solidFill>
                <a:latin typeface="Open Sans"/>
                <a:ea typeface="Open Sans"/>
                <a:cs typeface="Open Sans"/>
              </a:rPr>
              <a:t>Recall your experience of training the AI with objects.</a:t>
            </a:r>
          </a:p>
        </p:txBody>
      </p:sp>
    </p:spTree>
    <p:extLst>
      <p:ext uri="{BB962C8B-B14F-4D97-AF65-F5344CB8AC3E}">
        <p14:creationId xmlns:p14="http://schemas.microsoft.com/office/powerpoint/2010/main" val="1740718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
          <p:cNvPicPr>
            <a:picLocks noChangeAspect="1"/>
          </p:cNvPicPr>
          <p:nvPr/>
        </p:nvPicPr>
        <p:blipFill>
          <a:blip r:embed="rId3"/>
          <a:stretch>
            <a:fillRect/>
          </a:stretch>
        </p:blipFill>
        <p:spPr>
          <a:xfrm>
            <a:off x="0" y="0"/>
            <a:ext cx="5328000" cy="3780000"/>
          </a:xfrm>
          <a:prstGeom prst="rect">
            <a:avLst/>
          </a:prstGeom>
        </p:spPr>
      </p:pic>
      <p:pic>
        <p:nvPicPr>
          <p:cNvPr id="16" name="Grafik 10"/>
          <p:cNvPicPr>
            <a:picLocks noChangeAspect="1"/>
          </p:cNvPicPr>
          <p:nvPr/>
        </p:nvPicPr>
        <p:blipFill>
          <a:blip r:embed="rId4">
            <a:alphaModFix amt="10000"/>
          </a:blip>
          <a:srcRect l="32601" t="18817" r="38310" b="14339"/>
          <a:stretch>
            <a:fillRect/>
          </a:stretch>
        </p:blipFill>
        <p:spPr>
          <a:xfrm>
            <a:off x="-350" y="-572599"/>
            <a:ext cx="5328000" cy="4757695"/>
          </a:xfrm>
          <a:prstGeom prst="rect">
            <a:avLst/>
          </a:prstGeom>
        </p:spPr>
      </p:pic>
      <p:sp>
        <p:nvSpPr>
          <p:cNvPr id="9" name="Abgerundetes Rechteck 8">
            <a:extLst>
              <a:ext uri="{FF2B5EF4-FFF2-40B4-BE49-F238E27FC236}">
                <a16:creationId xmlns:a16="http://schemas.microsoft.com/office/drawing/2014/main" id="{E737DDE8-2091-56D7-3756-3EE491BD7A5D}"/>
              </a:ext>
            </a:extLst>
          </p:cNvPr>
          <p:cNvSpPr>
            <a:spLocks noGrp="1"/>
          </p:cNvSpPr>
          <p:nvPr/>
        </p:nvSpPr>
        <p:spPr>
          <a:xfrm>
            <a:off x="2303813" y="1048454"/>
            <a:ext cx="794394" cy="777156"/>
          </a:xfrm>
          <a:prstGeom prst="roundRect">
            <a:avLst/>
          </a:prstGeom>
          <a:solidFill>
            <a:srgbClr val="38254E">
              <a:alpha val="26275"/>
            </a:srgbClr>
          </a:solidFill>
          <a:ln>
            <a:solidFill>
              <a:srgbClr val="B67C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9B274EC-42F9-4F70-AAD2-7C3D11BA9B71}"/>
              </a:ext>
            </a:extLst>
          </p:cNvPr>
          <p:cNvSpPr>
            <a:spLocks noGrp="1"/>
          </p:cNvSpPr>
          <p:nvPr/>
        </p:nvSpPr>
        <p:spPr>
          <a:xfrm>
            <a:off x="323239" y="712740"/>
            <a:ext cx="4752000" cy="113429"/>
          </a:xfrm>
          <a:prstGeom prst="rect">
            <a:avLst/>
          </a:prstGeom>
          <a:noFill/>
        </p:spPr>
        <p:txBody>
          <a:bodyPr wrap="square" lIns="0" tIns="0" rIns="0" bIns="0">
            <a:spAutoFit/>
          </a:bodyPr>
          <a:lstStyle/>
          <a:p>
            <a:pPr algn="ctr">
              <a:lnSpc>
                <a:spcPct val="100000"/>
              </a:lnSpc>
              <a:buNone/>
            </a:pPr>
            <a:r>
              <a:rPr sz="737" b="1">
                <a:solidFill>
                  <a:srgbClr val="B57BFF"/>
                </a:solidFill>
                <a:latin typeface="Helvetica Neue"/>
                <a:ea typeface="Helvetica Neue"/>
                <a:cs typeface="Helvetica Neue"/>
              </a:rPr>
              <a:t>DISCUSSION CARD</a:t>
            </a:r>
          </a:p>
        </p:txBody>
      </p:sp>
      <p:pic>
        <p:nvPicPr>
          <p:cNvPr id="19" name="Picture 3"/>
          <p:cNvPicPr>
            <a:picLocks noChangeAspect="1"/>
          </p:cNvPicPr>
          <p:nvPr/>
        </p:nvPicPr>
        <p:blipFill>
          <a:blip r:embed="rId5"/>
          <a:stretch>
            <a:fillRect/>
          </a:stretch>
        </p:blipFill>
        <p:spPr>
          <a:xfrm>
            <a:off x="2420629" y="1136714"/>
            <a:ext cx="560762" cy="576000"/>
          </a:xfrm>
          <a:prstGeom prst="rect">
            <a:avLst/>
          </a:prstGeom>
        </p:spPr>
      </p:pic>
      <p:sp>
        <p:nvSpPr>
          <p:cNvPr id="5" name="TextBox 4">
            <a:extLst>
              <a:ext uri="{FF2B5EF4-FFF2-40B4-BE49-F238E27FC236}">
                <a16:creationId xmlns:a16="http://schemas.microsoft.com/office/drawing/2014/main" id="{69D1D551-E869-4848-A2C3-CA5C93A00BE9}"/>
              </a:ext>
            </a:extLst>
          </p:cNvPr>
          <p:cNvSpPr>
            <a:spLocks noGrp="1"/>
          </p:cNvSpPr>
          <p:nvPr/>
        </p:nvSpPr>
        <p:spPr>
          <a:xfrm>
            <a:off x="288000" y="2016000"/>
            <a:ext cx="4752000" cy="369332"/>
          </a:xfrm>
          <a:prstGeom prst="rect">
            <a:avLst/>
          </a:prstGeom>
          <a:noFill/>
        </p:spPr>
        <p:txBody>
          <a:bodyPr wrap="square" lIns="0" tIns="0" rIns="0" bIns="0">
            <a:spAutoFit/>
          </a:bodyPr>
          <a:lstStyle/>
          <a:p>
            <a:pPr algn="ctr">
              <a:lnSpc>
                <a:spcPct val="100000"/>
              </a:lnSpc>
              <a:buNone/>
            </a:pPr>
            <a:r>
              <a:rPr sz="2400" b="1">
                <a:solidFill>
                  <a:srgbClr val="E6EDF3"/>
                </a:solidFill>
                <a:latin typeface="Open Sans Condensed"/>
                <a:ea typeface="Open Sans Condensed"/>
                <a:cs typeface="Open Sans Condensed"/>
              </a:rPr>
              <a:t>THE SUPERMARKET</a:t>
            </a:r>
          </a:p>
        </p:txBody>
      </p:sp>
      <p:sp>
        <p:nvSpPr>
          <p:cNvPr id="6" name="TextBox 5">
            <a:extLst>
              <a:ext uri="{FF2B5EF4-FFF2-40B4-BE49-F238E27FC236}">
                <a16:creationId xmlns:a16="http://schemas.microsoft.com/office/drawing/2014/main" id="{9EF658DF-8B5A-4310-ACE9-C5642E307CFC}"/>
              </a:ext>
            </a:extLst>
          </p:cNvPr>
          <p:cNvSpPr>
            <a:spLocks noGrp="1"/>
          </p:cNvSpPr>
          <p:nvPr/>
        </p:nvSpPr>
        <p:spPr>
          <a:xfrm>
            <a:off x="288000" y="2574000"/>
            <a:ext cx="4752000" cy="216000"/>
          </a:xfrm>
          <a:prstGeom prst="rect">
            <a:avLst/>
          </a:prstGeom>
          <a:noFill/>
        </p:spPr>
        <p:txBody>
          <a:bodyPr wrap="square" lIns="0" tIns="0" rIns="0" bIns="0">
            <a:spAutoFit/>
          </a:bodyPr>
          <a:lstStyle/>
          <a:p>
            <a:pPr algn="ctr">
              <a:lnSpc>
                <a:spcPct val="100000"/>
              </a:lnSpc>
              <a:buNone/>
            </a:pPr>
            <a:r>
              <a:rPr sz="1020" b="1">
                <a:solidFill>
                  <a:srgbClr val="B57BFF"/>
                </a:solidFill>
                <a:latin typeface="Helvetica Neue"/>
                <a:ea typeface="Helvetica Neue"/>
                <a:cs typeface="Helvetica Neue"/>
              </a:rPr>
              <a:t>Privacy &amp; AI</a:t>
            </a:r>
          </a:p>
        </p:txBody>
      </p:sp>
      <p:pic>
        <p:nvPicPr>
          <p:cNvPr id="22" name="Picture 6"/>
          <p:cNvPicPr>
            <a:picLocks noChangeAspect="1"/>
          </p:cNvPicPr>
          <p:nvPr/>
        </p:nvPicPr>
        <p:blipFill>
          <a:blip r:embed="rId6"/>
          <a:stretch>
            <a:fillRect/>
          </a:stretch>
        </p:blipFill>
        <p:spPr>
          <a:xfrm>
            <a:off x="1840455" y="3348000"/>
            <a:ext cx="706415" cy="180000"/>
          </a:xfrm>
          <a:prstGeom prst="rect">
            <a:avLst/>
          </a:prstGeom>
        </p:spPr>
      </p:pic>
      <p:pic>
        <p:nvPicPr>
          <p:cNvPr id="23" name="Picture 7"/>
          <p:cNvPicPr>
            <a:picLocks noChangeAspect="1"/>
          </p:cNvPicPr>
          <p:nvPr/>
        </p:nvPicPr>
        <p:blipFill>
          <a:blip r:embed="rId7"/>
          <a:stretch>
            <a:fillRect/>
          </a:stretch>
        </p:blipFill>
        <p:spPr>
          <a:xfrm>
            <a:off x="2708870" y="3348000"/>
            <a:ext cx="778674" cy="180000"/>
          </a:xfrm>
          <a:prstGeom prst="rect">
            <a:avLst/>
          </a:prstGeom>
        </p:spPr>
      </p:pic>
    </p:spTree>
    <p:extLst>
      <p:ext uri="{BB962C8B-B14F-4D97-AF65-F5344CB8AC3E}">
        <p14:creationId xmlns:p14="http://schemas.microsoft.com/office/powerpoint/2010/main" val="1069530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60D20E-7BFD-48F7-69A8-A87E6E7672E0}"/>
              </a:ext>
            </a:extLst>
          </p:cNvPr>
          <p:cNvSpPr>
            <a:spLocks noGrp="1"/>
          </p:cNvSpPr>
          <p:nvPr/>
        </p:nvSpPr>
        <p:spPr>
          <a:xfrm>
            <a:off x="0" y="0"/>
            <a:ext cx="5328000" cy="3780000"/>
          </a:xfrm>
          <a:prstGeom prst="rect">
            <a:avLst/>
          </a:prstGeom>
          <a:solidFill>
            <a:srgbClr val="FDFDF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Picture 9"/>
          <p:cNvPicPr>
            <a:picLocks noChangeAspect="1"/>
          </p:cNvPicPr>
          <p:nvPr/>
        </p:nvPicPr>
        <p:blipFill>
          <a:blip r:embed="rId3"/>
          <a:stretch>
            <a:fillRect/>
          </a:stretch>
        </p:blipFill>
        <p:spPr>
          <a:xfrm>
            <a:off x="288000" y="3438000"/>
            <a:ext cx="565132" cy="144000"/>
          </a:xfrm>
          <a:prstGeom prst="rect">
            <a:avLst/>
          </a:prstGeom>
        </p:spPr>
      </p:pic>
      <p:pic>
        <p:nvPicPr>
          <p:cNvPr id="19" name="Picture 10"/>
          <p:cNvPicPr>
            <a:picLocks noChangeAspect="1"/>
          </p:cNvPicPr>
          <p:nvPr/>
        </p:nvPicPr>
        <p:blipFill>
          <a:blip r:embed="rId4"/>
          <a:stretch>
            <a:fillRect/>
          </a:stretch>
        </p:blipFill>
        <p:spPr>
          <a:xfrm>
            <a:off x="961132" y="3438000"/>
            <a:ext cx="622939" cy="144000"/>
          </a:xfrm>
          <a:prstGeom prst="rect">
            <a:avLst/>
          </a:prstGeom>
        </p:spPr>
      </p:pic>
      <p:sp>
        <p:nvSpPr>
          <p:cNvPr id="12" name="TextBox 11">
            <a:extLst>
              <a:ext uri="{FF2B5EF4-FFF2-40B4-BE49-F238E27FC236}">
                <a16:creationId xmlns:a16="http://schemas.microsoft.com/office/drawing/2014/main" id="{30D74F55-A86D-D9D8-BBC0-33B3D18EEC00}"/>
              </a:ext>
            </a:extLst>
          </p:cNvPr>
          <p:cNvSpPr>
            <a:spLocks noGrp="1"/>
          </p:cNvSpPr>
          <p:nvPr/>
        </p:nvSpPr>
        <p:spPr>
          <a:xfrm>
            <a:off x="3960000" y="3459600"/>
            <a:ext cx="1080000" cy="144000"/>
          </a:xfrm>
          <a:prstGeom prst="rect">
            <a:avLst/>
          </a:prstGeom>
          <a:noFill/>
        </p:spPr>
        <p:txBody>
          <a:bodyPr wrap="square" lIns="0" tIns="0" rIns="0" bIns="0">
            <a:spAutoFit/>
          </a:bodyPr>
          <a:lstStyle/>
          <a:p>
            <a:pPr algn="r">
              <a:lnSpc>
                <a:spcPct val="100000"/>
              </a:lnSpc>
              <a:buNone/>
            </a:pPr>
            <a:r>
              <a:rPr sz="651" b="0">
                <a:solidFill>
                  <a:srgbClr val="8A92AB"/>
                </a:solidFill>
                <a:latin typeface="Helvetica Neue"/>
                <a:ea typeface="Helvetica Neue"/>
                <a:cs typeface="Helvetica Neue"/>
              </a:rPr>
              <a:t>aiwarenesslab.io</a:t>
            </a:r>
          </a:p>
        </p:txBody>
      </p:sp>
      <p:sp>
        <p:nvSpPr>
          <p:cNvPr id="4" name="TextBox 6">
            <a:extLst>
              <a:ext uri="{FF2B5EF4-FFF2-40B4-BE49-F238E27FC236}">
                <a16:creationId xmlns:a16="http://schemas.microsoft.com/office/drawing/2014/main" id="{07DDC9BC-B74E-E34D-BF1F-61E62572CFF1}"/>
              </a:ext>
            </a:extLst>
          </p:cNvPr>
          <p:cNvSpPr>
            <a:spLocks noGrp="1"/>
          </p:cNvSpPr>
          <p:nvPr/>
        </p:nvSpPr>
        <p:spPr>
          <a:xfrm>
            <a:off x="288000" y="819219"/>
            <a:ext cx="4752000" cy="1367028"/>
          </a:xfrm>
          <a:prstGeom prst="rect">
            <a:avLst/>
          </a:prstGeom>
          <a:noFill/>
        </p:spPr>
        <p:txBody>
          <a:bodyPr wrap="square" lIns="0" tIns="0" rIns="0" bIns="0">
            <a:spAutoFit/>
          </a:bodyPr>
          <a:lstStyle/>
          <a:p>
            <a:pPr>
              <a:lnSpc>
                <a:spcPct val="115000"/>
              </a:lnSpc>
              <a:buNone/>
            </a:pPr>
            <a:r>
              <a:rPr sz="1000">
                <a:solidFill>
                  <a:srgbClr val="141A33"/>
                </a:solidFill>
                <a:latin typeface="Open Sans"/>
                <a:ea typeface="Open Sans"/>
                <a:cs typeface="Open Sans"/>
              </a:rPr>
              <a:t>A supermarket uses cameras to count anonymously where customers walk and stop—like our heatmap, without faces. The data is used to rearrange shelves and place price labels.</a:t>
            </a:r>
          </a:p>
          <a:p>
            <a:pPr>
              <a:lnSpc>
                <a:spcPct val="115000"/>
              </a:lnSpc>
              <a:buNone/>
            </a:pPr>
            <a:endParaRPr sz="1000">
              <a:solidFill>
                <a:srgbClr val="141A33"/>
              </a:solidFill>
              <a:latin typeface="Open Sans"/>
              <a:ea typeface="Open Sans"/>
              <a:cs typeface="Open Sans"/>
            </a:endParaRPr>
          </a:p>
          <a:p>
            <a:pPr>
              <a:lnSpc>
                <a:spcPct val="115000"/>
              </a:lnSpc>
              <a:buNone/>
            </a:pPr>
            <a:r>
              <a:rPr sz="1000">
                <a:solidFill>
                  <a:srgbClr val="B77CFE"/>
                </a:solidFill>
                <a:latin typeface="Open Sans"/>
                <a:ea typeface="Open Sans"/>
                <a:cs typeface="Open Sans"/>
              </a:rPr>
              <a:t>DISCUSS</a:t>
            </a:r>
          </a:p>
          <a:p>
            <a:pPr>
              <a:lnSpc>
                <a:spcPct val="115000"/>
              </a:lnSpc>
              <a:buNone/>
            </a:pPr>
            <a:r>
              <a:rPr sz="1000">
                <a:solidFill>
                  <a:srgbClr val="141A33"/>
                </a:solidFill>
                <a:latin typeface="Open Sans"/>
                <a:ea typeface="Open Sans"/>
                <a:cs typeface="Open Sans"/>
              </a:rPr>
              <a:t>Is that okay because no one is identifiable? Where do you draw the line between “anonymous statistics” and “manipulation”?</a:t>
            </a:r>
          </a:p>
        </p:txBody>
      </p:sp>
      <p:sp>
        <p:nvSpPr>
          <p:cNvPr id="13" name="TextBox 4">
            <a:extLst>
              <a:ext uri="{FF2B5EF4-FFF2-40B4-BE49-F238E27FC236}">
                <a16:creationId xmlns:a16="http://schemas.microsoft.com/office/drawing/2014/main" id="{F0F05E19-CF80-7471-4607-D928841D8E04}"/>
              </a:ext>
            </a:extLst>
          </p:cNvPr>
          <p:cNvSpPr>
            <a:spLocks noGrp="1"/>
          </p:cNvSpPr>
          <p:nvPr/>
        </p:nvSpPr>
        <p:spPr>
          <a:xfrm>
            <a:off x="288000" y="370221"/>
            <a:ext cx="3528000" cy="276999"/>
          </a:xfrm>
          <a:prstGeom prst="rect">
            <a:avLst/>
          </a:prstGeom>
          <a:noFill/>
        </p:spPr>
        <p:txBody>
          <a:bodyPr wrap="square" lIns="0" tIns="0" rIns="0" bIns="0">
            <a:spAutoFit/>
          </a:bodyPr>
          <a:lstStyle/>
          <a:p>
            <a:pPr algn="l">
              <a:lnSpc>
                <a:spcPct val="100000"/>
              </a:lnSpc>
              <a:buNone/>
            </a:pPr>
            <a:r>
              <a:rPr>
                <a:latin typeface="Open Sans Condensed Light"/>
                <a:ea typeface="Open Sans Condensed Light"/>
                <a:cs typeface="Open Sans Condensed Light"/>
              </a:rPr>
              <a:t>THE SUPERMARKET</a:t>
            </a:r>
          </a:p>
        </p:txBody>
      </p:sp>
      <p:sp>
        <p:nvSpPr>
          <p:cNvPr id="5" name="Rectangle 2">
            <a:extLst>
              <a:ext uri="{FF2B5EF4-FFF2-40B4-BE49-F238E27FC236}">
                <a16:creationId xmlns:a16="http://schemas.microsoft.com/office/drawing/2014/main" id="{FCD86B09-2323-F9E6-4CDF-074D2A243EF5}"/>
              </a:ext>
            </a:extLst>
          </p:cNvPr>
          <p:cNvSpPr>
            <a:spLocks noGrp="1"/>
          </p:cNvSpPr>
          <p:nvPr/>
        </p:nvSpPr>
        <p:spPr>
          <a:xfrm>
            <a:off x="-350" y="0"/>
            <a:ext cx="5328000" cy="72000"/>
          </a:xfrm>
          <a:prstGeom prst="rect">
            <a:avLst/>
          </a:prstGeom>
          <a:solidFill>
            <a:srgbClr val="B77C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4" name="Grafik 2"/>
          <p:cNvPicPr>
            <a:picLocks noChangeAspect="1"/>
          </p:cNvPicPr>
          <p:nvPr/>
        </p:nvPicPr>
        <p:blipFill>
          <a:blip r:embed="rId5"/>
          <a:stretch>
            <a:fillRect/>
          </a:stretch>
        </p:blipFill>
        <p:spPr>
          <a:xfrm>
            <a:off x="341153" y="2705008"/>
            <a:ext cx="302090" cy="302090"/>
          </a:xfrm>
          <a:prstGeom prst="rect">
            <a:avLst/>
          </a:prstGeom>
        </p:spPr>
      </p:pic>
      <p:sp>
        <p:nvSpPr>
          <p:cNvPr id="7" name="Textfeld 6">
            <a:extLst>
              <a:ext uri="{FF2B5EF4-FFF2-40B4-BE49-F238E27FC236}">
                <a16:creationId xmlns:a16="http://schemas.microsoft.com/office/drawing/2014/main" id="{7CB77C2A-9989-212D-FE0C-10C96DBAC7C1}"/>
              </a:ext>
            </a:extLst>
          </p:cNvPr>
          <p:cNvSpPr>
            <a:spLocks noGrp="1"/>
          </p:cNvSpPr>
          <p:nvPr/>
        </p:nvSpPr>
        <p:spPr>
          <a:xfrm>
            <a:off x="643243" y="2624024"/>
            <a:ext cx="4343254" cy="441960"/>
          </a:xfrm>
          <a:prstGeom prst="rect">
            <a:avLst/>
          </a:prstGeom>
          <a:noFill/>
        </p:spPr>
        <p:txBody>
          <a:bodyPr wrap="square">
            <a:spAutoFit/>
          </a:bodyPr>
          <a:lstStyle/>
          <a:p>
            <a:pPr>
              <a:lnSpc>
                <a:spcPct val="115000"/>
              </a:lnSpc>
              <a:buNone/>
            </a:pPr>
            <a:r>
              <a:rPr sz="1000">
                <a:solidFill>
                  <a:srgbClr val="8992AB"/>
                </a:solidFill>
                <a:latin typeface="Open Sans"/>
                <a:ea typeface="Open Sans"/>
                <a:cs typeface="Open Sans"/>
              </a:rPr>
              <a:t>Hint:
Movement data can be collected in other places too.</a:t>
            </a:r>
          </a:p>
        </p:txBody>
      </p:sp>
    </p:spTree>
    <p:extLst>
      <p:ext uri="{BB962C8B-B14F-4D97-AF65-F5344CB8AC3E}">
        <p14:creationId xmlns:p14="http://schemas.microsoft.com/office/powerpoint/2010/main" val="3322430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1885</Words>
  <Application>Microsoft Macintosh PowerPoint</Application>
  <DocSecurity>0</DocSecurity>
  <PresentationFormat>Benutzerdefiniert</PresentationFormat>
  <Paragraphs>194</Paragraphs>
  <Slides>22</Slides>
  <Notes>22</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22</vt:i4>
      </vt:variant>
    </vt:vector>
  </HeadingPairs>
  <TitlesOfParts>
    <vt:vector size="29" baseType="lpstr">
      <vt:lpstr>Calibri</vt:lpstr>
      <vt:lpstr>Helvetica Neue</vt:lpstr>
      <vt:lpstr>Open Sans</vt:lpstr>
      <vt:lpstr>Open Sans Condensed</vt:lpstr>
      <vt:lpstr>Open Sans Condensed Light</vt:lpstr>
      <vt:lpstr>Open Sans Light</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Dan Verständig · aiwarenesslab.io</dc:creator>
  <cp:lastModifiedBy>Dan Verständig · aiwarenesslab.io</cp:lastModifiedBy>
  <cp:revision>1</cp:revision>
  <dcterms:created xsi:type="dcterms:W3CDTF">2026-08-06T17:08:34Z</dcterms:created>
  <dcterms:modified xsi:type="dcterms:W3CDTF">2026-08-06T17:08:34Z</dcterms:modified>
</cp:coreProperties>
</file>