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</p:sldIdLst>
  <p:sldSz cx="5328000" cy="378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 Detective — front (EN)</a:t>
            </a:r>
          </a:p>
          <a:p>
            <a:r>
              <a:t>Background image: front_01.png (300 dpi, includes glow, scanlines, glitch bars, accent bar).</a:t>
            </a:r>
          </a:p>
          <a:p>
            <a:r>
              <a:t>Kicker, title, tagline are editable text boxes. Accent #4ea8ff.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Object Detective — back (EN)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 the AI — front (EN)</a:t>
            </a:r>
          </a:p>
          <a:p>
            <a:r>
              <a:t>Background image: front_02.png (300 dpi, includes glow, scanlines, glitch bars, accent bar).</a:t>
            </a:r>
          </a:p>
          <a:p>
            <a:r>
              <a:t>Kicker, title, tagline are editable text boxes. Accent #b57bff.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Train the AI — back (EN)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Privacy Shield — front (EN)</a:t>
            </a:r>
          </a:p>
          <a:p>
            <a:r>
              <a:t>Background image: front_03.png (300 dpi, includes glow, scanlines, glitch bars, accent bar).</a:t>
            </a:r>
          </a:p>
          <a:p>
            <a:r>
              <a:t>Kicker, title, tagline are editable text boxes. Accent #3ddc97.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Privacy Shield — back (EN)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Data Trail — front (EN)</a:t>
            </a:r>
          </a:p>
          <a:p>
            <a:r>
              <a:t>Background image: front_04.png (300 dpi, includes glow, scanlines, glitch bars, accent bar).</a:t>
            </a:r>
          </a:p>
          <a:p>
            <a:r>
              <a:t>Kicker, title, tagline are editable text boxes. Accent #ffb347.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Data Trail — back (EN)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Fool the AI — front (EN)</a:t>
            </a:r>
          </a:p>
          <a:p>
            <a:r>
              <a:t>Background image: front_05.png (300 dpi, includes glow, scanlines, glitch bars, accent bar).</a:t>
            </a:r>
          </a:p>
          <a:p>
            <a:r>
              <a:t>Kicker, title, tagline are editable text boxes. Accent #ff5d8f.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Fool the AI — back (EN)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Skeleton Mirror — front (EN)</a:t>
            </a:r>
          </a:p>
          <a:p>
            <a:r>
              <a:t>Background image: front_06.png (300 dpi, includes glow, scanlines, glitch bars, accent bar).</a:t>
            </a:r>
          </a:p>
          <a:p>
            <a:r>
              <a:t>Kicker, title, tagline are editable text boxes. Accent #2dd4bf.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Skeleton Mirror — back (EN)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smart doorbell — front (EN)</a:t>
            </a:r>
          </a:p>
          <a:p>
            <a:r>
              <a:t>Background image: front_07.png (300 dpi, includes glow, scanlines, glitch bars, accent bar).</a:t>
            </a:r>
          </a:p>
          <a:p>
            <a:r>
              <a:t>Kicker, title, tagline are editable text boxes. Accent #8a4fd8.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smart doorbell — back (EN)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stadium — front (EN)</a:t>
            </a:r>
          </a:p>
          <a:p>
            <a:r>
              <a:t>Background image: front_08.png (300 dpi, includes glow, scanlines, glitch bars, accent bar).</a:t>
            </a:r>
          </a:p>
          <a:p>
            <a:r>
              <a:t>Kicker, title, tagline are editable text boxes. Accent #c32683.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stadium — back (EN)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school camera — front (EN)</a:t>
            </a:r>
          </a:p>
          <a:p>
            <a:r>
              <a:t>Background image: front_09.png (300 dpi, includes glow, scanlines, glitch bars, accent bar).</a:t>
            </a:r>
          </a:p>
          <a:p>
            <a:r>
              <a:t>Kicker, title, tagline are editable text boxes. Accent #7c4dff.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school camera — back (EN)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free filter — front (EN)</a:t>
            </a:r>
          </a:p>
          <a:p>
            <a:r>
              <a:t>Background image: front_10.png (300 dpi, includes glow, scanlines, glitch bars, accent bar).</a:t>
            </a:r>
          </a:p>
          <a:p>
            <a:r>
              <a:t>Kicker, title, tagline are editable text boxes. Accent #e0409f.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free filter — back (EN)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supermarket — front (EN)</a:t>
            </a:r>
          </a:p>
          <a:p>
            <a:r>
              <a:t>Background image: front_11.png (300 dpi, includes glow, scanlines, glitch bars, accent bar).</a:t>
            </a:r>
          </a:p>
          <a:p>
            <a:r>
              <a:t>Kicker, title, tagline are editable text boxes. Accent #b57bff.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supermarket — back (EN)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You’re in charge — front (EN)</a:t>
            </a:r>
          </a:p>
          <a:p>
            <a:r>
              <a:t>Background image: front_12.png (300 dpi, includes glow, scanlines, glitch bars, accent bar).</a:t>
            </a:r>
          </a:p>
          <a:p>
            <a:r>
              <a:t>Kicker, title, tagline are editable text boxes. Accent #5b21a6. Type: Helvetica Neue.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You’re in charge — back (EN)</a:t>
            </a:r>
          </a:p>
          <a:p>
            <a:r>
              <a:t>Everything here is native PowerPoint: text boxes, the accent bar and the background rectangle. Edit freely.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image" Target="../media/image1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Relationship Id="rId3" Type="http://schemas.openxmlformats.org/officeDocument/2006/relationships/image" Target="../media/image14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Relationship Id="rId3" Type="http://schemas.openxmlformats.org/officeDocument/2006/relationships/image" Target="../media/image16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Relationship Id="rId3" Type="http://schemas.openxmlformats.org/officeDocument/2006/relationships/image" Target="../media/image18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Relationship Id="rId3" Type="http://schemas.openxmlformats.org/officeDocument/2006/relationships/image" Target="../media/image2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23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4EA8FF"/>
                </a:solidFill>
                <a:latin typeface="Helvetica Neue"/>
              </a:rPr>
              <a:t>STATION 1 / 6</a:t>
            </a:r>
          </a:p>
        </p:txBody>
      </p:sp>
      <p:pic>
        <p:nvPicPr>
          <p:cNvPr id="4" name="Picture 3" descr="icon_0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576000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Object Detective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4EA8FF"/>
                </a:solidFill>
                <a:latin typeface="Helvetica Neue"/>
              </a:rPr>
              <a:t>What does the AI see?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4EA8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4EA8FF"/>
                </a:solidFill>
                <a:latin typeface="Helvetica Neue"/>
              </a:rPr>
              <a:t>STATION 1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Object Detective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4EA8FF"/>
                </a:solidFill>
                <a:latin typeface="Helvetica Neue"/>
              </a:rPr>
              <a:t>TRY THIS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336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1. Hold things from the box up to the camera. Which ones does the AI recognise, which ones not?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9144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2. Push the “How sure does the AI have to be?” slider all the way to the left. What nonsense suddenly pops up?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1952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3. Push it all the way to the right. What does the AI miss now?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5192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4EA8FF"/>
                </a:solidFill>
                <a:latin typeface="Helvetica Neue"/>
              </a:rPr>
              <a:t>RALLY 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16488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Find an object the AI recognises with over 80% — and one it ignores completely.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" y="19728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4EA8FF"/>
                </a:solidFill>
                <a:latin typeface="Helvetica Neue"/>
              </a:rPr>
              <a:t>💭 THINK ABOUT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21024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The AI knows exactly 80 things. Who decided that — and what does it mean for everything it doesn’t know?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B57BFF"/>
                </a:solidFill>
                <a:latin typeface="Helvetica Neue"/>
              </a:rPr>
              <a:t>STATION 2 / 6</a:t>
            </a:r>
          </a:p>
        </p:txBody>
      </p:sp>
      <p:pic>
        <p:nvPicPr>
          <p:cNvPr id="4" name="Picture 3" descr="icon_0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655807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Train the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B57BFF"/>
                </a:solidFill>
                <a:latin typeface="Helvetica Neue"/>
              </a:rPr>
              <a:t>You are the coach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B5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B57BFF"/>
                </a:solidFill>
                <a:latin typeface="Helvetica Neue"/>
              </a:rPr>
              <a:t>STATION 2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Train the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B57BFF"/>
                </a:solidFill>
                <a:latin typeface="Helvetica Neue"/>
              </a:rPr>
              <a:t>TRY THIS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336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1. Pick two objects. Give them real names on the screen (tap the name).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9144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2. Capture 8–10 examples of each — from different angles and distances!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195200"/>
            <a:ext cx="4752000" cy="12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3. Test it: does the AI recognise both reliably?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3896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B57BFF"/>
                </a:solidFill>
                <a:latin typeface="Helvetica Neue"/>
              </a:rPr>
              <a:t>RALLY 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1519200"/>
            <a:ext cx="4752000" cy="518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The bias experiment: train it badly on purpose — capture one thing only from the front, the other only from the back. Then turn both around. What happens, and what is this problem called in real AIs?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" y="21024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B57BFF"/>
                </a:solidFill>
                <a:latin typeface="Helvetica Neue"/>
              </a:rPr>
              <a:t>💭 THINK ABOUT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22320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Here you can delete all the data at the push of a button. Where on the internet would you like that too?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3DDC97"/>
                </a:solidFill>
                <a:latin typeface="Helvetica Neue"/>
              </a:rPr>
              <a:t>STATION 3 / 6</a:t>
            </a:r>
          </a:p>
        </p:txBody>
      </p:sp>
      <p:pic>
        <p:nvPicPr>
          <p:cNvPr id="4" name="Picture 3" descr="icon_03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384000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Privacy Shield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3DDC97"/>
                </a:solidFill>
                <a:latin typeface="Helvetica Neue"/>
              </a:rPr>
              <a:t>Protection built in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3DDC9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3DDC97"/>
                </a:solidFill>
                <a:latin typeface="Helvetica Neue"/>
              </a:rPr>
              <a:t>STATION 3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Privacy Shield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3DDC97"/>
                </a:solidFill>
                <a:latin typeface="Helvetica Neue"/>
              </a:rPr>
              <a:t>TRY THIS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336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1. Look into the camera — your face is made unrecognisable straight away.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9144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2. Try all three shield styles. Switch the shield off for a moment: how does the difference feel?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1952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3. Test the limits: turn your head, hand over half your face, sunglasses…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5192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3DDC97"/>
                </a:solidFill>
                <a:latin typeface="Helvetica Neue"/>
              </a:rPr>
              <a:t>RALLY 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16488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Find two ways the shield fails. Write it down: why is that a problem for a “protection promise”?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" y="19728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3DDC97"/>
                </a:solidFill>
                <a:latin typeface="Helvetica Neue"/>
              </a:rPr>
              <a:t>💭 THINK ABOUT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21024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Detection (“there is a face”) is not recognition (“that is Ali from class 8B”). Why does this difference matter so much?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FFB347"/>
                </a:solidFill>
                <a:latin typeface="Helvetica Neue"/>
              </a:rPr>
              <a:t>STATION 4 / 6</a:t>
            </a:r>
          </a:p>
        </p:txBody>
      </p:sp>
      <p:pic>
        <p:nvPicPr>
          <p:cNvPr id="4" name="Picture 3" descr="icon_0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576000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The Data Trail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FFB347"/>
                </a:solidFill>
                <a:latin typeface="Helvetica Neue"/>
              </a:rPr>
              <a:t>What cameras collect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FFB34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FFB347"/>
                </a:solidFill>
                <a:latin typeface="Helvetica Neue"/>
              </a:rPr>
              <a:t>STATION 4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The Data Trail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FFB347"/>
                </a:solidFill>
                <a:latin typeface="Helvetica Neue"/>
              </a:rPr>
              <a:t>TRY THIS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336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1. Open the station and look at the heat map. This data was collected on the side while you were playing!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9144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2. Walk a particular route as a group — can you see your trail appear?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1952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3. Press “Erase the data trail”. Who should have that button in real life?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5192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FFB347"/>
                </a:solidFill>
                <a:latin typeface="Helvetica Neue"/>
              </a:rPr>
              <a:t>RALLY 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16488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Name three things you could read off a map like this about a room and its people — with no faces at all.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" y="19728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FFB347"/>
                </a:solidFill>
                <a:latin typeface="Helvetica Neue"/>
              </a:rPr>
              <a:t>💭 THINK ABOUT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21024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“I’ve got nothing to hide” — does that hold for your walking routes, your habits, your favourite corner too?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FF5D8F"/>
                </a:solidFill>
                <a:latin typeface="Helvetica Neue"/>
              </a:rPr>
              <a:t>STATION 5 / 6</a:t>
            </a:r>
          </a:p>
        </p:txBody>
      </p:sp>
      <p:pic>
        <p:nvPicPr>
          <p:cNvPr id="4" name="Picture 3" descr="icon_05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572936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Fool the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FF5D8F"/>
                </a:solidFill>
                <a:latin typeface="Helvetica Neue"/>
              </a:rPr>
              <a:t>Find its limits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FF5D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FF5D8F"/>
                </a:solidFill>
                <a:latin typeface="Helvetica Neue"/>
              </a:rPr>
              <a:t>STATION 5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Fool the AI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FF5D8F"/>
                </a:solidFill>
                <a:latin typeface="Helvetica Neue"/>
              </a:rPr>
              <a:t>TRY THIS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336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1. The four challenges are on the screen: Invisible 🥷 · Mix-up 🎩 · Bullseye 💯 · Ghosts 👻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9576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FF5D8F"/>
                </a:solidFill>
                <a:latin typeface="Helvetica Neue"/>
              </a:rPr>
              <a:t>RALLY TASK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0872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Crack at least two challenges and note down how — your trick is the insight!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4112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FF5D8F"/>
                </a:solidFill>
                <a:latin typeface="Helvetica Neue"/>
              </a:rPr>
              <a:t>💭 THINK ABOUT 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1540800"/>
            <a:ext cx="4752000" cy="38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You outsmarted an AI in a few minutes. What does that mean for places where AIs decide on their own — border control, job applications, self-driving cars?</a:t>
            </a:r>
          </a:p>
        </p:txBody>
      </p:sp>
      <p:pic>
        <p:nvPicPr>
          <p:cNvPr id="12" name="Picture 1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3" name="Picture 12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2DD4BF"/>
                </a:solidFill>
                <a:latin typeface="Helvetica Neue"/>
              </a:rPr>
              <a:t>STATION 6 / 6</a:t>
            </a:r>
          </a:p>
        </p:txBody>
      </p:sp>
      <p:pic>
        <p:nvPicPr>
          <p:cNvPr id="4" name="Picture 3" descr="icon_0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560762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Skeleton Mirror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2DD4BF"/>
                </a:solidFill>
                <a:latin typeface="Helvetica Neue"/>
              </a:rPr>
              <a:t>Play without pictures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2DD4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2DD4BF"/>
                </a:solidFill>
                <a:latin typeface="Helvetica Neue"/>
              </a:rPr>
              <a:t>STATION 6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Skeleton Mirror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2DD4BF"/>
                </a:solidFill>
                <a:latin typeface="Helvetica Neue"/>
              </a:rPr>
              <a:t>TRY THIS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6336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1. Stand in front of the camera — you turn into a stick figure with 17 points.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914400"/>
            <a:ext cx="4752000" cy="129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2. Play the pose course: who can do all four poses fastest?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0656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3. Switch on Ghost mode: no more video, just skeletons. Can you still tell who is who?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88000" y="13896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2DD4BF"/>
                </a:solidFill>
                <a:latin typeface="Helvetica Neue"/>
              </a:rPr>
              <a:t>RALLY TASK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88000" y="1519200"/>
            <a:ext cx="4752000" cy="259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In ghost mode, find three things you can work out about a person even though you never see their face.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8000" y="18432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2DD4BF"/>
                </a:solidFill>
                <a:latin typeface="Helvetica Neue"/>
              </a:rPr>
              <a:t>💭 THINK ABOUT IT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88000" y="1972800"/>
            <a:ext cx="4752000" cy="38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Games consoles, fall sensors in care homes, pool cameras that spot someone drowning — all skeleton tracking. When is it care, when is it surveillance? And who decides that?</a:t>
            </a:r>
          </a:p>
        </p:txBody>
      </p:sp>
      <p:pic>
        <p:nvPicPr>
          <p:cNvPr id="14" name="Picture 13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5" name="Picture 14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8A4FD8"/>
                </a:solidFill>
                <a:latin typeface="Helvetica Neue"/>
              </a:rPr>
              <a:t>DISCUSSION CARD 1 / 6</a:t>
            </a:r>
          </a:p>
        </p:txBody>
      </p:sp>
      <p:pic>
        <p:nvPicPr>
          <p:cNvPr id="4" name="Picture 3" descr="icon_0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576000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14" b="1">
                <a:solidFill>
                  <a:srgbClr val="E6EDF3"/>
                </a:solidFill>
                <a:latin typeface="Helvetica Neue"/>
              </a:rPr>
              <a:t>The smart doorbell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8A4FD8"/>
                </a:solidFill>
                <a:latin typeface="Helvetica Neue"/>
              </a:rPr>
              <a:t>Privacy &amp; AI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8A4F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8A4FD8"/>
                </a:solidFill>
                <a:latin typeface="Helvetica Neue"/>
              </a:rPr>
              <a:t>DISCUSSION CARD 1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The smart doorbell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54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The Yilmaz family has a camera doorbell. It automatically films the pavement too — so all the neighbours, the postal worker, kids playing. The recordings end up on the manufacturer’s servers in the USA.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1088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8A4FD8"/>
                </a:solidFill>
                <a:latin typeface="Helvetica Neue"/>
              </a:rPr>
              <a:t>DISCUSS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38400"/>
            <a:ext cx="4752000" cy="518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Whose privacy counts here? What would you change if you got to build the doorbell? (Tip: today you saw a camera that makes faces unrecognisable before anything is stored…)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828800"/>
            <a:ext cx="475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Discuss for 5 minutes — then one sentence of takeaway for the group. There are no “right” answers, only good reasons.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C32683"/>
                </a:solidFill>
                <a:latin typeface="Helvetica Neue"/>
              </a:rPr>
              <a:t>DISCUSSION CARD 2 / 6</a:t>
            </a:r>
          </a:p>
        </p:txBody>
      </p:sp>
      <p:pic>
        <p:nvPicPr>
          <p:cNvPr id="4" name="Picture 3" descr="icon_08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618545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The stadium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C32683"/>
                </a:solidFill>
                <a:latin typeface="Helvetica Neue"/>
              </a:rPr>
              <a:t>Privacy &amp; AI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C3268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C32683"/>
                </a:solidFill>
                <a:latin typeface="Helvetica Neue"/>
              </a:rPr>
              <a:t>DISCUSSION CARD 2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The stadium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54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A football stadium wants face recognition at the entrance: known violent offenders are to be spotted automatically. To do that, every face of all 50,000 visitors is scanned and compared against a database.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11088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C32683"/>
                </a:solidFill>
                <a:latin typeface="Helvetica Neue"/>
              </a:rPr>
              <a:t>DISCUSS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238400"/>
            <a:ext cx="4752000" cy="38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49,990 uninvolved people get scanned to find 10 — fair or not? And what if the AI gets it wrong (you know by now that it does)?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699200"/>
            <a:ext cx="475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Discuss for 5 minutes — then one sentence of takeaway for the group. There are no “right” answers, only good reasons.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7C4DFF"/>
                </a:solidFill>
                <a:latin typeface="Helvetica Neue"/>
              </a:rPr>
              <a:t>DISCUSSION CARD 3 / 6</a:t>
            </a:r>
          </a:p>
        </p:txBody>
      </p:sp>
      <p:pic>
        <p:nvPicPr>
          <p:cNvPr id="4" name="Picture 3" descr="icon_0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716211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814" b="1">
                <a:solidFill>
                  <a:srgbClr val="E6EDF3"/>
                </a:solidFill>
                <a:latin typeface="Helvetica Neue"/>
              </a:rPr>
              <a:t>The school camera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7C4DFF"/>
                </a:solidFill>
                <a:latin typeface="Helvetica Neue"/>
              </a:rPr>
              <a:t>Privacy &amp; AI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7C4D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7C4DFF"/>
                </a:solidFill>
                <a:latin typeface="Helvetica Neue"/>
              </a:rPr>
              <a:t>DISCUSSION CARD 3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The school camera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41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Your school is thinking about putting up AI cameras that are supposed to report “suspicious behaviour” — scuffles, vandalism. Supposedly nothing is stored, only an alarm is sent.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972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7C4DFF"/>
                </a:solidFill>
                <a:latin typeface="Helvetica Neue"/>
              </a:rPr>
              <a:t>DISCUSS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101600"/>
            <a:ext cx="4752000" cy="38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Would you feel safer — or watched? Does a camera change how you behave, even if it “stores nothing”? (Think back to The Data Trail station!)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62400"/>
            <a:ext cx="475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Discuss for 5 minutes — then one sentence of takeaway for the group. There are no “right” answers, only good reasons.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E0409F"/>
                </a:solidFill>
                <a:latin typeface="Helvetica Neue"/>
              </a:rPr>
              <a:t>DISCUSSION CARD 4 / 6</a:t>
            </a:r>
          </a:p>
        </p:txBody>
      </p:sp>
      <p:pic>
        <p:nvPicPr>
          <p:cNvPr id="4" name="Picture 3" descr="icon_1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310857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The free filter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E0409F"/>
                </a:solidFill>
                <a:latin typeface="Helvetica Neue"/>
              </a:rPr>
              <a:t>Privacy &amp; AI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E0409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E0409F"/>
                </a:solidFill>
                <a:latin typeface="Helvetica Neue"/>
              </a:rPr>
              <a:t>DISCUSSION CARD 4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The free filter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273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A photo app makes funny AI filters — for free. In the small print: all uploaded faces may be used to train new AI models.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8352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E0409F"/>
                </a:solidFill>
                <a:latin typeface="Helvetica Neue"/>
              </a:rPr>
              <a:t>DISCUSS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964800"/>
            <a:ext cx="4752000" cy="38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Today you trained an AI yourself — with data you could delete afterwards. Why don’t most apps offer that? What would be a fair trade for a free filter?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425600"/>
            <a:ext cx="475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Discuss for 5 minutes — then one sentence of takeaway for the group. There are no “right” answers, only good reasons.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B57BFF"/>
                </a:solidFill>
                <a:latin typeface="Helvetica Neue"/>
              </a:rPr>
              <a:t>DISCUSSION CARD 5 / 6</a:t>
            </a:r>
          </a:p>
        </p:txBody>
      </p:sp>
      <p:pic>
        <p:nvPicPr>
          <p:cNvPr id="4" name="Picture 3" descr="icon_1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560762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The supermarket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B57BFF"/>
                </a:solidFill>
                <a:latin typeface="Helvetica Neue"/>
              </a:rPr>
              <a:t>Privacy &amp; AI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B57B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B57BFF"/>
                </a:solidFill>
                <a:latin typeface="Helvetica Neue"/>
              </a:rPr>
              <a:t>DISCUSSION CARD 5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The supermarket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41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A supermarket uses cameras to count anonymously where customers walk and where they stop — like our heat map, no faces. Shelves get rearranged and prices placed to match.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972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B57BFF"/>
                </a:solidFill>
                <a:latin typeface="Helvetica Neue"/>
              </a:rPr>
              <a:t>DISCUSS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101600"/>
            <a:ext cx="4752000" cy="38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Is that okay because nobody is identifiable? Where does the line run for you between “anonymous statistics” and “manipulation”?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62400"/>
            <a:ext cx="475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Discuss for 5 minutes — then one sentence of takeaway for the group. There are no “right” answers, only good reasons.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front_1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5328000" cy="3780000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288000" y="7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737" b="1">
                <a:solidFill>
                  <a:srgbClr val="5B21A6"/>
                </a:solidFill>
                <a:latin typeface="Helvetica Neue"/>
              </a:rPr>
              <a:t>DISCUSSION CARD 6 / 6</a:t>
            </a:r>
          </a:p>
        </p:txBody>
      </p:sp>
      <p:pic>
        <p:nvPicPr>
          <p:cNvPr id="4" name="Picture 3" descr="icon_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76000" y="1008000"/>
            <a:ext cx="542476" cy="576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288000" y="2016000"/>
            <a:ext cx="4752000" cy="432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2267" b="1">
                <a:solidFill>
                  <a:srgbClr val="E6EDF3"/>
                </a:solidFill>
                <a:latin typeface="Helvetica Neue"/>
              </a:rPr>
              <a:t>You’re in charge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2520000"/>
            <a:ext cx="4752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020" b="1">
                <a:solidFill>
                  <a:srgbClr val="5B21A6"/>
                </a:solidFill>
                <a:latin typeface="Helvetica Neue"/>
              </a:rPr>
              <a:t>Privacy &amp; AI</a:t>
            </a:r>
          </a:p>
        </p:txBody>
      </p:sp>
      <p:pic>
        <p:nvPicPr>
          <p:cNvPr id="7" name="Picture 6" descr="logo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40455" y="3348000"/>
            <a:ext cx="706415" cy="180000"/>
          </a:xfrm>
          <a:prstGeom prst="rect">
            <a:avLst/>
          </a:prstGeom>
        </p:spPr>
      </p:pic>
      <p:pic>
        <p:nvPicPr>
          <p:cNvPr id="8" name="Picture 7" descr="logo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2708870" y="3348000"/>
            <a:ext cx="778674" cy="1800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28000" cy="3780000"/>
          </a:xfrm>
          <a:prstGeom prst="rect">
            <a:avLst/>
          </a:prstGeom>
          <a:solidFill>
            <a:srgbClr val="FDFD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28000" cy="72000"/>
          </a:xfrm>
          <a:prstGeom prst="rect">
            <a:avLst/>
          </a:prstGeom>
          <a:solidFill>
            <a:srgbClr val="5B21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288000" y="252000"/>
            <a:ext cx="144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708" b="1">
                <a:solidFill>
                  <a:srgbClr val="5B21A6"/>
                </a:solidFill>
                <a:latin typeface="Helvetica Neue"/>
              </a:rPr>
              <a:t>DISCUSSION CARD 6 / 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12000" y="223200"/>
            <a:ext cx="3528000" cy="216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60" b="1">
                <a:solidFill>
                  <a:srgbClr val="141A33"/>
                </a:solidFill>
                <a:latin typeface="Helvetica Neue"/>
              </a:rPr>
              <a:t>You’re in charge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88000" y="504000"/>
            <a:ext cx="4752000" cy="410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Imagine: you get to write the rules for all AI cameras in your city. Today you saw what is possible — detecting, tracking, but also protecting and deleting.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88000" y="972000"/>
            <a:ext cx="4752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22" b="1">
                <a:solidFill>
                  <a:srgbClr val="5B21A6"/>
                </a:solidFill>
                <a:latin typeface="Helvetica Neue"/>
              </a:rPr>
              <a:t>DISCUSS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88000" y="1101600"/>
            <a:ext cx="4752000" cy="38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864" b="0">
                <a:solidFill>
                  <a:srgbClr val="141A33"/>
                </a:solidFill>
                <a:latin typeface="Helvetica Neue"/>
              </a:rPr>
              <a:t>Write down three rules together that every AI camera would have to follow. Compare with the other groups: which rule comes up everywhere?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000" y="1562400"/>
            <a:ext cx="4752000" cy="288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708" b="0">
                <a:solidFill>
                  <a:srgbClr val="8A92AB"/>
                </a:solidFill>
                <a:latin typeface="Helvetica Neue"/>
              </a:rPr>
              <a:t>Discuss for 5 minutes — then one sentence of takeaway for the group. There are no “right” answers, only good reasons.</a:t>
            </a:r>
          </a:p>
        </p:txBody>
      </p:sp>
      <p:pic>
        <p:nvPicPr>
          <p:cNvPr id="10" name="Picture 9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8000" y="3438000"/>
            <a:ext cx="565132" cy="144000"/>
          </a:xfrm>
          <a:prstGeom prst="rect">
            <a:avLst/>
          </a:prstGeom>
        </p:spPr>
      </p:pic>
      <p:pic>
        <p:nvPicPr>
          <p:cNvPr id="11" name="Picture 10" descr="logo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61132" y="3438000"/>
            <a:ext cx="622939" cy="14400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3960000" y="3459600"/>
            <a:ext cx="1080000" cy="1440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651" b="0">
                <a:solidFill>
                  <a:srgbClr val="8A92AB"/>
                </a:solidFill>
                <a:latin typeface="Helvetica Neue"/>
              </a:rPr>
              <a:t>aiwarenesslab.io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