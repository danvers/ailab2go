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82" r:id="rId4"/>
    <p:sldId id="259" r:id="rId5"/>
    <p:sldId id="283" r:id="rId6"/>
    <p:sldId id="261" r:id="rId7"/>
    <p:sldId id="284" r:id="rId8"/>
    <p:sldId id="263" r:id="rId9"/>
    <p:sldId id="285" r:id="rId10"/>
    <p:sldId id="280" r:id="rId11"/>
    <p:sldId id="28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5327650" cy="37798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D4BF"/>
    <a:srgbClr val="3CDC97"/>
    <a:srgbClr val="FF5D8F"/>
    <a:srgbClr val="B67CFF"/>
    <a:srgbClr val="FFB3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5"/>
    <p:restoredTop sz="94658"/>
  </p:normalViewPr>
  <p:slideViewPr>
    <p:cSldViewPr snapToGrid="0" snapToObjects="1">
      <p:cViewPr varScale="1">
        <p:scale>
          <a:sx n="202" d="100"/>
          <a:sy n="202" d="100"/>
        </p:scale>
        <p:origin x="192" y="3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4624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Objekt-Detektiv — front (DE)</a:t>
            </a:r>
          </a:p>
          <a:p>
            <a:r>
              <a:t>Background image: front_01.png (300 dpi, includes glow, scanlines, glitch bars, accent bar).</a:t>
            </a:r>
          </a:p>
          <a:p>
            <a:r>
              <a:t>Kicker, title, tagline are editable text boxes. Accent #4ea8ff.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Objekt-Detektiv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9B683-287B-A0F1-E018-2F3EFE442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9319AE-54DB-A8F2-CE6D-DE6C26EF5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CEFFB-FF3D-F843-06A2-0C06181F2C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Trainiere die KI — front (DE)</a:t>
            </a:r>
          </a:p>
          <a:p>
            <a:r>
              <a:t>Background image: front_02.png (300 dpi, includes glow, scanlines, glitch bars, accent bar).</a:t>
            </a:r>
          </a:p>
          <a:p>
            <a:r>
              <a:t>Kicker, title, tagline are editable text boxes. Accent #b57bff.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CF9CF-7A38-4EF4-DB5B-29C585D87B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456869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Trainiere die KI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83F06-B60D-9C9F-90F2-27406D8A5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B62689-A53D-5D4E-B87D-4BF4B1B263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6FCB6F-BD23-20AD-0BF0-4A50738BAC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Privatsphäre-Schild — front (DE)</a:t>
            </a:r>
          </a:p>
          <a:p>
            <a:r>
              <a:t>Background image: front_03.png (300 dpi, includes glow, scanlines, glitch bars, accent bar).</a:t>
            </a:r>
          </a:p>
          <a:p>
            <a:r>
              <a:t>Kicker, title, tagline are editable text boxes. Accent #3ddc97.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AC68C-BF9D-98AF-BD44-6EBA170BF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853465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Privatsphäre-Schild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7B7CE-73DD-CEFA-B925-CFB1A95BC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4A4BB0-DB84-CEFE-D501-2438078067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E002CA-8BD8-A013-D308-D2684B8CF4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Datenspur — front (DE)</a:t>
            </a:r>
          </a:p>
          <a:p>
            <a:r>
              <a:t>Background image: front_04.png (300 dpi, includes glow, scanlines, glitch bars, accent bar).</a:t>
            </a:r>
          </a:p>
          <a:p>
            <a:r>
              <a:t>Kicker, title, tagline are editable text boxes. Accent #ffb347.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8F150D-BB02-F9F0-3B3E-8FEB0D7C8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35392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Datenspur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0D397-FEEA-5332-F35B-87B1BE0DF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413EE4-A1B2-2F07-738A-13C82B1851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84A38-2F1E-B6E9-8C35-E63CB1B902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Täusche die KI — front (DE)</a:t>
            </a:r>
          </a:p>
          <a:p>
            <a:r>
              <a:t>Background image: front_05.png (300 dpi, includes glow, scanlines, glitch bars, accent bar).</a:t>
            </a:r>
          </a:p>
          <a:p>
            <a:r>
              <a:t>Kicker, title, tagline are editable text boxes. Accent #ff5d8f.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7D64B3-7776-EAB9-1183-364306A076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008395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0D478-2722-A24F-0CDD-C95D0F40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0F8239-5030-F718-8D4A-DF3640AEC1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BE494A-0D42-655B-6898-0E8A0ACE28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Täusche die KI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017C28-AEC9-E77C-69AE-2B29AF9295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955809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5E8B7-71EE-FEDF-E2E8-936713551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C3F14-8CDD-6315-A6DD-96F3DB613A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FC2FE-21F3-7BF8-7E6B-2AAFE75BA7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Skelett-Spiegel — front (DE)</a:t>
            </a:r>
          </a:p>
          <a:p>
            <a:r>
              <a:t>Background image: front_06.png (300 dpi, includes glow, scanlines, glitch bars, accent bar).</a:t>
            </a:r>
          </a:p>
          <a:p>
            <a:r>
              <a:t>Kicker, title, tagline are editable text boxes. Accent #2dd4bf. Type: Helvetica Neue.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038CA-602E-ABAF-7F39-BBC4C03E18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461226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Skelett-Spiegel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smarte Türklingel — front (DE)</a:t>
            </a:r>
          </a:p>
          <a:p>
            <a:r>
              <a:t>Background image: front_07.png (300 dpi, includes glow, scanlines, glitch bars, accent bar).</a:t>
            </a:r>
          </a:p>
          <a:p>
            <a:r>
              <a:t>Kicker, title, tagline are editable text boxes. Accent #8a4fd8.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smarte Türklingel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Das Stadion — front (DE)</a:t>
            </a:r>
          </a:p>
          <a:p>
            <a:r>
              <a:t>Background image: front_08.png (300 dpi, includes glow, scanlines, glitch bars, accent bar).</a:t>
            </a:r>
          </a:p>
          <a:p>
            <a:r>
              <a:t>Kicker, title, tagline are editable text boxes. Accent #c32683.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Das Stadion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Schulkamera — front (DE)</a:t>
            </a:r>
          </a:p>
          <a:p>
            <a:r>
              <a:t>Background image: front_09.png (300 dpi, includes glow, scanlines, glitch bars, accent bar).</a:t>
            </a:r>
          </a:p>
          <a:p>
            <a:r>
              <a:t>Kicker, title, tagline are editable text boxes. Accent #7c4dff.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Schulkamera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Der Gratis-Filter — front (DE)</a:t>
            </a:r>
          </a:p>
          <a:p>
            <a:r>
              <a:t>Background image: front_10.png (300 dpi, includes glow, scanlines, glitch bars, accent bar).</a:t>
            </a:r>
          </a:p>
          <a:p>
            <a:r>
              <a:t>Kicker, title, tagline are editable text boxes. Accent #e0409f.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Der Gratis-Filter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Der Supermarkt — front (DE)</a:t>
            </a:r>
          </a:p>
          <a:p>
            <a:r>
              <a:t>Background image: front_11.png (300 dpi, includes glow, scanlines, glitch bars, accent bar).</a:t>
            </a:r>
          </a:p>
          <a:p>
            <a:r>
              <a:t>Kicker, title, tagline are editable text boxes. Accent #b57bff.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Der Supermarkt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Ihr seid die Chefs — front (DE)</a:t>
            </a:r>
          </a:p>
          <a:p>
            <a:r>
              <a:t>Background image: front_12.png (300 dpi, includes glow, scanlines, glitch bars, accent bar).</a:t>
            </a:r>
          </a:p>
          <a:p>
            <a:r>
              <a:t>Kicker, title, tagline are editable text boxes. Accent #5b21a6.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Ihr seid die Chefs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4EA8FF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OBJEKTERKENNUNG</a:t>
            </a:r>
            <a:endParaRPr sz="1000" b="1" dirty="0">
              <a:solidFill>
                <a:srgbClr val="4EA8FF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pic>
        <p:nvPicPr>
          <p:cNvPr id="4" name="Picture 3" descr="icon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76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OBJEKT DETEKTIV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8000" y="258966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dirty="0">
                <a:solidFill>
                  <a:srgbClr val="4EA8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Was </a:t>
            </a:r>
            <a:r>
              <a:rPr sz="1000" dirty="0" err="1">
                <a:solidFill>
                  <a:srgbClr val="4EA8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sieht</a:t>
            </a:r>
            <a:r>
              <a:rPr sz="1000" dirty="0">
                <a:solidFill>
                  <a:srgbClr val="4EA8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die KI?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200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4E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dirty="0" err="1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Objekt</a:t>
            </a: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 </a:t>
            </a:r>
            <a:r>
              <a:rPr dirty="0" err="1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Detektiv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88000" y="819219"/>
            <a:ext cx="4752000" cy="22855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4EA8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28600" indent="-228600" algn="l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Haltet</a:t>
            </a:r>
            <a:r>
              <a:rPr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Dinge in die Kamera. 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Was erkennt</a:t>
            </a:r>
            <a:r>
              <a:rPr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die KI, </a:t>
            </a: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was</a:t>
            </a:r>
            <a:r>
              <a:rPr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nicht?</a:t>
            </a: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Schiebt den Regler „Wie sicher muss sich die KI sein?“ ganz nach links. Was passiert?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Schiebt den Regler ganz nach rechts. Was übersieht die KI jetzt?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4EA8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HERAUSFORDERUNG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Findet einen Gegenstand, den die KI mit über 80 % erkennt und einen Gegenstand, den sie komplett ignoriert.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4EA8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REFLEXION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Die KI kennt genau 80 Dinge. Wer hat das entschieden und was bedeutet das für alles, was sie nicht kennt?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FE91B-E325-956A-5528-B5BAD8F70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2.png">
            <a:extLst>
              <a:ext uri="{FF2B5EF4-FFF2-40B4-BE49-F238E27FC236}">
                <a16:creationId xmlns:a16="http://schemas.microsoft.com/office/drawing/2014/main" id="{1793E0C4-3363-BCEE-2418-5996A7307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pic>
        <p:nvPicPr>
          <p:cNvPr id="4" name="Picture 3" descr="icon_02.png">
            <a:extLst>
              <a:ext uri="{FF2B5EF4-FFF2-40B4-BE49-F238E27FC236}">
                <a16:creationId xmlns:a16="http://schemas.microsoft.com/office/drawing/2014/main" id="{2298120E-5DD9-C701-EED7-7F2B04B2DB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655807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5B03C1D7-B4B1-2452-EF35-54CAB962A4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F6C25346-6C58-8F13-2D99-5A373877CB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1D4E6AD-AB82-4AF5-C182-2D69961D0098}"/>
              </a:ext>
            </a:extLst>
          </p:cNvPr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B67CFF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OBJEKTERKENNUNG</a:t>
            </a:r>
            <a:endParaRPr sz="1000" b="1" dirty="0">
              <a:solidFill>
                <a:srgbClr val="B67CFF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72B189D4-BE20-BD4A-F03E-82CD4CE17E4C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TRAINIERE DIE KI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EB54A2C6-7743-E220-FDC4-3D50EA13621A}"/>
              </a:ext>
            </a:extLst>
          </p:cNvPr>
          <p:cNvSpPr txBox="1"/>
          <p:nvPr/>
        </p:nvSpPr>
        <p:spPr>
          <a:xfrm>
            <a:off x="288000" y="258966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B67CF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Ihr gestaltet mit.</a:t>
            </a:r>
            <a:endParaRPr sz="1000" b="1" dirty="0">
              <a:solidFill>
                <a:srgbClr val="B67CFF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59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B5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A2B8C6FC-908A-42C5-D7C6-0B4F5B6FAFE4}"/>
              </a:ext>
            </a:extLst>
          </p:cNvPr>
          <p:cNvSpPr txBox="1"/>
          <p:nvPr/>
        </p:nvSpPr>
        <p:spPr>
          <a:xfrm>
            <a:off x="288000" y="819219"/>
            <a:ext cx="4752000" cy="2284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B67C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Wählt zwei Gegenstände. Gebt ihnen im Bildschirm echte Namen. 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Nehmt von jedem 8–10 Beispiele aus verschiedenen Winkeln auf!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Testet: Erkennt die KI beide zuverlässig?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B67C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HERAUSFORDERUNG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Der Bias-Versuch: Trainiere absichtlich schlecht — nehmt ein Ding nur von vorne auf, das andere nur von hinten. Dreht dann beide. Was passiert, und wie heißt dieses Problem bei echten KI-Systemen?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B67CF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REFLEXION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Hier könnt ihr alle Daten einfach per Knopfdruck löschen. Wo im Internet hättet ihr das auch gern?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A3B8FFB-9B71-50CF-C81F-4BF594F8B42B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Trainiere die KI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8F24B-2E0D-1CF0-B5AC-084608F5B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3.png">
            <a:extLst>
              <a:ext uri="{FF2B5EF4-FFF2-40B4-BE49-F238E27FC236}">
                <a16:creationId xmlns:a16="http://schemas.microsoft.com/office/drawing/2014/main" id="{8C747E6D-C7C7-BCB3-78A7-D91E3151F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pic>
        <p:nvPicPr>
          <p:cNvPr id="4" name="Picture 3" descr="icon_03.png">
            <a:extLst>
              <a:ext uri="{FF2B5EF4-FFF2-40B4-BE49-F238E27FC236}">
                <a16:creationId xmlns:a16="http://schemas.microsoft.com/office/drawing/2014/main" id="{39CD66F4-D61F-C00E-4086-01742D77D6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1825" y="1116000"/>
            <a:ext cx="384000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2B2F67BD-DA5C-1585-A38C-5FD8ECCE18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F7355155-B1A4-1974-B86D-033736DCF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576DE6-5E39-599D-7320-217CFB8DACD3}"/>
              </a:ext>
            </a:extLst>
          </p:cNvPr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3CDC97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PRIVATHEIT</a:t>
            </a:r>
            <a:endParaRPr sz="1000" b="1" dirty="0">
              <a:solidFill>
                <a:srgbClr val="3CDC97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2A4D927E-898D-C0F9-F3BB-C257A9D51DCF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PRIVATSPHÄRE-SCHILD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4ED6717A-C8AD-DAF1-93C6-7E4867592E6F}"/>
              </a:ext>
            </a:extLst>
          </p:cNvPr>
          <p:cNvSpPr txBox="1"/>
          <p:nvPr/>
        </p:nvSpPr>
        <p:spPr>
          <a:xfrm>
            <a:off x="288000" y="258966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3CDC97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Privacy by Design.</a:t>
            </a:r>
            <a:endParaRPr sz="1000" b="1" dirty="0">
              <a:solidFill>
                <a:srgbClr val="3CDC97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36189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671CF2A7-1C12-E96A-0FFC-2946105AF0CB}"/>
              </a:ext>
            </a:extLst>
          </p:cNvPr>
          <p:cNvSpPr txBox="1"/>
          <p:nvPr/>
        </p:nvSpPr>
        <p:spPr>
          <a:xfrm>
            <a:off x="288000" y="819219"/>
            <a:ext cx="4752000" cy="2466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3CDC9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Schaut in die Kamera — Eure Gesichter werden sofort unkenntlich gemacht.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Probiert die drei Schutz-Stile aus. Schaltet den Schutz kurz aus: Wie fühlt sich der Unterschied an? 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Testet die Grenzen: Kopf drehen, Hand vors halbe Gesicht, Sonnenbrille usw..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3CDC9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HERAUSFORDERUNG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Findet zwei Wege, wie der Schutz versagt. Notiert: Warum ist das bei einem „Schutz-Versprechen“ ein Problem?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3CDC9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REFLEXION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Erkennen („da ist ein Gesicht“) ist nicht Wiedererkennen („das ist Ali aus der 8b“). Warum ist dieser Unterschied so wichtig?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A1D3441-0674-025D-3D15-24210519E795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Privatsphäre-Schild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5A93D-4E33-0806-049D-70F7BC472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4.png">
            <a:extLst>
              <a:ext uri="{FF2B5EF4-FFF2-40B4-BE49-F238E27FC236}">
                <a16:creationId xmlns:a16="http://schemas.microsoft.com/office/drawing/2014/main" id="{C88FDA1B-F42E-4C51-9EF3-DF7818BD6D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105" y="0"/>
            <a:ext cx="5328000" cy="3780000"/>
          </a:xfrm>
          <a:prstGeom prst="rect">
            <a:avLst/>
          </a:prstGeom>
        </p:spPr>
      </p:pic>
      <p:pic>
        <p:nvPicPr>
          <p:cNvPr id="4" name="Picture 3" descr="icon_04.png">
            <a:extLst>
              <a:ext uri="{FF2B5EF4-FFF2-40B4-BE49-F238E27FC236}">
                <a16:creationId xmlns:a16="http://schemas.microsoft.com/office/drawing/2014/main" id="{C98A6A90-B575-A446-085F-63C65044DC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76000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C4F7C1AB-F6CF-ADFC-F392-C6EDF37BC2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896CDF00-63D1-7E4A-F5A5-FB1FCE95AC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CD6EA270-67BF-DF03-8B05-11893407947D}"/>
              </a:ext>
            </a:extLst>
          </p:cNvPr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FFB347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BEWEGUNGEN</a:t>
            </a:r>
            <a:r>
              <a:rPr lang="de-DE" sz="1000" b="1" dirty="0">
                <a:solidFill>
                  <a:srgbClr val="3CDC97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 </a:t>
            </a:r>
            <a:endParaRPr sz="1000" b="1" dirty="0">
              <a:solidFill>
                <a:srgbClr val="3CDC97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37209C95-C259-A71F-7A27-A1AB5F51F506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DIE DATENSPUR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CB437B9D-8CF9-40DB-3743-F412D871981F}"/>
              </a:ext>
            </a:extLst>
          </p:cNvPr>
          <p:cNvSpPr txBox="1"/>
          <p:nvPr/>
        </p:nvSpPr>
        <p:spPr>
          <a:xfrm>
            <a:off x="288000" y="258966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FFB347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Kameras und Bewegung.</a:t>
            </a:r>
            <a:endParaRPr sz="1000" b="1" dirty="0">
              <a:solidFill>
                <a:srgbClr val="FFB347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9688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FFB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59E900B6-504F-89C4-33A8-1E59BF869AC1}"/>
              </a:ext>
            </a:extLst>
          </p:cNvPr>
          <p:cNvSpPr txBox="1"/>
          <p:nvPr/>
        </p:nvSpPr>
        <p:spPr>
          <a:xfrm>
            <a:off x="288000" y="819219"/>
            <a:ext cx="4752000" cy="2466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FFB34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Öffnet die Station und schaut auf die Wärmekarte. Diese Daten wurden nebenbei gesammelt, während ihr gespielt habt! 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Lauft als Gruppe einen bestimmten Weg — seht ihr eure Spur entstehen?</a:t>
            </a:r>
          </a:p>
          <a:p>
            <a:pPr marL="228600" indent="-228600">
              <a:lnSpc>
                <a:spcPct val="115000"/>
              </a:lnSpc>
              <a:buFont typeface="+mj-lt"/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Drückt „Datenspur löschen“. Wer sollte diesen Knopf im echten Leben haben?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FFB34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HERAUSFORDERUNG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Nennt drei Dinge, die man aus so einer Karte über einen Raum und seine Menschen ablesen könnte — ganz ohne Gesichter.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FFB347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REFLEXION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„Ich habe doch nichts zu verbergen“ — gilt das auch für deine Laufwege, deine Gewohnheiten, deine Lieblingsecke?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D283121-E62E-B16F-08D8-E4089ADD2297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Die Datenspur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D8F44-220E-A449-2902-5BC15DA27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5.png">
            <a:extLst>
              <a:ext uri="{FF2B5EF4-FFF2-40B4-BE49-F238E27FC236}">
                <a16:creationId xmlns:a16="http://schemas.microsoft.com/office/drawing/2014/main" id="{E436584A-419D-B096-5085-92C53F5C5F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pic>
        <p:nvPicPr>
          <p:cNvPr id="4" name="Picture 3" descr="icon_05.png">
            <a:extLst>
              <a:ext uri="{FF2B5EF4-FFF2-40B4-BE49-F238E27FC236}">
                <a16:creationId xmlns:a16="http://schemas.microsoft.com/office/drawing/2014/main" id="{79443813-5B26-7A1C-BC9C-F033CB8D27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72936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42470BF2-FA36-A551-7AF6-F9BC8E07E2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42C9756A-8A47-4AD3-C259-7C1FAABAC6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B6D62D08-9136-076C-425C-E6760EFFE25D}"/>
              </a:ext>
            </a:extLst>
          </p:cNvPr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FF5D8F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GRENZEN </a:t>
            </a:r>
            <a:endParaRPr sz="1000" b="1" dirty="0">
              <a:solidFill>
                <a:srgbClr val="FF5D8F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934C4677-1D2C-F312-7A19-F76C618ECB5A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TÄUSCHE DIE KI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EFD94A9F-37DC-FF1F-BE1F-5444B5E6A0F7}"/>
              </a:ext>
            </a:extLst>
          </p:cNvPr>
          <p:cNvSpPr txBox="1"/>
          <p:nvPr/>
        </p:nvSpPr>
        <p:spPr>
          <a:xfrm>
            <a:off x="288000" y="258966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FF5D8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Bilder und ihre Folgen.</a:t>
            </a:r>
            <a:endParaRPr sz="1000" b="1" dirty="0">
              <a:solidFill>
                <a:srgbClr val="FF5D8F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5768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A1016-18DF-3260-4277-A78238CE2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E275E5-7632-0B91-D059-603D0775AF69}"/>
              </a:ext>
            </a:extLst>
          </p:cNvPr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52E14A-E8F6-3171-EDBE-ADF62268FBB9}"/>
              </a:ext>
            </a:extLst>
          </p:cNvPr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FF5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logo.png">
            <a:extLst>
              <a:ext uri="{FF2B5EF4-FFF2-40B4-BE49-F238E27FC236}">
                <a16:creationId xmlns:a16="http://schemas.microsoft.com/office/drawing/2014/main" id="{51863E67-B5D3-1458-3FAC-BE158C604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3" name="Picture 12" descr="logo2.png">
            <a:extLst>
              <a:ext uri="{FF2B5EF4-FFF2-40B4-BE49-F238E27FC236}">
                <a16:creationId xmlns:a16="http://schemas.microsoft.com/office/drawing/2014/main" id="{BB3049BB-B782-F3D7-5AE1-C8271A534F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8AD9F55-6B7A-0014-0A8A-C141B7C42ACF}"/>
              </a:ext>
            </a:extLst>
          </p:cNvPr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F7B94123-805C-FD2E-208F-662C5F7AF841}"/>
              </a:ext>
            </a:extLst>
          </p:cNvPr>
          <p:cNvSpPr txBox="1"/>
          <p:nvPr/>
        </p:nvSpPr>
        <p:spPr>
          <a:xfrm>
            <a:off x="288000" y="819219"/>
            <a:ext cx="4752000" cy="19316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FF5D8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Die vier Challenges stehen am Bildschirm.</a:t>
            </a:r>
            <a:b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Unsichtbar 🥷 · Verwechslung 🎩 · Volltreffer 💯 · Geister 👻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FF5D8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HERAUSFORDERUNG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Schafft mindestens zwei Challenges und haltet fest, wie es geklappt hat. Eure Tricks sind die Erkenntnis!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FF5D8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REFLEXION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Ihr habt eine KI in wenigen Minuten überlistet. Was heißt das für Orte, an denen KIs allein entscheiden — Grenzkontrolle, Bewerbung, autonomes Fahren?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1D18D52-360E-7FA7-4CE2-DF3D9A492D44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Täusche die KI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97762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61468-D990-EFDF-B8C8-38788C15A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6.png">
            <a:extLst>
              <a:ext uri="{FF2B5EF4-FFF2-40B4-BE49-F238E27FC236}">
                <a16:creationId xmlns:a16="http://schemas.microsoft.com/office/drawing/2014/main" id="{7CE1F947-28DE-BD27-CA82-36C76E0D1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pic>
        <p:nvPicPr>
          <p:cNvPr id="4" name="Picture 3" descr="icon_06.png">
            <a:extLst>
              <a:ext uri="{FF2B5EF4-FFF2-40B4-BE49-F238E27FC236}">
                <a16:creationId xmlns:a16="http://schemas.microsoft.com/office/drawing/2014/main" id="{5C2B65AE-321E-D2C8-57E9-91F8F18336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60762" cy="576000"/>
          </a:xfrm>
          <a:prstGeom prst="rect">
            <a:avLst/>
          </a:prstGeom>
        </p:spPr>
      </p:pic>
      <p:pic>
        <p:nvPicPr>
          <p:cNvPr id="7" name="Picture 6" descr="logo.png">
            <a:extLst>
              <a:ext uri="{FF2B5EF4-FFF2-40B4-BE49-F238E27FC236}">
                <a16:creationId xmlns:a16="http://schemas.microsoft.com/office/drawing/2014/main" id="{A8EB04FA-1597-A6C5-5178-D8F1B0E23C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>
            <a:extLst>
              <a:ext uri="{FF2B5EF4-FFF2-40B4-BE49-F238E27FC236}">
                <a16:creationId xmlns:a16="http://schemas.microsoft.com/office/drawing/2014/main" id="{A5F9E6FB-DD1D-E989-97E3-24EA4105F7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AA15982C-BA8C-7E7E-5E43-7C839D8EDF27}"/>
              </a:ext>
            </a:extLst>
          </p:cNvPr>
          <p:cNvSpPr txBox="1"/>
          <p:nvPr/>
        </p:nvSpPr>
        <p:spPr>
          <a:xfrm>
            <a:off x="288000" y="704176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2DD4BF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BEWEGUNGEN</a:t>
            </a:r>
            <a:r>
              <a:rPr lang="de-DE" sz="1000" b="1" dirty="0">
                <a:solidFill>
                  <a:srgbClr val="3CDC97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 </a:t>
            </a:r>
            <a:endParaRPr sz="1000" b="1" dirty="0">
              <a:solidFill>
                <a:srgbClr val="3CDC97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F48A9402-5D79-304F-FF33-79B2181C3611}"/>
              </a:ext>
            </a:extLst>
          </p:cNvPr>
          <p:cNvSpPr txBox="1"/>
          <p:nvPr/>
        </p:nvSpPr>
        <p:spPr>
          <a:xfrm>
            <a:off x="288000" y="2016000"/>
            <a:ext cx="475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2400" b="1" dirty="0">
                <a:solidFill>
                  <a:srgbClr val="E6EDF3"/>
                </a:solidFill>
                <a:latin typeface="Open Sans Condensed" pitchFamily="2" charset="0"/>
                <a:ea typeface="Open Sans Condensed" pitchFamily="2" charset="0"/>
                <a:cs typeface="Open Sans Condensed" pitchFamily="2" charset="0"/>
              </a:rPr>
              <a:t>SKELETT-SPIEGEL</a:t>
            </a:r>
            <a:endParaRPr sz="2400" b="1" dirty="0">
              <a:solidFill>
                <a:srgbClr val="E6EDF3"/>
              </a:solidFill>
              <a:latin typeface="Open Sans Condensed" pitchFamily="2" charset="0"/>
              <a:ea typeface="Open Sans Condensed" pitchFamily="2" charset="0"/>
              <a:cs typeface="Open Sans Condensed" pitchFamily="2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B10EA5A6-D7FE-F98F-6623-821350063C76}"/>
              </a:ext>
            </a:extLst>
          </p:cNvPr>
          <p:cNvSpPr txBox="1"/>
          <p:nvPr/>
        </p:nvSpPr>
        <p:spPr>
          <a:xfrm>
            <a:off x="288000" y="2589667"/>
            <a:ext cx="47520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de-DE" sz="1000" b="1" dirty="0">
                <a:solidFill>
                  <a:srgbClr val="2DD4BF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Bewegungserkennung.</a:t>
            </a:r>
            <a:endParaRPr sz="1000" b="1" dirty="0">
              <a:solidFill>
                <a:srgbClr val="2DD4BF"/>
              </a:solidFill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7998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ABF9D68F-7F45-713F-3F56-D81331D37983}"/>
              </a:ext>
            </a:extLst>
          </p:cNvPr>
          <p:cNvSpPr txBox="1"/>
          <p:nvPr/>
        </p:nvSpPr>
        <p:spPr>
          <a:xfrm>
            <a:off x="288000" y="819219"/>
            <a:ext cx="4752000" cy="2466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Font typeface="+mj-lt"/>
              <a:buAutoNum type="romanUcPeriod"/>
            </a:pPr>
            <a:r>
              <a:rPr lang="de-DE" sz="1000" dirty="0">
                <a:solidFill>
                  <a:srgbClr val="2DD4B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EXPLORATION</a:t>
            </a:r>
          </a:p>
          <a:p>
            <a:pPr marL="228600" indent="-228600">
              <a:lnSpc>
                <a:spcPct val="115000"/>
              </a:lnSpc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Stellt Euch vor die Kamera — Ihr werdet zu Strichmännchen mit 17 Punkten.</a:t>
            </a:r>
          </a:p>
          <a:p>
            <a:pPr marL="228600" indent="-228600">
              <a:lnSpc>
                <a:spcPct val="115000"/>
              </a:lnSpc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Spielt den Posen-Parcours: Wer schafft alle vier Posen am schnellsten?</a:t>
            </a:r>
          </a:p>
          <a:p>
            <a:pPr marL="228600" indent="-228600">
              <a:lnSpc>
                <a:spcPct val="115000"/>
              </a:lnSpc>
              <a:buAutoNum type="arabicPeriod"/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Schaltet den Geist-Modus ein: kein Video mehr, nur Skelette. Erkennt ihr trotzdem, wer wer ist?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2"/>
            </a:pPr>
            <a:r>
              <a:rPr lang="de-DE" sz="1000" dirty="0">
                <a:solidFill>
                  <a:srgbClr val="2DD4B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HERAUSFORDERUNG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Findet im Geist-Modus drei Dinge, die man über eine Person herausfinden kann, obwohl man ihr Gesicht nie sieht.</a:t>
            </a:r>
          </a:p>
          <a:p>
            <a:pPr>
              <a:lnSpc>
                <a:spcPct val="115000"/>
              </a:lnSpc>
            </a:pPr>
            <a:endParaRPr lang="de-DE" sz="1000" dirty="0">
              <a:solidFill>
                <a:srgbClr val="141A33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285750" indent="-285750">
              <a:lnSpc>
                <a:spcPct val="115000"/>
              </a:lnSpc>
              <a:buFont typeface="+mj-lt"/>
              <a:buAutoNum type="romanUcPeriod" startAt="3"/>
            </a:pPr>
            <a:r>
              <a:rPr lang="de-DE" sz="1000" dirty="0">
                <a:solidFill>
                  <a:srgbClr val="2DD4BF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REFLEXION</a:t>
            </a:r>
          </a:p>
          <a:p>
            <a:pPr>
              <a:lnSpc>
                <a:spcPct val="115000"/>
              </a:lnSpc>
            </a:pPr>
            <a:r>
              <a:rPr lang="de-DE" sz="1000" dirty="0">
                <a:solidFill>
                  <a:srgbClr val="141A33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Spielkonsolen, Sturz-Melder im Pflegeheim, Kameras im Schwimmbad, die Ertrinkende erkennen. Das ist alles Skelett-Tracking. Wann ist es Fürsorge, wann Überwachung? Und wer entscheidet das?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84EEC51-2128-B9DA-9028-559BEFCCEAFC}"/>
              </a:ext>
            </a:extLst>
          </p:cNvPr>
          <p:cNvSpPr txBox="1"/>
          <p:nvPr/>
        </p:nvSpPr>
        <p:spPr>
          <a:xfrm>
            <a:off x="288000" y="370221"/>
            <a:ext cx="3528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de-DE" dirty="0">
                <a:latin typeface="Open Sans Condensed Light" pitchFamily="2" charset="0"/>
                <a:ea typeface="Open Sans Condensed Light" pitchFamily="2" charset="0"/>
                <a:cs typeface="Open Sans Condensed Light" pitchFamily="2" charset="0"/>
              </a:rPr>
              <a:t>Skelett-Spiegel</a:t>
            </a:r>
            <a:endParaRPr dirty="0">
              <a:latin typeface="Open Sans Condensed Light" pitchFamily="2" charset="0"/>
              <a:ea typeface="Open Sans Condensed Light" pitchFamily="2" charset="0"/>
              <a:cs typeface="Open Sans Condensed Light" pitchFamily="2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1134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 dirty="0">
                <a:solidFill>
                  <a:srgbClr val="8A4FD8"/>
                </a:solidFill>
                <a:latin typeface="Helvetica Neue"/>
              </a:rPr>
              <a:t>DISKUSSIONSKARTE</a:t>
            </a:r>
          </a:p>
        </p:txBody>
      </p:sp>
      <p:pic>
        <p:nvPicPr>
          <p:cNvPr id="4" name="Picture 3" descr="icon_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76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Die smarte Türklingel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8A4FD8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8A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8A4FD8"/>
                </a:solidFill>
                <a:latin typeface="Helvetica Neue"/>
              </a:rPr>
              <a:t>DISKUSSIONSKARTE 1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Die smarte Türklingel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54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Familie Yilmaz hat eine Kamera-Türklingel. Sie filmt automatisch auch den Gehweg — also alle Nachbarn, den Postboten, spielende Kinder. Die Aufnahmen landen auf Servern des Herstellers in den USA.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108800"/>
            <a:ext cx="4752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8A4FD8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38400"/>
            <a:ext cx="4752000" cy="518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Wessen Privatsphäre zählt hier? Was würdet ihr ändern, wenn ihr die Türklingel bauen dürftet? (Tipp: Ihr habt heute eine Kamera gesehen, die Gesichter vor dem Speichern unkenntlich macht…)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828800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C32683"/>
                </a:solidFill>
                <a:latin typeface="Helvetica Neue"/>
              </a:rPr>
              <a:t>DISKUSSIONSKARTE 2 / 6</a:t>
            </a:r>
          </a:p>
        </p:txBody>
      </p:sp>
      <p:pic>
        <p:nvPicPr>
          <p:cNvPr id="4" name="Picture 3" descr="icon_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618545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Das Stadion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C32683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C326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C32683"/>
                </a:solidFill>
                <a:latin typeface="Helvetica Neue"/>
              </a:rPr>
              <a:t>DISKUSSIONSKARTE 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Das Stadion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54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Ein Fußballstadion will Gesichts-Wiedererkennung am Eingang: Bekannte Gewalttäter sollen automatisch erkannt werden. Dafür wird jedes Gesicht aller 50.000 Besucher:innen gescannt und mit einer Datenbank verglichen.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108800"/>
            <a:ext cx="4752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C32683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38400"/>
            <a:ext cx="4752000" cy="38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49.990 Unbeteiligte werden gescannt, um 10 zu finden — fair oder nicht? Und was ist, wenn die KI sich irrt (ihr wisst ja jetzt, dass sie das tut)?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699200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7C4DFF"/>
                </a:solidFill>
                <a:latin typeface="Helvetica Neue"/>
              </a:rPr>
              <a:t>DISKUSSIONSKARTE 3 / 6</a:t>
            </a:r>
          </a:p>
        </p:txBody>
      </p:sp>
      <p:pic>
        <p:nvPicPr>
          <p:cNvPr id="4" name="Picture 3" descr="icon_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716211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Die Schulkamera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7C4DFF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7C4DFF"/>
                </a:solidFill>
                <a:latin typeface="Helvetica Neue"/>
              </a:rPr>
              <a:t>DISKUSSIONSKARTE 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Die Schulkamera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41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Eure Schule überlegt, Kameras mit KI aufzuhängen, die „auffälliges Verhalten“ melden sollen — Rangeleien, Vandalismus. Gespeichert wird angeblich nichts, gemeldet wird nur ein Alarm.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72000"/>
            <a:ext cx="4752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7C4DFF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101600"/>
            <a:ext cx="4752000" cy="38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Würdet ihr euch sicherer fühlen — oder beobachtet? Verändert eine Kamera, wie ihr euch verhaltet, selbst wenn sie „nichts speichert“? (Denkt an die Datenspur-Station!)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2400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E0409F"/>
                </a:solidFill>
                <a:latin typeface="Helvetica Neue"/>
              </a:rPr>
              <a:t>DISKUSSIONSKARTE 4 / 6</a:t>
            </a:r>
          </a:p>
        </p:txBody>
      </p:sp>
      <p:pic>
        <p:nvPicPr>
          <p:cNvPr id="4" name="Picture 3" descr="icon_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310857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Der Gratis-Filter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E0409F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E040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E0409F"/>
                </a:solidFill>
                <a:latin typeface="Helvetica Neue"/>
              </a:rPr>
              <a:t>DISKUSSIONSKARTE 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Der Gratis-Filter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41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Eine Foto-App macht lustige KI-Filter — kostenlos. Im Kleingedruckten: Alle hochgeladenen Gesichter dürfen zum Training neuer KI-Modelle verwendet werden.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72000"/>
            <a:ext cx="4752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E0409F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101600"/>
            <a:ext cx="4752000" cy="38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Ihr habt heute selbst eine KI trainiert — mit Daten, die ihr danach löschen konntet. Warum bieten die meisten Apps das nicht an? Was wäre ein fairer Tausch für einen Gratis-Filter?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2400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B57BFF"/>
                </a:solidFill>
                <a:latin typeface="Helvetica Neue"/>
              </a:rPr>
              <a:t>DISKUSSIONSKARTE 5 / 6</a:t>
            </a:r>
          </a:p>
        </p:txBody>
      </p:sp>
      <p:pic>
        <p:nvPicPr>
          <p:cNvPr id="4" name="Picture 3" descr="icon_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60762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Der Supermarkt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B57BFF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B5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B57BFF"/>
                </a:solidFill>
                <a:latin typeface="Helvetica Neue"/>
              </a:rPr>
              <a:t>DISKUSSIONSKARTE 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Der Supermarkt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54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Ein Supermarkt zählt mit Kameras anonym, wo Kund:innen entlanggehen und wo sie stehen bleiben — wie unsere Wärmekarte, keine Gesichter. Damit werden Regale umgeräumt und Preise platziert.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108800"/>
            <a:ext cx="4752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B57BFF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38400"/>
            <a:ext cx="4752000" cy="25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Ist das okay, weil niemand erkennbar ist? Wo verläuft für euch die Grenze zwischen „anonymer Statistik“ und „Manipulation“?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9599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5B21A6"/>
                </a:solidFill>
                <a:latin typeface="Helvetica Neue"/>
              </a:rPr>
              <a:t>DISKUSSIONSKARTE 6 / 6</a:t>
            </a:r>
          </a:p>
        </p:txBody>
      </p:sp>
      <p:pic>
        <p:nvPicPr>
          <p:cNvPr id="4" name="Picture 3" descr="icon_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000" y="1008000"/>
            <a:ext cx="542476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Ihr seid die Chefs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5B21A6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5B2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5B21A6"/>
                </a:solidFill>
                <a:latin typeface="Helvetica Neue"/>
              </a:rPr>
              <a:t>DISKUSSIONSKARTE 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Ihr seid die Chefs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41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Stellt euch vor: Ihr dürft die Regeln für alle KI-Kameras in eurer Stadt schreiben. Ihr habt heute gesehen, was möglich ist — Erkennen, Verfolgen, aber auch Schützen und Löschen.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72000"/>
            <a:ext cx="4752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5B21A6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101600"/>
            <a:ext cx="4752000" cy="38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Schreibt gemeinsam drei Regeln auf, die jede KI-Kamera einhalten müsste. Vergleicht mit den anderen Gruppen: Welche Regel kommt überall vor?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2400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2161</Words>
  <Application>Microsoft Macintosh PowerPoint</Application>
  <PresentationFormat>Benutzerdefiniert</PresentationFormat>
  <Paragraphs>208</Paragraphs>
  <Slides>24</Slides>
  <Notes>24</Notes>
  <HiddenSlides>12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2" baseType="lpstr">
      <vt:lpstr>Arial</vt:lpstr>
      <vt:lpstr>Calibri</vt:lpstr>
      <vt:lpstr>Helvetica Neue</vt:lpstr>
      <vt:lpstr>Open Sans</vt:lpstr>
      <vt:lpstr>Open Sans Condensed</vt:lpstr>
      <vt:lpstr>Open Sans Condensed Light</vt:lpstr>
      <vt:lpstr>Open Sans Light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 Verständig</cp:lastModifiedBy>
  <cp:revision>33</cp:revision>
  <dcterms:created xsi:type="dcterms:W3CDTF">2013-01-27T09:14:16Z</dcterms:created>
  <dcterms:modified xsi:type="dcterms:W3CDTF">2026-07-26T12:39:09Z</dcterms:modified>
  <cp:category/>
</cp:coreProperties>
</file>