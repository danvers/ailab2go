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82" r:id="rId4"/>
    <p:sldId id="259" r:id="rId5"/>
    <p:sldId id="283" r:id="rId6"/>
    <p:sldId id="261" r:id="rId7"/>
    <p:sldId id="284" r:id="rId8"/>
    <p:sldId id="263" r:id="rId9"/>
    <p:sldId id="285" r:id="rId10"/>
    <p:sldId id="280" r:id="rId11"/>
    <p:sldId id="286" r:id="rId12"/>
    <p:sldId id="267" r:id="rId13"/>
    <p:sldId id="268" r:id="rId14"/>
    <p:sldId id="287" r:id="rId15"/>
    <p:sldId id="270" r:id="rId16"/>
    <p:sldId id="288" r:id="rId17"/>
    <p:sldId id="272" r:id="rId18"/>
    <p:sldId id="289" r:id="rId19"/>
    <p:sldId id="274" r:id="rId20"/>
    <p:sldId id="290" r:id="rId21"/>
    <p:sldId id="276" r:id="rId22"/>
    <p:sldId id="291" r:id="rId23"/>
  </p:sldIdLst>
  <p:sldSz cx="5327650" cy="37798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4FD9"/>
    <a:srgbClr val="7C4DFF"/>
    <a:srgbClr val="593F85"/>
    <a:srgbClr val="2C7E7A"/>
    <a:srgbClr val="8F4662"/>
    <a:srgbClr val="906E40"/>
    <a:srgbClr val="707070"/>
    <a:srgbClr val="6E5597"/>
    <a:srgbClr val="3C6997"/>
    <a:srgbClr val="523E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010"/>
    <p:restoredTop sz="94658"/>
  </p:normalViewPr>
  <p:slideViewPr>
    <p:cSldViewPr snapToGrid="0" snapToObjects="1">
      <p:cViewPr>
        <p:scale>
          <a:sx n="164" d="100"/>
          <a:sy n="164" d="100"/>
        </p:scale>
        <p:origin x="496" y="8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4624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Objekt-Detektiv — front (DE)</a:t>
            </a:r>
          </a:p>
          <a:p>
            <a:r>
              <a:t>Background image: front_01.png (300 dpi, includes glow, scanlines, glitch bars, accent bar).</a:t>
            </a:r>
          </a:p>
          <a:p>
            <a:r>
              <a:t>Kicker, title, tagline are editable text boxes. Accent #4ea8ff. Type: Helvetica Neue.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Objekt-Detektiv — back (DE)</a:t>
            </a:r>
          </a:p>
          <a:p>
            <a:r>
              <a:t>Everything here is native PowerPoint: text boxes, the accent bar and the background rectangle. Edit freely.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9B683-287B-A0F1-E018-2F3EFE442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9319AE-54DB-A8F2-CE6D-DE6C26EF54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9CEFFB-FF3D-F843-06A2-0C06181F2C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Trainiere die KI — front (DE)</a:t>
            </a:r>
          </a:p>
          <a:p>
            <a:r>
              <a:t>Background image: front_02.png (300 dpi, includes glow, scanlines, glitch bars, accent bar).</a:t>
            </a:r>
          </a:p>
          <a:p>
            <a:r>
              <a:t>Kicker, title, tagline are editable text boxes. Accent #b57bff. Type: Helvetica Neue.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9CF9CF-7A38-4EF4-DB5B-29C585D87B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456869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Trainiere die KI — back (DE)</a:t>
            </a:r>
          </a:p>
          <a:p>
            <a:r>
              <a:t>Everything here is native PowerPoint: text boxes, the accent bar and the background rectangle. Edit freely.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83F06-B60D-9C9F-90F2-27406D8A5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B62689-A53D-5D4E-B87D-4BF4B1B263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6FCB6F-BD23-20AD-0BF0-4A50738BAC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Privatsphäre-Schild — front (DE)</a:t>
            </a:r>
          </a:p>
          <a:p>
            <a:r>
              <a:t>Background image: front_03.png (300 dpi, includes glow, scanlines, glitch bars, accent bar).</a:t>
            </a:r>
          </a:p>
          <a:p>
            <a:r>
              <a:t>Kicker, title, tagline are editable text boxes. Accent #3ddc97. Type: Helvetica Neue.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AC68C-BF9D-98AF-BD44-6EBA170BFD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853465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Privatsphäre-Schild — back (DE)</a:t>
            </a:r>
          </a:p>
          <a:p>
            <a:r>
              <a:t>Everything here is native PowerPoint: text boxes, the accent bar and the background rectangle. Edit freely.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7B7CE-73DD-CEFA-B925-CFB1A95BC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4A4BB0-DB84-CEFE-D501-2438078067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E002CA-8BD8-A013-D308-D2684B8CF4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Datenspur — front (DE)</a:t>
            </a:r>
          </a:p>
          <a:p>
            <a:r>
              <a:t>Background image: front_04.png (300 dpi, includes glow, scanlines, glitch bars, accent bar).</a:t>
            </a:r>
          </a:p>
          <a:p>
            <a:r>
              <a:t>Kicker, title, tagline are editable text boxes. Accent #ffb347. Type: Helvetica Neue.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8F150D-BB02-F9F0-3B3E-8FEB0D7C86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353928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Datenspur — back (DE)</a:t>
            </a:r>
          </a:p>
          <a:p>
            <a:r>
              <a:t>Everything here is native PowerPoint: text boxes, the accent bar and the background rectangle. Edit freely.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0D397-FEEA-5332-F35B-87B1BE0DF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413EE4-A1B2-2F07-738A-13C82B1851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284A38-2F1E-B6E9-8C35-E63CB1B902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Täusche die KI — front (DE)</a:t>
            </a:r>
          </a:p>
          <a:p>
            <a:r>
              <a:t>Background image: front_05.png (300 dpi, includes glow, scanlines, glitch bars, accent bar).</a:t>
            </a:r>
          </a:p>
          <a:p>
            <a:r>
              <a:t>Kicker, title, tagline are editable text boxes. Accent #ff5d8f. Type: Helvetica Neue.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7D64B3-7776-EAB9-1183-364306A076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008395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0D478-2722-A24F-0CDD-C95D0F406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0F8239-5030-F718-8D4A-DF3640AEC1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BE494A-0D42-655B-6898-0E8A0ACE28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Täusche die KI — back (DE)</a:t>
            </a:r>
          </a:p>
          <a:p>
            <a:r>
              <a:t>Everything here is native PowerPoint: text boxes, the accent bar and the background rectangle. Edit freely.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017C28-AEC9-E77C-69AE-2B29AF9295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955809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5E8B7-71EE-FEDF-E2E8-936713551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7C3F14-8CDD-6315-A6DD-96F3DB613A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5FC2FE-21F3-7BF8-7E6B-2AAFE75BA7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Skelett-Spiegel — front (DE)</a:t>
            </a:r>
          </a:p>
          <a:p>
            <a:r>
              <a:t>Background image: front_06.png (300 dpi, includes glow, scanlines, glitch bars, accent bar).</a:t>
            </a:r>
          </a:p>
          <a:p>
            <a:r>
              <a:t>Kicker, title, tagline are editable text boxes. Accent #2dd4bf. Type: Helvetica Neue.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038CA-602E-ABAF-7F39-BBC4C03E18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3461226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Skelett-Spiegel — back (DE)</a:t>
            </a:r>
          </a:p>
          <a:p>
            <a:r>
              <a:t>Everything here is native PowerPoint: text boxes, the accent bar and the background rectangle. Edit freely.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smarte Türklingel — front (DE)</a:t>
            </a:r>
          </a:p>
          <a:p>
            <a:r>
              <a:t>Background image: front_07.png (300 dpi, includes glow, scanlines, glitch bars, accent bar).</a:t>
            </a:r>
          </a:p>
          <a:p>
            <a:r>
              <a:t>Kicker, title, tagline are editable text boxes. Accent #8a4fd8. Type: Helvetica Neue.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74391-209E-4927-3AAB-8A880BD4D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14F8AD-6B38-685C-48C1-82C859FE87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BC9ACD-0CB2-185A-3DCD-0784003683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smarte Türklingel — back (DE)</a:t>
            </a:r>
          </a:p>
          <a:p>
            <a:r>
              <a:t>Everything here is native PowerPoint: text boxes, the accent bar and the background rectangle. Edit freely.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CDFE6-F5D8-87C5-CD25-6EE281AEE6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29107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Das Stadion — front (DE)</a:t>
            </a:r>
          </a:p>
          <a:p>
            <a:r>
              <a:t>Background image: front_08.png (300 dpi, includes glow, scanlines, glitch bars, accent bar).</a:t>
            </a:r>
          </a:p>
          <a:p>
            <a:r>
              <a:t>Kicker, title, tagline are editable text boxes. Accent #c32683. Type: Helvetica Neue.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CCEBF-93D4-DA49-0E8A-527FCD294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859C54-D46B-5124-510C-6ED29A7666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E0A7F7-074B-51DD-1293-CF1AA8F176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smarte Türklingel — back (DE)</a:t>
            </a:r>
          </a:p>
          <a:p>
            <a:r>
              <a:t>Everything here is native PowerPoint: text boxes, the accent bar and the background rectangle. Edit freely.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9E6C02-0975-A27E-B4AE-7724C00728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621605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Schulkamera — front (DE)</a:t>
            </a:r>
          </a:p>
          <a:p>
            <a:r>
              <a:t>Background image: front_09.png (300 dpi, includes glow, scanlines, glitch bars, accent bar).</a:t>
            </a:r>
          </a:p>
          <a:p>
            <a:r>
              <a:t>Kicker, title, tagline are editable text boxes. Accent #7c4dff. Type: Helvetica Neue.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55D33-924B-A112-DBDF-39D18B5D8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E70E5D-50A0-6843-09F6-9029B912F4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1DEACC-4D35-973C-2EE1-AFD57C86D9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smarte Türklingel — back (DE)</a:t>
            </a:r>
          </a:p>
          <a:p>
            <a:r>
              <a:t>Everything here is native PowerPoint: text boxes, the accent bar and the background rectangle. Edit freely.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F72473-71B7-50CC-F4FA-FB22C270EA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712586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Der Gratis-Filter — front (DE)</a:t>
            </a:r>
          </a:p>
          <a:p>
            <a:r>
              <a:t>Background image: front_10.png (300 dpi, includes glow, scanlines, glitch bars, accent bar).</a:t>
            </a:r>
          </a:p>
          <a:p>
            <a:r>
              <a:t>Kicker, title, tagline are editable text boxes. Accent #e0409f. Type: Helvetica Neue.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12E2E-1B64-6FDB-A63C-E0AE605F9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70CD63-B140-052B-0BF1-950E699338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C920B6-195C-8F8B-33D2-7E76AB5FCD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smarte Türklingel — back (DE)</a:t>
            </a:r>
          </a:p>
          <a:p>
            <a:r>
              <a:t>Everything here is native PowerPoint: text boxes, the accent bar and the background rectangle. Edit freely.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F4559-1969-5327-A7E0-2863DF24BD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117195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Der Supermarkt — front (DE)</a:t>
            </a:r>
          </a:p>
          <a:p>
            <a:r>
              <a:t>Background image: front_11.png (300 dpi, includes glow, scanlines, glitch bars, accent bar).</a:t>
            </a:r>
          </a:p>
          <a:p>
            <a:r>
              <a:t>Kicker, title, tagline are editable text boxes. Accent #b57bff. Type: Helvetica Neue.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13828-17A5-C090-C93A-EE224C7CD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03C05F-34ED-A14F-BA12-7A3E4674FF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FF3332-E661-BDCB-0099-DE7BF6C60F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smarte Türklingel — back (DE)</a:t>
            </a:r>
          </a:p>
          <a:p>
            <a:r>
              <a:t>Everything here is native PowerPoint: text boxes, the accent bar and the background rectangle. Edit freely.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11F28C-CC2F-09B5-A1EF-216544A17D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7272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microsoft.com/office/2007/relationships/hdphoto" Target="../media/hdphoto3.wdp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jp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9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microsoft.com/office/2007/relationships/hdphoto" Target="../media/hdphoto4.wdp"/><Relationship Id="rId5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jp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microsoft.com/office/2007/relationships/hdphoto" Target="../media/hdphoto5.wdp"/><Relationship Id="rId5" Type="http://schemas.openxmlformats.org/officeDocument/2006/relationships/image" Target="../media/image22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jp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3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microsoft.com/office/2007/relationships/hdphoto" Target="../media/hdphoto6.wdp"/><Relationship Id="rId5" Type="http://schemas.openxmlformats.org/officeDocument/2006/relationships/image" Target="../media/image24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jp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5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jp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ont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328000" cy="3780000"/>
          </a:xfrm>
          <a:prstGeom prst="rect">
            <a:avLst/>
          </a:prstGeom>
        </p:spPr>
      </p:pic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2B0329BF-9114-F165-36E2-8427F9D6D03D}"/>
              </a:ext>
            </a:extLst>
          </p:cNvPr>
          <p:cNvSpPr/>
          <p:nvPr/>
        </p:nvSpPr>
        <p:spPr>
          <a:xfrm>
            <a:off x="2266628" y="1054390"/>
            <a:ext cx="794394" cy="777156"/>
          </a:xfrm>
          <a:prstGeom prst="roundRect">
            <a:avLst/>
          </a:prstGeom>
          <a:solidFill>
            <a:srgbClr val="1F497D">
              <a:alpha val="34510"/>
            </a:srgbClr>
          </a:solidFill>
          <a:ln>
            <a:solidFill>
              <a:srgbClr val="4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Box 2"/>
          <p:cNvSpPr txBox="1"/>
          <p:nvPr/>
        </p:nvSpPr>
        <p:spPr>
          <a:xfrm>
            <a:off x="288000" y="704176"/>
            <a:ext cx="4752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de-DE" sz="1000" b="1" dirty="0">
                <a:solidFill>
                  <a:srgbClr val="4EA8FF"/>
                </a:solidFill>
                <a:latin typeface="Open Sans Condensed" pitchFamily="2" charset="0"/>
                <a:ea typeface="Open Sans Condensed" pitchFamily="2" charset="0"/>
                <a:cs typeface="Open Sans Condensed" pitchFamily="2" charset="0"/>
              </a:rPr>
              <a:t>OBJEKTERKENNUNG</a:t>
            </a:r>
            <a:endParaRPr sz="1000" b="1" dirty="0">
              <a:solidFill>
                <a:srgbClr val="4EA8FF"/>
              </a:solidFill>
              <a:latin typeface="Open Sans Condensed" pitchFamily="2" charset="0"/>
              <a:ea typeface="Open Sans Condensed" pitchFamily="2" charset="0"/>
              <a:cs typeface="Open Sans Condensed" pitchFamily="2" charset="0"/>
            </a:endParaRPr>
          </a:p>
        </p:txBody>
      </p:sp>
      <p:pic>
        <p:nvPicPr>
          <p:cNvPr id="4" name="Picture 3" descr="icon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6000" y="1154968"/>
            <a:ext cx="576000" cy="57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8000" y="2016000"/>
            <a:ext cx="47520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de-DE" sz="2400" b="1" dirty="0">
                <a:solidFill>
                  <a:srgbClr val="E6EDF3"/>
                </a:solidFill>
                <a:latin typeface="Open Sans Condensed" pitchFamily="2" charset="0"/>
                <a:ea typeface="Open Sans Condensed" pitchFamily="2" charset="0"/>
                <a:cs typeface="Open Sans Condensed" pitchFamily="2" charset="0"/>
              </a:rPr>
              <a:t>OBJEKT DETEKTIV</a:t>
            </a:r>
            <a:endParaRPr sz="2400" b="1" dirty="0">
              <a:solidFill>
                <a:srgbClr val="E6EDF3"/>
              </a:solidFill>
              <a:latin typeface="Open Sans Condensed" pitchFamily="2" charset="0"/>
              <a:ea typeface="Open Sans Condensed" pitchFamily="2" charset="0"/>
              <a:cs typeface="Open Sans Condensed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8000" y="2605432"/>
            <a:ext cx="4752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de-DE" sz="1000" dirty="0">
                <a:solidFill>
                  <a:srgbClr val="4EA8FF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Sehen und Erkennen.</a:t>
            </a:r>
            <a:endParaRPr sz="1000" dirty="0">
              <a:solidFill>
                <a:srgbClr val="4EA8FF"/>
              </a:solidFill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0455" y="3348000"/>
            <a:ext cx="706415" cy="180000"/>
          </a:xfrm>
          <a:prstGeom prst="rect">
            <a:avLst/>
          </a:prstGeom>
        </p:spPr>
      </p:pic>
      <p:pic>
        <p:nvPicPr>
          <p:cNvPr id="8" name="Picture 7" descr="logo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8870" y="3348000"/>
            <a:ext cx="778674" cy="180000"/>
          </a:xfrm>
          <a:prstGeom prst="rect">
            <a:avLst/>
          </a:prstGeom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7B1FF43E-C11C-FFBD-3731-632D4CE15D00}"/>
              </a:ext>
            </a:extLst>
          </p:cNvPr>
          <p:cNvSpPr/>
          <p:nvPr/>
        </p:nvSpPr>
        <p:spPr>
          <a:xfrm>
            <a:off x="349857" y="2647798"/>
            <a:ext cx="1542553" cy="79513"/>
          </a:xfrm>
          <a:prstGeom prst="rect">
            <a:avLst/>
          </a:prstGeom>
          <a:solidFill>
            <a:srgbClr val="3C69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3C699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2000"/>
            <a:ext cx="5328000" cy="3780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28000" cy="72000"/>
          </a:xfrm>
          <a:prstGeom prst="rect">
            <a:avLst/>
          </a:prstGeom>
          <a:solidFill>
            <a:srgbClr val="4E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88000" y="370221"/>
            <a:ext cx="3528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de-DE" dirty="0">
                <a:latin typeface="Open Sans Condensed Light" pitchFamily="2" charset="0"/>
                <a:ea typeface="Open Sans Condensed Light" pitchFamily="2" charset="0"/>
                <a:cs typeface="Open Sans Condensed Light" pitchFamily="2" charset="0"/>
              </a:rPr>
              <a:t>OBJEKT DETEKTIV</a:t>
            </a:r>
            <a:endParaRPr dirty="0">
              <a:latin typeface="Open Sans Condensed Light" pitchFamily="2" charset="0"/>
              <a:ea typeface="Open Sans Condensed Light" pitchFamily="2" charset="0"/>
              <a:cs typeface="Open Sans Condensed Light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8000" y="819219"/>
            <a:ext cx="4752000" cy="22855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15000"/>
              </a:lnSpc>
              <a:buFont typeface="+mj-lt"/>
              <a:buAutoNum type="romanUcPeriod"/>
            </a:pPr>
            <a:r>
              <a:rPr lang="de-DE" sz="1000" dirty="0">
                <a:solidFill>
                  <a:srgbClr val="4EA8F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EXPLORATION</a:t>
            </a:r>
            <a:endParaRPr lang="de-DE" sz="1000" dirty="0">
              <a:solidFill>
                <a:srgbClr val="141A33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228600" indent="-228600" algn="l">
              <a:lnSpc>
                <a:spcPct val="115000"/>
              </a:lnSpc>
              <a:buFont typeface="+mj-lt"/>
              <a:buAutoNum type="arabicPeriod"/>
            </a:pPr>
            <a:r>
              <a:rPr lang="de-DE" sz="1000" dirty="0">
                <a:solidFill>
                  <a:srgbClr val="141A3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Haltet</a:t>
            </a:r>
            <a:r>
              <a:rPr sz="1000" dirty="0">
                <a:solidFill>
                  <a:srgbClr val="141A3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Dinge in die Kamera. </a:t>
            </a:r>
            <a:r>
              <a:rPr lang="de-DE" sz="1000" dirty="0">
                <a:solidFill>
                  <a:srgbClr val="141A3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Was erkennt</a:t>
            </a:r>
            <a:r>
              <a:rPr sz="1000" dirty="0">
                <a:solidFill>
                  <a:srgbClr val="141A3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die KI, </a:t>
            </a:r>
            <a:r>
              <a:rPr lang="de-DE" sz="1000" dirty="0">
                <a:solidFill>
                  <a:srgbClr val="141A3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was</a:t>
            </a:r>
            <a:r>
              <a:rPr sz="1000" dirty="0">
                <a:solidFill>
                  <a:srgbClr val="141A3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nicht?</a:t>
            </a:r>
            <a:endParaRPr lang="de-DE" sz="1000" dirty="0">
              <a:solidFill>
                <a:srgbClr val="141A33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228600" indent="-228600">
              <a:lnSpc>
                <a:spcPct val="115000"/>
              </a:lnSpc>
              <a:buFont typeface="+mj-lt"/>
              <a:buAutoNum type="arabicPeriod"/>
            </a:pPr>
            <a:r>
              <a:rPr lang="de-DE" sz="1000" dirty="0">
                <a:solidFill>
                  <a:srgbClr val="141A3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Schiebt den Regler „Wie sicher muss sich die KI sein?“ ganz nach links. Was passiert?</a:t>
            </a:r>
          </a:p>
          <a:p>
            <a:pPr marL="228600" indent="-228600">
              <a:lnSpc>
                <a:spcPct val="115000"/>
              </a:lnSpc>
              <a:buFont typeface="+mj-lt"/>
              <a:buAutoNum type="arabicPeriod"/>
            </a:pPr>
            <a:r>
              <a:rPr lang="de-DE" sz="1000" dirty="0">
                <a:solidFill>
                  <a:srgbClr val="141A3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Schiebt den Regler ganz nach rechts. Was übersieht die KI jetzt?</a:t>
            </a:r>
          </a:p>
          <a:p>
            <a:pPr marL="228600" indent="-228600">
              <a:lnSpc>
                <a:spcPct val="115000"/>
              </a:lnSpc>
              <a:buFont typeface="+mj-lt"/>
              <a:buAutoNum type="arabicPeriod"/>
            </a:pPr>
            <a:endParaRPr lang="de-DE" sz="1000" dirty="0">
              <a:solidFill>
                <a:srgbClr val="141A33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285750" indent="-285750">
              <a:lnSpc>
                <a:spcPct val="115000"/>
              </a:lnSpc>
              <a:buFont typeface="+mj-lt"/>
              <a:buAutoNum type="romanUcPeriod" startAt="2"/>
            </a:pPr>
            <a:r>
              <a:rPr lang="de-DE" sz="1000" dirty="0">
                <a:solidFill>
                  <a:srgbClr val="4EA8F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HERAUSFORDERUNG</a:t>
            </a:r>
          </a:p>
          <a:p>
            <a:pPr>
              <a:lnSpc>
                <a:spcPct val="115000"/>
              </a:lnSpc>
            </a:pPr>
            <a:r>
              <a:rPr lang="de-DE" sz="1000" dirty="0">
                <a:solidFill>
                  <a:srgbClr val="141A3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Findet einen Gegenstand, den die KI mit über 80 % erkennt und einen Gegenstand, den sie komplett ignoriert.</a:t>
            </a:r>
          </a:p>
          <a:p>
            <a:pPr>
              <a:lnSpc>
                <a:spcPct val="115000"/>
              </a:lnSpc>
            </a:pPr>
            <a:endParaRPr lang="de-DE" sz="1000" dirty="0">
              <a:solidFill>
                <a:srgbClr val="141A33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285750" indent="-285750">
              <a:lnSpc>
                <a:spcPct val="115000"/>
              </a:lnSpc>
              <a:buFont typeface="+mj-lt"/>
              <a:buAutoNum type="romanUcPeriod" startAt="3"/>
            </a:pPr>
            <a:r>
              <a:rPr lang="de-DE" sz="1000" dirty="0">
                <a:solidFill>
                  <a:srgbClr val="4EA8F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REFLEXION</a:t>
            </a:r>
          </a:p>
          <a:p>
            <a:pPr>
              <a:lnSpc>
                <a:spcPct val="115000"/>
              </a:lnSpc>
            </a:pPr>
            <a:r>
              <a:rPr lang="de-DE" sz="1000" dirty="0">
                <a:solidFill>
                  <a:srgbClr val="141A3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Die KI kennt genau 80 Dinge. Wer hat das entschieden und was bedeutet das für alles, was sie nicht kennt?</a:t>
            </a:r>
          </a:p>
        </p:txBody>
      </p:sp>
      <p:pic>
        <p:nvPicPr>
          <p:cNvPr id="14" name="Picture 1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00" y="3438000"/>
            <a:ext cx="565132" cy="144000"/>
          </a:xfrm>
          <a:prstGeom prst="rect">
            <a:avLst/>
          </a:prstGeom>
        </p:spPr>
      </p:pic>
      <p:pic>
        <p:nvPicPr>
          <p:cNvPr id="15" name="Picture 14" descr="log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132" y="3438000"/>
            <a:ext cx="622939" cy="14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960000" y="3459600"/>
            <a:ext cx="1080000" cy="14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651" b="0">
                <a:solidFill>
                  <a:srgbClr val="8A92AB"/>
                </a:solidFill>
                <a:latin typeface="Helvetica Neue"/>
              </a:rPr>
              <a:t>aiwarenesslab.io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FE91B-E325-956A-5528-B5BAD8F70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ont_02.png">
            <a:extLst>
              <a:ext uri="{FF2B5EF4-FFF2-40B4-BE49-F238E27FC236}">
                <a16:creationId xmlns:a16="http://schemas.microsoft.com/office/drawing/2014/main" id="{1793E0C4-3363-BCEE-2418-5996A7307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328000" cy="3780000"/>
          </a:xfrm>
          <a:prstGeom prst="rect">
            <a:avLst/>
          </a:prstGeom>
        </p:spPr>
      </p:pic>
      <p:pic>
        <p:nvPicPr>
          <p:cNvPr id="9" name="Picture 1" descr="front_02.png">
            <a:extLst>
              <a:ext uri="{FF2B5EF4-FFF2-40B4-BE49-F238E27FC236}">
                <a16:creationId xmlns:a16="http://schemas.microsoft.com/office/drawing/2014/main" id="{F31A8C19-5D3F-96B5-086D-54D66F4F9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0" y="0"/>
            <a:ext cx="5328000" cy="3780000"/>
          </a:xfrm>
          <a:prstGeom prst="rect">
            <a:avLst/>
          </a:prstGeom>
        </p:spPr>
      </p:pic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9E348B07-910B-D402-D576-4062CED5C447}"/>
              </a:ext>
            </a:extLst>
          </p:cNvPr>
          <p:cNvSpPr/>
          <p:nvPr/>
        </p:nvSpPr>
        <p:spPr>
          <a:xfrm>
            <a:off x="2266453" y="1048454"/>
            <a:ext cx="794394" cy="777156"/>
          </a:xfrm>
          <a:prstGeom prst="roundRect">
            <a:avLst/>
          </a:prstGeom>
          <a:solidFill>
            <a:srgbClr val="6D5497">
              <a:alpha val="56078"/>
            </a:srgbClr>
          </a:solidFill>
          <a:ln>
            <a:solidFill>
              <a:srgbClr val="B6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Picture 3" descr="icon_02.png">
            <a:extLst>
              <a:ext uri="{FF2B5EF4-FFF2-40B4-BE49-F238E27FC236}">
                <a16:creationId xmlns:a16="http://schemas.microsoft.com/office/drawing/2014/main" id="{2298120E-5DD9-C701-EED7-7F2B04B2DB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35746" y="1149032"/>
            <a:ext cx="655807" cy="576000"/>
          </a:xfrm>
          <a:prstGeom prst="rect">
            <a:avLst/>
          </a:prstGeom>
        </p:spPr>
      </p:pic>
      <p:pic>
        <p:nvPicPr>
          <p:cNvPr id="7" name="Picture 6" descr="logo.png">
            <a:extLst>
              <a:ext uri="{FF2B5EF4-FFF2-40B4-BE49-F238E27FC236}">
                <a16:creationId xmlns:a16="http://schemas.microsoft.com/office/drawing/2014/main" id="{5B03C1D7-B4B1-2452-EF35-54CAB962A4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0455" y="3348000"/>
            <a:ext cx="706415" cy="180000"/>
          </a:xfrm>
          <a:prstGeom prst="rect">
            <a:avLst/>
          </a:prstGeom>
        </p:spPr>
      </p:pic>
      <p:pic>
        <p:nvPicPr>
          <p:cNvPr id="8" name="Picture 7" descr="logo2.png">
            <a:extLst>
              <a:ext uri="{FF2B5EF4-FFF2-40B4-BE49-F238E27FC236}">
                <a16:creationId xmlns:a16="http://schemas.microsoft.com/office/drawing/2014/main" id="{F6C25346-6C58-8F13-2D99-5A373877CB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08870" y="3348000"/>
            <a:ext cx="778674" cy="18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D4E6AD-AB82-4AF5-C182-2D69961D0098}"/>
              </a:ext>
            </a:extLst>
          </p:cNvPr>
          <p:cNvSpPr txBox="1"/>
          <p:nvPr/>
        </p:nvSpPr>
        <p:spPr>
          <a:xfrm>
            <a:off x="288000" y="704176"/>
            <a:ext cx="4752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de-DE" sz="1000" b="1" dirty="0">
                <a:solidFill>
                  <a:srgbClr val="B67CFF"/>
                </a:solidFill>
                <a:latin typeface="Open Sans Condensed" pitchFamily="2" charset="0"/>
                <a:ea typeface="Open Sans Condensed" pitchFamily="2" charset="0"/>
                <a:cs typeface="Open Sans Condensed" pitchFamily="2" charset="0"/>
              </a:rPr>
              <a:t>OBJEKTERKENNUNG</a:t>
            </a:r>
            <a:endParaRPr sz="1000" b="1" dirty="0">
              <a:solidFill>
                <a:srgbClr val="B67CFF"/>
              </a:solidFill>
              <a:latin typeface="Open Sans Condensed" pitchFamily="2" charset="0"/>
              <a:ea typeface="Open Sans Condensed" pitchFamily="2" charset="0"/>
              <a:cs typeface="Open Sans Condensed" pitchFamily="2" charset="0"/>
            </a:endParaRP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72B189D4-BE20-BD4A-F03E-82CD4CE17E4C}"/>
              </a:ext>
            </a:extLst>
          </p:cNvPr>
          <p:cNvSpPr txBox="1"/>
          <p:nvPr/>
        </p:nvSpPr>
        <p:spPr>
          <a:xfrm>
            <a:off x="288000" y="2016000"/>
            <a:ext cx="47520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de-DE" sz="2400" b="1" dirty="0">
                <a:solidFill>
                  <a:srgbClr val="E6EDF3"/>
                </a:solidFill>
                <a:latin typeface="Open Sans Condensed" pitchFamily="2" charset="0"/>
                <a:ea typeface="Open Sans Condensed" pitchFamily="2" charset="0"/>
                <a:cs typeface="Open Sans Condensed" pitchFamily="2" charset="0"/>
              </a:rPr>
              <a:t>TRAINIERE DIE KI</a:t>
            </a:r>
            <a:endParaRPr sz="2400" b="1" dirty="0">
              <a:solidFill>
                <a:srgbClr val="E6EDF3"/>
              </a:solidFill>
              <a:latin typeface="Open Sans Condensed" pitchFamily="2" charset="0"/>
              <a:ea typeface="Open Sans Condensed" pitchFamily="2" charset="0"/>
              <a:cs typeface="Open Sans Condensed" pitchFamily="2" charset="0"/>
            </a:endParaRP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EB54A2C6-7743-E220-FDC4-3D50EA13621A}"/>
              </a:ext>
            </a:extLst>
          </p:cNvPr>
          <p:cNvSpPr txBox="1"/>
          <p:nvPr/>
        </p:nvSpPr>
        <p:spPr>
          <a:xfrm>
            <a:off x="288000" y="2605432"/>
            <a:ext cx="4752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de-DE" sz="1000" b="1" dirty="0">
                <a:solidFill>
                  <a:srgbClr val="B67CFF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Ihr gestaltet mit.</a:t>
            </a:r>
            <a:endParaRPr sz="1000" b="1" dirty="0">
              <a:solidFill>
                <a:srgbClr val="B67CFF"/>
              </a:solidFill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01FF6DE8-EE2B-9B82-DFD7-907952833B60}"/>
              </a:ext>
            </a:extLst>
          </p:cNvPr>
          <p:cNvSpPr/>
          <p:nvPr/>
        </p:nvSpPr>
        <p:spPr>
          <a:xfrm>
            <a:off x="349857" y="2647798"/>
            <a:ext cx="1542553" cy="79513"/>
          </a:xfrm>
          <a:prstGeom prst="rect">
            <a:avLst/>
          </a:prstGeom>
          <a:solidFill>
            <a:srgbClr val="6E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3C699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5907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328000" cy="3780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28000" cy="72000"/>
          </a:xfrm>
          <a:prstGeom prst="rect">
            <a:avLst/>
          </a:prstGeom>
          <a:solidFill>
            <a:srgbClr val="B5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00" y="3438000"/>
            <a:ext cx="565132" cy="144000"/>
          </a:xfrm>
          <a:prstGeom prst="rect">
            <a:avLst/>
          </a:prstGeom>
        </p:spPr>
      </p:pic>
      <p:pic>
        <p:nvPicPr>
          <p:cNvPr id="15" name="Picture 14" descr="log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132" y="3438000"/>
            <a:ext cx="622939" cy="14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960000" y="3459600"/>
            <a:ext cx="1080000" cy="14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651" b="0">
                <a:solidFill>
                  <a:srgbClr val="8A92AB"/>
                </a:solidFill>
                <a:latin typeface="Helvetica Neue"/>
              </a:rPr>
              <a:t>aiwarenesslab.io</a:t>
            </a:r>
          </a:p>
        </p:txBody>
      </p:sp>
      <p:sp>
        <p:nvSpPr>
          <p:cNvPr id="17" name="TextBox 6">
            <a:extLst>
              <a:ext uri="{FF2B5EF4-FFF2-40B4-BE49-F238E27FC236}">
                <a16:creationId xmlns:a16="http://schemas.microsoft.com/office/drawing/2014/main" id="{A2B8C6FC-908A-42C5-D7C6-0B4F5B6FAFE4}"/>
              </a:ext>
            </a:extLst>
          </p:cNvPr>
          <p:cNvSpPr txBox="1"/>
          <p:nvPr/>
        </p:nvSpPr>
        <p:spPr>
          <a:xfrm>
            <a:off x="288000" y="819219"/>
            <a:ext cx="4752000" cy="2284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15000"/>
              </a:lnSpc>
              <a:buFont typeface="+mj-lt"/>
              <a:buAutoNum type="romanUcPeriod"/>
            </a:pPr>
            <a:r>
              <a:rPr lang="de-DE" sz="1000" dirty="0">
                <a:solidFill>
                  <a:srgbClr val="B67CF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EXPLORATION</a:t>
            </a:r>
          </a:p>
          <a:p>
            <a:pPr marL="228600" indent="-228600">
              <a:lnSpc>
                <a:spcPct val="115000"/>
              </a:lnSpc>
              <a:buFont typeface="+mj-lt"/>
              <a:buAutoNum type="arabicPeriod"/>
            </a:pPr>
            <a:r>
              <a:rPr lang="de-DE" sz="1000" dirty="0">
                <a:solidFill>
                  <a:srgbClr val="141A3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Wählt zwei Gegenstände. Gebt ihnen im Bildschirm echte Namen. </a:t>
            </a:r>
          </a:p>
          <a:p>
            <a:pPr marL="228600" indent="-228600">
              <a:lnSpc>
                <a:spcPct val="115000"/>
              </a:lnSpc>
              <a:buFont typeface="+mj-lt"/>
              <a:buAutoNum type="arabicPeriod"/>
            </a:pPr>
            <a:r>
              <a:rPr lang="de-DE" sz="1000" dirty="0">
                <a:solidFill>
                  <a:srgbClr val="141A3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Nehmt von jedem 8–10 Beispiele aus verschiedenen Winkeln auf!</a:t>
            </a:r>
          </a:p>
          <a:p>
            <a:pPr marL="228600" indent="-228600">
              <a:lnSpc>
                <a:spcPct val="115000"/>
              </a:lnSpc>
              <a:buFont typeface="+mj-lt"/>
              <a:buAutoNum type="arabicPeriod"/>
            </a:pPr>
            <a:r>
              <a:rPr lang="de-DE" sz="1000" dirty="0">
                <a:solidFill>
                  <a:srgbClr val="141A3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Testet: Erkennt die KI beide zuverlässig?</a:t>
            </a:r>
          </a:p>
          <a:p>
            <a:pPr marL="228600" indent="-228600">
              <a:lnSpc>
                <a:spcPct val="115000"/>
              </a:lnSpc>
              <a:buFont typeface="+mj-lt"/>
              <a:buAutoNum type="arabicPeriod"/>
            </a:pPr>
            <a:endParaRPr lang="de-DE" sz="1000" dirty="0">
              <a:solidFill>
                <a:srgbClr val="141A33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285750" indent="-285750">
              <a:lnSpc>
                <a:spcPct val="115000"/>
              </a:lnSpc>
              <a:buFont typeface="+mj-lt"/>
              <a:buAutoNum type="romanUcPeriod" startAt="2"/>
            </a:pPr>
            <a:r>
              <a:rPr lang="de-DE" sz="1000" dirty="0">
                <a:solidFill>
                  <a:srgbClr val="B67CF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HERAUSFORDERUNG</a:t>
            </a:r>
          </a:p>
          <a:p>
            <a:pPr>
              <a:lnSpc>
                <a:spcPct val="115000"/>
              </a:lnSpc>
            </a:pPr>
            <a:r>
              <a:rPr lang="de-DE" sz="1000" dirty="0">
                <a:solidFill>
                  <a:srgbClr val="141A3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Der Bias-Versuch: Trainiere absichtlich schlecht — nehmt ein Ding nur von vorne auf, das andere nur von hinten. Dreht dann beide. Was passiert, und wie heißt dieses Problem bei echten KI-Systemen?</a:t>
            </a:r>
          </a:p>
          <a:p>
            <a:pPr>
              <a:lnSpc>
                <a:spcPct val="115000"/>
              </a:lnSpc>
            </a:pPr>
            <a:endParaRPr lang="de-DE" sz="1000" dirty="0">
              <a:solidFill>
                <a:srgbClr val="141A33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285750" indent="-285750">
              <a:lnSpc>
                <a:spcPct val="115000"/>
              </a:lnSpc>
              <a:buFont typeface="+mj-lt"/>
              <a:buAutoNum type="romanUcPeriod" startAt="3"/>
            </a:pPr>
            <a:r>
              <a:rPr lang="de-DE" sz="1000" dirty="0">
                <a:solidFill>
                  <a:srgbClr val="B67CF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REFLEXION</a:t>
            </a:r>
          </a:p>
          <a:p>
            <a:pPr>
              <a:lnSpc>
                <a:spcPct val="115000"/>
              </a:lnSpc>
            </a:pPr>
            <a:r>
              <a:rPr lang="de-DE" sz="1000" dirty="0">
                <a:solidFill>
                  <a:srgbClr val="141A3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Hier könnt ihr alle Daten einfach per Knopfdruck löschen. Wo im Internet hättet ihr das auch gern?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A3B8FFB-9B71-50CF-C81F-4BF594F8B42B}"/>
              </a:ext>
            </a:extLst>
          </p:cNvPr>
          <p:cNvSpPr txBox="1"/>
          <p:nvPr/>
        </p:nvSpPr>
        <p:spPr>
          <a:xfrm>
            <a:off x="288000" y="370221"/>
            <a:ext cx="3528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de-DE" dirty="0">
                <a:latin typeface="Open Sans Condensed Light" pitchFamily="2" charset="0"/>
                <a:ea typeface="Open Sans Condensed Light" pitchFamily="2" charset="0"/>
                <a:cs typeface="Open Sans Condensed Light" pitchFamily="2" charset="0"/>
              </a:rPr>
              <a:t>TRAINIERE DIE KI</a:t>
            </a:r>
            <a:endParaRPr dirty="0">
              <a:latin typeface="Open Sans Condensed Light" pitchFamily="2" charset="0"/>
              <a:ea typeface="Open Sans Condensed Light" pitchFamily="2" charset="0"/>
              <a:cs typeface="Open Sans Condensed Light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8F24B-2E0D-1CF0-B5AC-084608F5B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ont_03.png">
            <a:extLst>
              <a:ext uri="{FF2B5EF4-FFF2-40B4-BE49-F238E27FC236}">
                <a16:creationId xmlns:a16="http://schemas.microsoft.com/office/drawing/2014/main" id="{8C747E6D-C7C7-BCB3-78A7-D91E3151F2D9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0" y="0"/>
            <a:ext cx="5328000" cy="3780000"/>
          </a:xfrm>
          <a:prstGeom prst="rect">
            <a:avLst/>
          </a:prstGeom>
        </p:spPr>
      </p:pic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7956C4DA-C7C9-D2B4-8365-B3EC7A30B99B}"/>
              </a:ext>
            </a:extLst>
          </p:cNvPr>
          <p:cNvSpPr/>
          <p:nvPr/>
        </p:nvSpPr>
        <p:spPr>
          <a:xfrm>
            <a:off x="2303813" y="1048454"/>
            <a:ext cx="794394" cy="777156"/>
          </a:xfrm>
          <a:prstGeom prst="roundRect">
            <a:avLst/>
          </a:prstGeom>
          <a:solidFill>
            <a:srgbClr val="676767">
              <a:alpha val="44706"/>
            </a:srgbClr>
          </a:solidFill>
          <a:ln>
            <a:solidFill>
              <a:srgbClr val="B5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Picture 3" descr="icon_03.png">
            <a:extLst>
              <a:ext uri="{FF2B5EF4-FFF2-40B4-BE49-F238E27FC236}">
                <a16:creationId xmlns:a16="http://schemas.microsoft.com/office/drawing/2014/main" id="{39CD66F4-D61F-C00E-4086-01742D77D6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09010" y="1174509"/>
            <a:ext cx="384000" cy="576000"/>
          </a:xfrm>
          <a:prstGeom prst="rect">
            <a:avLst/>
          </a:prstGeom>
        </p:spPr>
      </p:pic>
      <p:pic>
        <p:nvPicPr>
          <p:cNvPr id="7" name="Picture 6" descr="logo.png">
            <a:extLst>
              <a:ext uri="{FF2B5EF4-FFF2-40B4-BE49-F238E27FC236}">
                <a16:creationId xmlns:a16="http://schemas.microsoft.com/office/drawing/2014/main" id="{2B2F67BD-DA5C-1585-A38C-5FD8ECCE18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0455" y="3348000"/>
            <a:ext cx="706415" cy="180000"/>
          </a:xfrm>
          <a:prstGeom prst="rect">
            <a:avLst/>
          </a:prstGeom>
        </p:spPr>
      </p:pic>
      <p:pic>
        <p:nvPicPr>
          <p:cNvPr id="8" name="Picture 7" descr="logo2.png">
            <a:extLst>
              <a:ext uri="{FF2B5EF4-FFF2-40B4-BE49-F238E27FC236}">
                <a16:creationId xmlns:a16="http://schemas.microsoft.com/office/drawing/2014/main" id="{F7355155-B1A4-1974-B86D-033736DCFA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08870" y="3348000"/>
            <a:ext cx="778674" cy="18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F576DE6-5E39-599D-7320-217CFB8DACD3}"/>
              </a:ext>
            </a:extLst>
          </p:cNvPr>
          <p:cNvSpPr txBox="1"/>
          <p:nvPr/>
        </p:nvSpPr>
        <p:spPr>
          <a:xfrm>
            <a:off x="288000" y="704176"/>
            <a:ext cx="4752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de-DE" sz="1000" b="1" dirty="0">
                <a:solidFill>
                  <a:schemeClr val="bg1"/>
                </a:solidFill>
                <a:latin typeface="Open Sans Condensed" pitchFamily="2" charset="0"/>
                <a:ea typeface="Open Sans Condensed" pitchFamily="2" charset="0"/>
                <a:cs typeface="Open Sans Condensed" pitchFamily="2" charset="0"/>
              </a:rPr>
              <a:t>PRIVATHEIT</a:t>
            </a:r>
            <a:endParaRPr sz="1000" b="1" dirty="0">
              <a:solidFill>
                <a:schemeClr val="bg1"/>
              </a:solidFill>
              <a:latin typeface="Open Sans Condensed" pitchFamily="2" charset="0"/>
              <a:ea typeface="Open Sans Condensed" pitchFamily="2" charset="0"/>
              <a:cs typeface="Open Sans Condensed" pitchFamily="2" charset="0"/>
            </a:endParaRP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2A4D927E-898D-C0F9-F3BB-C257A9D51DCF}"/>
              </a:ext>
            </a:extLst>
          </p:cNvPr>
          <p:cNvSpPr txBox="1"/>
          <p:nvPr/>
        </p:nvSpPr>
        <p:spPr>
          <a:xfrm>
            <a:off x="288000" y="2016000"/>
            <a:ext cx="47520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de-DE" sz="2400" b="1" dirty="0">
                <a:solidFill>
                  <a:srgbClr val="E6EDF3"/>
                </a:solidFill>
                <a:latin typeface="Open Sans Condensed" pitchFamily="2" charset="0"/>
                <a:ea typeface="Open Sans Condensed" pitchFamily="2" charset="0"/>
                <a:cs typeface="Open Sans Condensed" pitchFamily="2" charset="0"/>
              </a:rPr>
              <a:t>PRIVATSPHÄRE-SCHILD</a:t>
            </a:r>
            <a:endParaRPr sz="2400" b="1" dirty="0">
              <a:solidFill>
                <a:srgbClr val="E6EDF3"/>
              </a:solidFill>
              <a:latin typeface="Open Sans Condensed" pitchFamily="2" charset="0"/>
              <a:ea typeface="Open Sans Condensed" pitchFamily="2" charset="0"/>
              <a:cs typeface="Open Sans Condensed" pitchFamily="2" charset="0"/>
            </a:endParaRP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4ED6717A-C8AD-DAF1-93C6-7E4867592E6F}"/>
              </a:ext>
            </a:extLst>
          </p:cNvPr>
          <p:cNvSpPr txBox="1"/>
          <p:nvPr/>
        </p:nvSpPr>
        <p:spPr>
          <a:xfrm>
            <a:off x="288000" y="2600177"/>
            <a:ext cx="4752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de-DE" sz="1000" b="1" dirty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Privacy by Design.</a:t>
            </a:r>
            <a:endParaRPr sz="1000" b="1" dirty="0">
              <a:solidFill>
                <a:schemeClr val="bg1"/>
              </a:solidFill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B9CAD5D-33E9-944C-9384-CB96BBCB8445}"/>
              </a:ext>
            </a:extLst>
          </p:cNvPr>
          <p:cNvSpPr/>
          <p:nvPr/>
        </p:nvSpPr>
        <p:spPr>
          <a:xfrm>
            <a:off x="349857" y="2647798"/>
            <a:ext cx="1542553" cy="79513"/>
          </a:xfrm>
          <a:prstGeom prst="rect">
            <a:avLst/>
          </a:prstGeom>
          <a:solidFill>
            <a:srgbClr val="707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3C699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3618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328000" cy="3780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28000" cy="720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pic>
        <p:nvPicPr>
          <p:cNvPr id="14" name="Picture 1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00" y="3438000"/>
            <a:ext cx="565132" cy="144000"/>
          </a:xfrm>
          <a:prstGeom prst="rect">
            <a:avLst/>
          </a:prstGeom>
        </p:spPr>
      </p:pic>
      <p:pic>
        <p:nvPicPr>
          <p:cNvPr id="15" name="Picture 14" descr="log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132" y="3438000"/>
            <a:ext cx="622939" cy="14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960000" y="3459600"/>
            <a:ext cx="1080000" cy="14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651" b="0">
                <a:solidFill>
                  <a:srgbClr val="8A92AB"/>
                </a:solidFill>
                <a:latin typeface="Helvetica Neue"/>
              </a:rPr>
              <a:t>aiwarenesslab.io</a:t>
            </a:r>
          </a:p>
        </p:txBody>
      </p:sp>
      <p:sp>
        <p:nvSpPr>
          <p:cNvPr id="17" name="TextBox 6">
            <a:extLst>
              <a:ext uri="{FF2B5EF4-FFF2-40B4-BE49-F238E27FC236}">
                <a16:creationId xmlns:a16="http://schemas.microsoft.com/office/drawing/2014/main" id="{671CF2A7-1C12-E96A-0FFC-2946105AF0CB}"/>
              </a:ext>
            </a:extLst>
          </p:cNvPr>
          <p:cNvSpPr txBox="1"/>
          <p:nvPr/>
        </p:nvSpPr>
        <p:spPr>
          <a:xfrm>
            <a:off x="288000" y="819219"/>
            <a:ext cx="4752000" cy="2466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15000"/>
              </a:lnSpc>
              <a:buFont typeface="+mj-lt"/>
              <a:buAutoNum type="romanUcPeriod"/>
            </a:pPr>
            <a:r>
              <a:rPr lang="de-DE" sz="1000" dirty="0">
                <a:solidFill>
                  <a:srgbClr val="766F67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EXPLORATION</a:t>
            </a:r>
          </a:p>
          <a:p>
            <a:pPr marL="228600" indent="-228600">
              <a:lnSpc>
                <a:spcPct val="115000"/>
              </a:lnSpc>
              <a:buFont typeface="+mj-lt"/>
              <a:buAutoNum type="arabicPeriod"/>
            </a:pPr>
            <a:r>
              <a:rPr lang="de-DE" sz="1000" dirty="0">
                <a:solidFill>
                  <a:srgbClr val="141A3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Schaut in die Kamera — Eure Gesichter werden sofort unkenntlich gemacht.</a:t>
            </a:r>
          </a:p>
          <a:p>
            <a:pPr marL="228600" indent="-228600">
              <a:lnSpc>
                <a:spcPct val="115000"/>
              </a:lnSpc>
              <a:buFont typeface="+mj-lt"/>
              <a:buAutoNum type="arabicPeriod"/>
            </a:pPr>
            <a:r>
              <a:rPr lang="de-DE" sz="1000" dirty="0">
                <a:solidFill>
                  <a:srgbClr val="141A3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Probiert die drei Schutz-Stile aus. Schaltet den Schutz kurz aus: Wie fühlt sich der Unterschied an? </a:t>
            </a:r>
          </a:p>
          <a:p>
            <a:pPr marL="228600" indent="-228600">
              <a:lnSpc>
                <a:spcPct val="115000"/>
              </a:lnSpc>
              <a:buFont typeface="+mj-lt"/>
              <a:buAutoNum type="arabicPeriod"/>
            </a:pPr>
            <a:r>
              <a:rPr lang="de-DE" sz="1000" dirty="0">
                <a:solidFill>
                  <a:srgbClr val="141A3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Testet die Grenzen: Kopf drehen, Hand vors halbe Gesicht, Sonnenbrille usw..</a:t>
            </a:r>
          </a:p>
          <a:p>
            <a:pPr marL="228600" indent="-228600">
              <a:lnSpc>
                <a:spcPct val="115000"/>
              </a:lnSpc>
              <a:buFont typeface="+mj-lt"/>
              <a:buAutoNum type="arabicPeriod"/>
            </a:pPr>
            <a:endParaRPr lang="de-DE" sz="1000" dirty="0">
              <a:solidFill>
                <a:srgbClr val="141A33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285750" indent="-285750">
              <a:lnSpc>
                <a:spcPct val="115000"/>
              </a:lnSpc>
              <a:buFont typeface="+mj-lt"/>
              <a:buAutoNum type="romanUcPeriod" startAt="2"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HERAUSFORDERUNG</a:t>
            </a:r>
          </a:p>
          <a:p>
            <a:pPr>
              <a:lnSpc>
                <a:spcPct val="115000"/>
              </a:lnSpc>
            </a:pPr>
            <a:r>
              <a:rPr lang="de-DE" sz="1000" dirty="0">
                <a:solidFill>
                  <a:srgbClr val="141A3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Findet zwei Wege, wie der Schutz versagt. Notiert: Warum ist das bei einem „Schutz-Versprechen“ ein Problem?</a:t>
            </a:r>
          </a:p>
          <a:p>
            <a:pPr>
              <a:lnSpc>
                <a:spcPct val="115000"/>
              </a:lnSpc>
            </a:pPr>
            <a:endParaRPr lang="de-DE" sz="1000" dirty="0">
              <a:solidFill>
                <a:srgbClr val="141A33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285750" indent="-285750">
              <a:lnSpc>
                <a:spcPct val="115000"/>
              </a:lnSpc>
              <a:buFont typeface="+mj-lt"/>
              <a:buAutoNum type="romanUcPeriod" startAt="3"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REFLEXION</a:t>
            </a:r>
          </a:p>
          <a:p>
            <a:pPr>
              <a:lnSpc>
                <a:spcPct val="115000"/>
              </a:lnSpc>
            </a:pPr>
            <a:r>
              <a:rPr lang="de-DE" sz="1000" dirty="0">
                <a:solidFill>
                  <a:srgbClr val="141A3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Erkennen („da ist ein Gesicht“) ist nicht Wiedererkennen („das ist Ali aus der 8b“). Warum ist dieser Unterschied so wichtig?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A1D3441-0674-025D-3D15-24210519E795}"/>
              </a:ext>
            </a:extLst>
          </p:cNvPr>
          <p:cNvSpPr txBox="1"/>
          <p:nvPr/>
        </p:nvSpPr>
        <p:spPr>
          <a:xfrm>
            <a:off x="288000" y="370221"/>
            <a:ext cx="3528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de-DE" dirty="0">
                <a:latin typeface="Open Sans Condensed Light" pitchFamily="2" charset="0"/>
                <a:ea typeface="Open Sans Condensed Light" pitchFamily="2" charset="0"/>
                <a:cs typeface="Open Sans Condensed Light" pitchFamily="2" charset="0"/>
              </a:rPr>
              <a:t>PRIVATSPHÄRE-SCHILD</a:t>
            </a:r>
            <a:endParaRPr dirty="0">
              <a:latin typeface="Open Sans Condensed Light" pitchFamily="2" charset="0"/>
              <a:ea typeface="Open Sans Condensed Light" pitchFamily="2" charset="0"/>
              <a:cs typeface="Open Sans Condensed Light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5A93D-4E33-0806-049D-70F7BC472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ont_04.png">
            <a:extLst>
              <a:ext uri="{FF2B5EF4-FFF2-40B4-BE49-F238E27FC236}">
                <a16:creationId xmlns:a16="http://schemas.microsoft.com/office/drawing/2014/main" id="{C88FDA1B-F42E-4C51-9EF3-DF7818BD6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0" y="0"/>
            <a:ext cx="5328000" cy="3780000"/>
          </a:xfrm>
          <a:prstGeom prst="rect">
            <a:avLst/>
          </a:prstGeom>
        </p:spPr>
      </p:pic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19EC69FE-BB2C-AAE8-BCFF-8B351B138852}"/>
              </a:ext>
            </a:extLst>
          </p:cNvPr>
          <p:cNvSpPr/>
          <p:nvPr/>
        </p:nvSpPr>
        <p:spPr>
          <a:xfrm>
            <a:off x="2303813" y="1048454"/>
            <a:ext cx="794394" cy="777156"/>
          </a:xfrm>
          <a:prstGeom prst="roundRect">
            <a:avLst/>
          </a:prstGeom>
          <a:solidFill>
            <a:srgbClr val="676767">
              <a:alpha val="44706"/>
            </a:srgbClr>
          </a:solidFill>
          <a:ln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Picture 3" descr="icon_04.png">
            <a:extLst>
              <a:ext uri="{FF2B5EF4-FFF2-40B4-BE49-F238E27FC236}">
                <a16:creationId xmlns:a16="http://schemas.microsoft.com/office/drawing/2014/main" id="{C98A6A90-B575-A446-085F-63C65044DC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10" y="1137778"/>
            <a:ext cx="576000" cy="576000"/>
          </a:xfrm>
          <a:prstGeom prst="rect">
            <a:avLst/>
          </a:prstGeom>
        </p:spPr>
      </p:pic>
      <p:pic>
        <p:nvPicPr>
          <p:cNvPr id="7" name="Picture 6" descr="logo.png">
            <a:extLst>
              <a:ext uri="{FF2B5EF4-FFF2-40B4-BE49-F238E27FC236}">
                <a16:creationId xmlns:a16="http://schemas.microsoft.com/office/drawing/2014/main" id="{C4F7C1AB-F6CF-ADFC-F392-C6EDF37BC2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0455" y="3348000"/>
            <a:ext cx="706415" cy="180000"/>
          </a:xfrm>
          <a:prstGeom prst="rect">
            <a:avLst/>
          </a:prstGeom>
        </p:spPr>
      </p:pic>
      <p:pic>
        <p:nvPicPr>
          <p:cNvPr id="8" name="Picture 7" descr="logo2.png">
            <a:extLst>
              <a:ext uri="{FF2B5EF4-FFF2-40B4-BE49-F238E27FC236}">
                <a16:creationId xmlns:a16="http://schemas.microsoft.com/office/drawing/2014/main" id="{896CDF00-63D1-7E4A-F5A5-FB1FCE95AC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8870" y="3348000"/>
            <a:ext cx="778674" cy="180000"/>
          </a:xfrm>
          <a:prstGeom prst="rect">
            <a:avLst/>
          </a:prstGeom>
        </p:spPr>
      </p:pic>
      <p:sp>
        <p:nvSpPr>
          <p:cNvPr id="9" name="TextBox 2">
            <a:extLst>
              <a:ext uri="{FF2B5EF4-FFF2-40B4-BE49-F238E27FC236}">
                <a16:creationId xmlns:a16="http://schemas.microsoft.com/office/drawing/2014/main" id="{CD6EA270-67BF-DF03-8B05-11893407947D}"/>
              </a:ext>
            </a:extLst>
          </p:cNvPr>
          <p:cNvSpPr txBox="1"/>
          <p:nvPr/>
        </p:nvSpPr>
        <p:spPr>
          <a:xfrm>
            <a:off x="332870" y="709517"/>
            <a:ext cx="4752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de-DE" sz="1000" b="1" dirty="0">
                <a:solidFill>
                  <a:srgbClr val="FFB347"/>
                </a:solidFill>
                <a:latin typeface="Open Sans Condensed" pitchFamily="2" charset="0"/>
                <a:ea typeface="Open Sans Condensed" pitchFamily="2" charset="0"/>
                <a:cs typeface="Open Sans Condensed" pitchFamily="2" charset="0"/>
              </a:rPr>
              <a:t>AUFZEICHNUNGEN</a:t>
            </a:r>
            <a:r>
              <a:rPr lang="de-DE" sz="1000" b="1" dirty="0">
                <a:solidFill>
                  <a:srgbClr val="3CDC97"/>
                </a:solidFill>
                <a:latin typeface="Open Sans Condensed" pitchFamily="2" charset="0"/>
                <a:ea typeface="Open Sans Condensed" pitchFamily="2" charset="0"/>
                <a:cs typeface="Open Sans Condensed" pitchFamily="2" charset="0"/>
              </a:rPr>
              <a:t> </a:t>
            </a:r>
            <a:endParaRPr sz="1000" b="1" dirty="0">
              <a:solidFill>
                <a:srgbClr val="3CDC97"/>
              </a:solidFill>
              <a:latin typeface="Open Sans Condensed" pitchFamily="2" charset="0"/>
              <a:ea typeface="Open Sans Condensed" pitchFamily="2" charset="0"/>
              <a:cs typeface="Open Sans Condensed" pitchFamily="2" charset="0"/>
            </a:endParaRP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37209C95-C259-A71F-7A27-A1AB5F51F506}"/>
              </a:ext>
            </a:extLst>
          </p:cNvPr>
          <p:cNvSpPr txBox="1"/>
          <p:nvPr/>
        </p:nvSpPr>
        <p:spPr>
          <a:xfrm>
            <a:off x="288000" y="2016000"/>
            <a:ext cx="47520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de-DE" sz="2400" b="1" dirty="0">
                <a:solidFill>
                  <a:srgbClr val="E6EDF3"/>
                </a:solidFill>
                <a:latin typeface="Open Sans Condensed" pitchFamily="2" charset="0"/>
                <a:ea typeface="Open Sans Condensed" pitchFamily="2" charset="0"/>
                <a:cs typeface="Open Sans Condensed" pitchFamily="2" charset="0"/>
              </a:rPr>
              <a:t>DIE DATENSPUR</a:t>
            </a:r>
            <a:endParaRPr sz="2400" b="1" dirty="0">
              <a:solidFill>
                <a:srgbClr val="E6EDF3"/>
              </a:solidFill>
              <a:latin typeface="Open Sans Condensed" pitchFamily="2" charset="0"/>
              <a:ea typeface="Open Sans Condensed" pitchFamily="2" charset="0"/>
              <a:cs typeface="Open Sans Condensed" pitchFamily="2" charset="0"/>
            </a:endParaRP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CB437B9D-8CF9-40DB-3743-F412D871981F}"/>
              </a:ext>
            </a:extLst>
          </p:cNvPr>
          <p:cNvSpPr txBox="1"/>
          <p:nvPr/>
        </p:nvSpPr>
        <p:spPr>
          <a:xfrm>
            <a:off x="288000" y="2605432"/>
            <a:ext cx="4752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de-DE" sz="1000" b="1" dirty="0">
                <a:solidFill>
                  <a:srgbClr val="FFB347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Kameras und Bewegung.</a:t>
            </a:r>
            <a:endParaRPr sz="1000" b="1" dirty="0">
              <a:solidFill>
                <a:srgbClr val="FFB347"/>
              </a:solidFill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4E6DF16-85F3-7064-3AB8-3C4B293318E9}"/>
              </a:ext>
            </a:extLst>
          </p:cNvPr>
          <p:cNvSpPr/>
          <p:nvPr/>
        </p:nvSpPr>
        <p:spPr>
          <a:xfrm>
            <a:off x="349857" y="2647798"/>
            <a:ext cx="1542553" cy="79513"/>
          </a:xfrm>
          <a:prstGeom prst="rect">
            <a:avLst/>
          </a:prstGeom>
          <a:solidFill>
            <a:srgbClr val="906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906E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9688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328000" cy="3780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28000" cy="72000"/>
          </a:xfrm>
          <a:prstGeom prst="rect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00" y="3438000"/>
            <a:ext cx="565132" cy="144000"/>
          </a:xfrm>
          <a:prstGeom prst="rect">
            <a:avLst/>
          </a:prstGeom>
        </p:spPr>
      </p:pic>
      <p:pic>
        <p:nvPicPr>
          <p:cNvPr id="15" name="Picture 14" descr="log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132" y="3438000"/>
            <a:ext cx="622939" cy="14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960000" y="3459600"/>
            <a:ext cx="1080000" cy="14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651" b="0">
                <a:solidFill>
                  <a:srgbClr val="8A92AB"/>
                </a:solidFill>
                <a:latin typeface="Helvetica Neue"/>
              </a:rPr>
              <a:t>aiwarenesslab.io</a:t>
            </a:r>
          </a:p>
        </p:txBody>
      </p:sp>
      <p:sp>
        <p:nvSpPr>
          <p:cNvPr id="17" name="TextBox 6">
            <a:extLst>
              <a:ext uri="{FF2B5EF4-FFF2-40B4-BE49-F238E27FC236}">
                <a16:creationId xmlns:a16="http://schemas.microsoft.com/office/drawing/2014/main" id="{59E900B6-504F-89C4-33A8-1E59BF869AC1}"/>
              </a:ext>
            </a:extLst>
          </p:cNvPr>
          <p:cNvSpPr txBox="1"/>
          <p:nvPr/>
        </p:nvSpPr>
        <p:spPr>
          <a:xfrm>
            <a:off x="288000" y="819219"/>
            <a:ext cx="4752000" cy="2466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15000"/>
              </a:lnSpc>
              <a:buFont typeface="+mj-lt"/>
              <a:buAutoNum type="romanUcPeriod"/>
            </a:pPr>
            <a:r>
              <a:rPr lang="de-DE" sz="1000" dirty="0">
                <a:solidFill>
                  <a:srgbClr val="FFB347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EXPLORATION</a:t>
            </a:r>
          </a:p>
          <a:p>
            <a:pPr marL="228600" indent="-228600">
              <a:lnSpc>
                <a:spcPct val="115000"/>
              </a:lnSpc>
              <a:buFont typeface="+mj-lt"/>
              <a:buAutoNum type="arabicPeriod"/>
            </a:pPr>
            <a:r>
              <a:rPr lang="de-DE" sz="1000" dirty="0">
                <a:solidFill>
                  <a:srgbClr val="141A3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Öffnet die Station und schaut auf die Wärmekarte. Diese Daten wurden nebenbei gesammelt, während ihr gespielt habt! </a:t>
            </a:r>
          </a:p>
          <a:p>
            <a:pPr marL="228600" indent="-228600">
              <a:lnSpc>
                <a:spcPct val="115000"/>
              </a:lnSpc>
              <a:buFont typeface="+mj-lt"/>
              <a:buAutoNum type="arabicPeriod"/>
            </a:pPr>
            <a:r>
              <a:rPr lang="de-DE" sz="1000" dirty="0">
                <a:solidFill>
                  <a:srgbClr val="141A3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Lauft als Gruppe einen bestimmten Weg — seht ihr eure Spur entstehen?</a:t>
            </a:r>
          </a:p>
          <a:p>
            <a:pPr marL="228600" indent="-228600">
              <a:lnSpc>
                <a:spcPct val="115000"/>
              </a:lnSpc>
              <a:buFont typeface="+mj-lt"/>
              <a:buAutoNum type="arabicPeriod"/>
            </a:pPr>
            <a:r>
              <a:rPr lang="de-DE" sz="1000" dirty="0">
                <a:solidFill>
                  <a:srgbClr val="141A3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Drückt „Datenspur löschen“. Wer sollte diesen Knopf im echten Leben haben?</a:t>
            </a:r>
          </a:p>
          <a:p>
            <a:pPr>
              <a:lnSpc>
                <a:spcPct val="115000"/>
              </a:lnSpc>
            </a:pPr>
            <a:endParaRPr lang="de-DE" sz="1000" dirty="0">
              <a:solidFill>
                <a:srgbClr val="141A33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285750" indent="-285750">
              <a:lnSpc>
                <a:spcPct val="115000"/>
              </a:lnSpc>
              <a:buFont typeface="+mj-lt"/>
              <a:buAutoNum type="romanUcPeriod" startAt="2"/>
            </a:pPr>
            <a:r>
              <a:rPr lang="de-DE" sz="1000" dirty="0">
                <a:solidFill>
                  <a:srgbClr val="FFB347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HERAUSFORDERUNG</a:t>
            </a:r>
          </a:p>
          <a:p>
            <a:pPr>
              <a:lnSpc>
                <a:spcPct val="115000"/>
              </a:lnSpc>
            </a:pPr>
            <a:r>
              <a:rPr lang="de-DE" sz="1000" dirty="0">
                <a:solidFill>
                  <a:srgbClr val="141A3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Nennt drei Dinge, die man aus so einer Karte über einen Raum und seine Menschen ablesen könnte — ganz ohne Gesichter.</a:t>
            </a:r>
          </a:p>
          <a:p>
            <a:pPr>
              <a:lnSpc>
                <a:spcPct val="115000"/>
              </a:lnSpc>
            </a:pPr>
            <a:endParaRPr lang="de-DE" sz="1000" dirty="0">
              <a:solidFill>
                <a:srgbClr val="141A33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285750" indent="-285750">
              <a:lnSpc>
                <a:spcPct val="115000"/>
              </a:lnSpc>
              <a:buFont typeface="+mj-lt"/>
              <a:buAutoNum type="romanUcPeriod" startAt="3"/>
            </a:pPr>
            <a:r>
              <a:rPr lang="de-DE" sz="1000" dirty="0">
                <a:solidFill>
                  <a:srgbClr val="FFB347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REFLEXION</a:t>
            </a:r>
          </a:p>
          <a:p>
            <a:pPr>
              <a:lnSpc>
                <a:spcPct val="115000"/>
              </a:lnSpc>
            </a:pPr>
            <a:r>
              <a:rPr lang="de-DE" sz="1000" dirty="0">
                <a:solidFill>
                  <a:srgbClr val="141A3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„Ich habe doch nichts zu verbergen“ — gilt das auch für deine Laufwege, deine Gewohnheiten, deine Lieblingsecke?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D283121-E62E-B16F-08D8-E4089ADD2297}"/>
              </a:ext>
            </a:extLst>
          </p:cNvPr>
          <p:cNvSpPr txBox="1"/>
          <p:nvPr/>
        </p:nvSpPr>
        <p:spPr>
          <a:xfrm>
            <a:off x="288000" y="370221"/>
            <a:ext cx="3528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de-DE" dirty="0">
                <a:latin typeface="Open Sans Condensed Light" pitchFamily="2" charset="0"/>
                <a:ea typeface="Open Sans Condensed Light" pitchFamily="2" charset="0"/>
                <a:cs typeface="Open Sans Condensed Light" pitchFamily="2" charset="0"/>
              </a:rPr>
              <a:t>DIE DATENSPUR</a:t>
            </a:r>
            <a:endParaRPr dirty="0">
              <a:latin typeface="Open Sans Condensed Light" pitchFamily="2" charset="0"/>
              <a:ea typeface="Open Sans Condensed Light" pitchFamily="2" charset="0"/>
              <a:cs typeface="Open Sans Condensed Light" pitchFamily="2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D8F44-220E-A449-2902-5BC15DA27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ont_05.png">
            <a:extLst>
              <a:ext uri="{FF2B5EF4-FFF2-40B4-BE49-F238E27FC236}">
                <a16:creationId xmlns:a16="http://schemas.microsoft.com/office/drawing/2014/main" id="{E436584A-419D-B096-5085-92C53F5C5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328000" cy="3780000"/>
          </a:xfrm>
          <a:prstGeom prst="rect">
            <a:avLst/>
          </a:prstGeom>
        </p:spPr>
      </p:pic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FE8BA3A5-53D9-34C8-B6F4-15E757CDD442}"/>
              </a:ext>
            </a:extLst>
          </p:cNvPr>
          <p:cNvSpPr/>
          <p:nvPr/>
        </p:nvSpPr>
        <p:spPr>
          <a:xfrm>
            <a:off x="2303813" y="1048454"/>
            <a:ext cx="794394" cy="777156"/>
          </a:xfrm>
          <a:prstGeom prst="roundRect">
            <a:avLst/>
          </a:prstGeom>
          <a:solidFill>
            <a:srgbClr val="676767">
              <a:alpha val="44706"/>
            </a:srgbClr>
          </a:solidFill>
          <a:ln>
            <a:solidFill>
              <a:srgbClr val="FF5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Picture 3" descr="icon_05.png">
            <a:extLst>
              <a:ext uri="{FF2B5EF4-FFF2-40B4-BE49-F238E27FC236}">
                <a16:creationId xmlns:a16="http://schemas.microsoft.com/office/drawing/2014/main" id="{79443813-5B26-7A1C-BC9C-F033CB8D27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542" y="1149032"/>
            <a:ext cx="572936" cy="576000"/>
          </a:xfrm>
          <a:prstGeom prst="rect">
            <a:avLst/>
          </a:prstGeom>
        </p:spPr>
      </p:pic>
      <p:pic>
        <p:nvPicPr>
          <p:cNvPr id="7" name="Picture 6" descr="logo.png">
            <a:extLst>
              <a:ext uri="{FF2B5EF4-FFF2-40B4-BE49-F238E27FC236}">
                <a16:creationId xmlns:a16="http://schemas.microsoft.com/office/drawing/2014/main" id="{42470BF2-FA36-A551-7AF6-F9BC8E07E2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0455" y="3348000"/>
            <a:ext cx="706415" cy="180000"/>
          </a:xfrm>
          <a:prstGeom prst="rect">
            <a:avLst/>
          </a:prstGeom>
        </p:spPr>
      </p:pic>
      <p:pic>
        <p:nvPicPr>
          <p:cNvPr id="8" name="Picture 7" descr="logo2.png">
            <a:extLst>
              <a:ext uri="{FF2B5EF4-FFF2-40B4-BE49-F238E27FC236}">
                <a16:creationId xmlns:a16="http://schemas.microsoft.com/office/drawing/2014/main" id="{42C9756A-8A47-4AD3-C259-7C1FAABAC6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8870" y="3348000"/>
            <a:ext cx="778674" cy="180000"/>
          </a:xfrm>
          <a:prstGeom prst="rect">
            <a:avLst/>
          </a:prstGeom>
        </p:spPr>
      </p:pic>
      <p:sp>
        <p:nvSpPr>
          <p:cNvPr id="9" name="TextBox 2">
            <a:extLst>
              <a:ext uri="{FF2B5EF4-FFF2-40B4-BE49-F238E27FC236}">
                <a16:creationId xmlns:a16="http://schemas.microsoft.com/office/drawing/2014/main" id="{B6D62D08-9136-076C-425C-E6760EFFE25D}"/>
              </a:ext>
            </a:extLst>
          </p:cNvPr>
          <p:cNvSpPr txBox="1"/>
          <p:nvPr/>
        </p:nvSpPr>
        <p:spPr>
          <a:xfrm>
            <a:off x="287825" y="715455"/>
            <a:ext cx="4752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de-DE" sz="1000" b="1" dirty="0">
                <a:solidFill>
                  <a:srgbClr val="FF5D8F"/>
                </a:solidFill>
                <a:latin typeface="Open Sans Condensed" pitchFamily="2" charset="0"/>
                <a:ea typeface="Open Sans Condensed" pitchFamily="2" charset="0"/>
                <a:cs typeface="Open Sans Condensed" pitchFamily="2" charset="0"/>
              </a:rPr>
              <a:t>GESICHTER UND GEISTER </a:t>
            </a:r>
            <a:endParaRPr sz="1000" b="1" dirty="0">
              <a:solidFill>
                <a:srgbClr val="FF5D8F"/>
              </a:solidFill>
              <a:latin typeface="Open Sans Condensed" pitchFamily="2" charset="0"/>
              <a:ea typeface="Open Sans Condensed" pitchFamily="2" charset="0"/>
              <a:cs typeface="Open Sans Condensed" pitchFamily="2" charset="0"/>
            </a:endParaRP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934C4677-1D2C-F312-7A19-F76C618ECB5A}"/>
              </a:ext>
            </a:extLst>
          </p:cNvPr>
          <p:cNvSpPr txBox="1"/>
          <p:nvPr/>
        </p:nvSpPr>
        <p:spPr>
          <a:xfrm>
            <a:off x="288000" y="2016000"/>
            <a:ext cx="47520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de-DE" sz="2400" b="1" dirty="0">
                <a:solidFill>
                  <a:srgbClr val="E6EDF3"/>
                </a:solidFill>
                <a:latin typeface="Open Sans Condensed" pitchFamily="2" charset="0"/>
                <a:ea typeface="Open Sans Condensed" pitchFamily="2" charset="0"/>
                <a:cs typeface="Open Sans Condensed" pitchFamily="2" charset="0"/>
              </a:rPr>
              <a:t>TÄUSCHE DIE KI</a:t>
            </a:r>
            <a:endParaRPr sz="2400" b="1" dirty="0">
              <a:solidFill>
                <a:srgbClr val="E6EDF3"/>
              </a:solidFill>
              <a:latin typeface="Open Sans Condensed" pitchFamily="2" charset="0"/>
              <a:ea typeface="Open Sans Condensed" pitchFamily="2" charset="0"/>
              <a:cs typeface="Open Sans Condensed" pitchFamily="2" charset="0"/>
            </a:endParaRP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EFD94A9F-37DC-FF1F-BE1F-5444B5E6A0F7}"/>
              </a:ext>
            </a:extLst>
          </p:cNvPr>
          <p:cNvSpPr txBox="1"/>
          <p:nvPr/>
        </p:nvSpPr>
        <p:spPr>
          <a:xfrm>
            <a:off x="288000" y="2605432"/>
            <a:ext cx="4752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de-DE" sz="1000" b="1" dirty="0">
                <a:solidFill>
                  <a:srgbClr val="FF5D8F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Bilder und Fantasie.</a:t>
            </a:r>
            <a:endParaRPr sz="1000" b="1" dirty="0">
              <a:solidFill>
                <a:srgbClr val="FF5D8F"/>
              </a:solidFill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18895F6-ED58-B069-D4C4-A1E1CF67E294}"/>
              </a:ext>
            </a:extLst>
          </p:cNvPr>
          <p:cNvSpPr/>
          <p:nvPr/>
        </p:nvSpPr>
        <p:spPr>
          <a:xfrm>
            <a:off x="349857" y="2647798"/>
            <a:ext cx="1542553" cy="79513"/>
          </a:xfrm>
          <a:prstGeom prst="rect">
            <a:avLst/>
          </a:prstGeom>
          <a:solidFill>
            <a:srgbClr val="8F4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906E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5768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A1016-18DF-3260-4277-A78238CE2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E275E5-7632-0B91-D059-603D0775AF69}"/>
              </a:ext>
            </a:extLst>
          </p:cNvPr>
          <p:cNvSpPr/>
          <p:nvPr/>
        </p:nvSpPr>
        <p:spPr>
          <a:xfrm>
            <a:off x="0" y="0"/>
            <a:ext cx="5328000" cy="3780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52E14A-E8F6-3171-EDBE-ADF62268FBB9}"/>
              </a:ext>
            </a:extLst>
          </p:cNvPr>
          <p:cNvSpPr/>
          <p:nvPr/>
        </p:nvSpPr>
        <p:spPr>
          <a:xfrm>
            <a:off x="0" y="0"/>
            <a:ext cx="5328000" cy="72000"/>
          </a:xfrm>
          <a:prstGeom prst="rect">
            <a:avLst/>
          </a:prstGeom>
          <a:solidFill>
            <a:srgbClr val="FF5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logo.png">
            <a:extLst>
              <a:ext uri="{FF2B5EF4-FFF2-40B4-BE49-F238E27FC236}">
                <a16:creationId xmlns:a16="http://schemas.microsoft.com/office/drawing/2014/main" id="{51863E67-B5D3-1458-3FAC-BE158C604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00" y="3438000"/>
            <a:ext cx="565132" cy="144000"/>
          </a:xfrm>
          <a:prstGeom prst="rect">
            <a:avLst/>
          </a:prstGeom>
        </p:spPr>
      </p:pic>
      <p:pic>
        <p:nvPicPr>
          <p:cNvPr id="13" name="Picture 12" descr="logo2.png">
            <a:extLst>
              <a:ext uri="{FF2B5EF4-FFF2-40B4-BE49-F238E27FC236}">
                <a16:creationId xmlns:a16="http://schemas.microsoft.com/office/drawing/2014/main" id="{BB3049BB-B782-F3D7-5AE1-C8271A534F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132" y="3438000"/>
            <a:ext cx="622939" cy="144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8AD9F55-6B7A-0014-0A8A-C141B7C42ACF}"/>
              </a:ext>
            </a:extLst>
          </p:cNvPr>
          <p:cNvSpPr txBox="1"/>
          <p:nvPr/>
        </p:nvSpPr>
        <p:spPr>
          <a:xfrm>
            <a:off x="3960000" y="3459600"/>
            <a:ext cx="1080000" cy="14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651" b="0" dirty="0" err="1">
                <a:solidFill>
                  <a:srgbClr val="8A92AB"/>
                </a:solidFill>
                <a:latin typeface="Helvetica Neue"/>
              </a:rPr>
              <a:t>aiwarenesslab.io</a:t>
            </a:r>
            <a:endParaRPr sz="651" b="0" dirty="0">
              <a:solidFill>
                <a:srgbClr val="8A92AB"/>
              </a:solidFill>
              <a:latin typeface="Helvetica Neue"/>
            </a:endParaRP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F7B94123-805C-FD2E-208F-662C5F7AF841}"/>
              </a:ext>
            </a:extLst>
          </p:cNvPr>
          <p:cNvSpPr txBox="1"/>
          <p:nvPr/>
        </p:nvSpPr>
        <p:spPr>
          <a:xfrm>
            <a:off x="288000" y="819219"/>
            <a:ext cx="4752000" cy="19316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15000"/>
              </a:lnSpc>
              <a:buFont typeface="+mj-lt"/>
              <a:buAutoNum type="romanUcPeriod"/>
            </a:pPr>
            <a:r>
              <a:rPr lang="de-DE" sz="1000" dirty="0">
                <a:solidFill>
                  <a:srgbClr val="FF5D8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EXPLORATION</a:t>
            </a:r>
          </a:p>
          <a:p>
            <a:pPr>
              <a:lnSpc>
                <a:spcPct val="115000"/>
              </a:lnSpc>
            </a:pPr>
            <a:r>
              <a:rPr lang="de-DE" sz="1000" dirty="0">
                <a:solidFill>
                  <a:srgbClr val="141A3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Die vier Challenges stehen am Bildschirm.</a:t>
            </a:r>
            <a:br>
              <a:rPr lang="de-DE" sz="1000" dirty="0">
                <a:solidFill>
                  <a:srgbClr val="141A3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r>
              <a:rPr lang="de-DE" sz="1000" dirty="0">
                <a:solidFill>
                  <a:srgbClr val="141A3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Unsichtbar 🥷 · Verwechslung 🎩 · Volltreffer 💯 · Geister 👻</a:t>
            </a:r>
          </a:p>
          <a:p>
            <a:pPr>
              <a:lnSpc>
                <a:spcPct val="115000"/>
              </a:lnSpc>
            </a:pPr>
            <a:endParaRPr lang="de-DE" sz="1000" dirty="0">
              <a:solidFill>
                <a:srgbClr val="141A33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285750" indent="-285750">
              <a:lnSpc>
                <a:spcPct val="115000"/>
              </a:lnSpc>
              <a:buFont typeface="+mj-lt"/>
              <a:buAutoNum type="romanUcPeriod" startAt="2"/>
            </a:pPr>
            <a:r>
              <a:rPr lang="de-DE" sz="1000" dirty="0">
                <a:solidFill>
                  <a:srgbClr val="FF5D8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HERAUSFORDERUNG</a:t>
            </a:r>
          </a:p>
          <a:p>
            <a:pPr>
              <a:lnSpc>
                <a:spcPct val="115000"/>
              </a:lnSpc>
            </a:pPr>
            <a:r>
              <a:rPr lang="de-DE" sz="1000" dirty="0">
                <a:solidFill>
                  <a:srgbClr val="141A3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Schafft mindestens zwei Challenges und haltet fest, wie es geklappt hat. Eure Tricks sind die Erkenntnis!</a:t>
            </a:r>
          </a:p>
          <a:p>
            <a:pPr>
              <a:lnSpc>
                <a:spcPct val="115000"/>
              </a:lnSpc>
            </a:pPr>
            <a:endParaRPr lang="de-DE" sz="1000" dirty="0">
              <a:solidFill>
                <a:srgbClr val="141A33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285750" indent="-285750">
              <a:lnSpc>
                <a:spcPct val="115000"/>
              </a:lnSpc>
              <a:buFont typeface="+mj-lt"/>
              <a:buAutoNum type="romanUcPeriod" startAt="3"/>
            </a:pPr>
            <a:r>
              <a:rPr lang="de-DE" sz="1000" dirty="0">
                <a:solidFill>
                  <a:srgbClr val="FF5D8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REFLEXION</a:t>
            </a:r>
          </a:p>
          <a:p>
            <a:pPr>
              <a:lnSpc>
                <a:spcPct val="115000"/>
              </a:lnSpc>
            </a:pPr>
            <a:r>
              <a:rPr lang="de-DE" sz="1000" dirty="0">
                <a:solidFill>
                  <a:srgbClr val="141A3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Ihr habt eine KI in wenigen Minuten überlistet. Was heißt das für Orte, an denen KIs allein entscheiden — Grenzkontrolle, Bewerbung, autonomes Fahren?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1D18D52-360E-7FA7-4CE2-DF3D9A492D44}"/>
              </a:ext>
            </a:extLst>
          </p:cNvPr>
          <p:cNvSpPr txBox="1"/>
          <p:nvPr/>
        </p:nvSpPr>
        <p:spPr>
          <a:xfrm>
            <a:off x="288000" y="370221"/>
            <a:ext cx="3528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de-DE" dirty="0">
                <a:latin typeface="Open Sans Condensed Light" pitchFamily="2" charset="0"/>
                <a:ea typeface="Open Sans Condensed Light" pitchFamily="2" charset="0"/>
                <a:cs typeface="Open Sans Condensed Light" pitchFamily="2" charset="0"/>
              </a:rPr>
              <a:t>TÄUSCHE DIE KI</a:t>
            </a:r>
            <a:endParaRPr dirty="0">
              <a:latin typeface="Open Sans Condensed Light" pitchFamily="2" charset="0"/>
              <a:ea typeface="Open Sans Condensed Light" pitchFamily="2" charset="0"/>
              <a:cs typeface="Open Sans Condensed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9776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61468-D990-EFDF-B8C8-38788C15A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ont_06.png">
            <a:extLst>
              <a:ext uri="{FF2B5EF4-FFF2-40B4-BE49-F238E27FC236}">
                <a16:creationId xmlns:a16="http://schemas.microsoft.com/office/drawing/2014/main" id="{7CE1F947-28DE-BD27-CA82-36C76E0D1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328000" cy="3780000"/>
          </a:xfrm>
          <a:prstGeom prst="rect">
            <a:avLst/>
          </a:prstGeom>
        </p:spPr>
      </p:pic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D73432C4-5F8A-506C-9B2E-78C3939ED164}"/>
              </a:ext>
            </a:extLst>
          </p:cNvPr>
          <p:cNvSpPr/>
          <p:nvPr/>
        </p:nvSpPr>
        <p:spPr>
          <a:xfrm>
            <a:off x="2303813" y="1048454"/>
            <a:ext cx="794394" cy="777156"/>
          </a:xfrm>
          <a:prstGeom prst="roundRect">
            <a:avLst/>
          </a:prstGeom>
          <a:solidFill>
            <a:srgbClr val="676767">
              <a:alpha val="44706"/>
            </a:srgbClr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Picture 3" descr="icon_06.png">
            <a:extLst>
              <a:ext uri="{FF2B5EF4-FFF2-40B4-BE49-F238E27FC236}">
                <a16:creationId xmlns:a16="http://schemas.microsoft.com/office/drawing/2014/main" id="{5C2B65AE-321E-D2C8-57E9-91F8F18336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0629" y="1137778"/>
            <a:ext cx="560762" cy="576000"/>
          </a:xfrm>
          <a:prstGeom prst="rect">
            <a:avLst/>
          </a:prstGeom>
        </p:spPr>
      </p:pic>
      <p:pic>
        <p:nvPicPr>
          <p:cNvPr id="7" name="Picture 6" descr="logo.png">
            <a:extLst>
              <a:ext uri="{FF2B5EF4-FFF2-40B4-BE49-F238E27FC236}">
                <a16:creationId xmlns:a16="http://schemas.microsoft.com/office/drawing/2014/main" id="{A8EB04FA-1597-A6C5-5178-D8F1B0E23C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0455" y="3348000"/>
            <a:ext cx="706415" cy="180000"/>
          </a:xfrm>
          <a:prstGeom prst="rect">
            <a:avLst/>
          </a:prstGeom>
        </p:spPr>
      </p:pic>
      <p:pic>
        <p:nvPicPr>
          <p:cNvPr id="8" name="Picture 7" descr="logo2.png">
            <a:extLst>
              <a:ext uri="{FF2B5EF4-FFF2-40B4-BE49-F238E27FC236}">
                <a16:creationId xmlns:a16="http://schemas.microsoft.com/office/drawing/2014/main" id="{A5F9E6FB-DD1D-E989-97E3-24EA4105F7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8870" y="3348000"/>
            <a:ext cx="778674" cy="180000"/>
          </a:xfrm>
          <a:prstGeom prst="rect">
            <a:avLst/>
          </a:prstGeom>
        </p:spPr>
      </p:pic>
      <p:sp>
        <p:nvSpPr>
          <p:cNvPr id="9" name="TextBox 2">
            <a:extLst>
              <a:ext uri="{FF2B5EF4-FFF2-40B4-BE49-F238E27FC236}">
                <a16:creationId xmlns:a16="http://schemas.microsoft.com/office/drawing/2014/main" id="{AA15982C-BA8C-7E7E-5E43-7C839D8EDF27}"/>
              </a:ext>
            </a:extLst>
          </p:cNvPr>
          <p:cNvSpPr txBox="1"/>
          <p:nvPr/>
        </p:nvSpPr>
        <p:spPr>
          <a:xfrm>
            <a:off x="325010" y="704176"/>
            <a:ext cx="4752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de-DE" sz="1000" b="1" dirty="0">
                <a:solidFill>
                  <a:srgbClr val="2DD4BF"/>
                </a:solidFill>
                <a:latin typeface="Open Sans Condensed" pitchFamily="2" charset="0"/>
                <a:ea typeface="Open Sans Condensed" pitchFamily="2" charset="0"/>
                <a:cs typeface="Open Sans Condensed" pitchFamily="2" charset="0"/>
              </a:rPr>
              <a:t>BEWEGUNGEN</a:t>
            </a:r>
            <a:r>
              <a:rPr lang="de-DE" sz="1000" b="1" dirty="0">
                <a:solidFill>
                  <a:srgbClr val="3CDC97"/>
                </a:solidFill>
                <a:latin typeface="Open Sans Condensed" pitchFamily="2" charset="0"/>
                <a:ea typeface="Open Sans Condensed" pitchFamily="2" charset="0"/>
                <a:cs typeface="Open Sans Condensed" pitchFamily="2" charset="0"/>
              </a:rPr>
              <a:t> </a:t>
            </a:r>
            <a:endParaRPr sz="1000" b="1" dirty="0">
              <a:solidFill>
                <a:srgbClr val="3CDC97"/>
              </a:solidFill>
              <a:latin typeface="Open Sans Condensed" pitchFamily="2" charset="0"/>
              <a:ea typeface="Open Sans Condensed" pitchFamily="2" charset="0"/>
              <a:cs typeface="Open Sans Condensed" pitchFamily="2" charset="0"/>
            </a:endParaRP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F48A9402-5D79-304F-FF33-79B2181C3611}"/>
              </a:ext>
            </a:extLst>
          </p:cNvPr>
          <p:cNvSpPr txBox="1"/>
          <p:nvPr/>
        </p:nvSpPr>
        <p:spPr>
          <a:xfrm>
            <a:off x="288000" y="2016000"/>
            <a:ext cx="47520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de-DE" sz="2400" b="1" dirty="0">
                <a:solidFill>
                  <a:srgbClr val="E6EDF3"/>
                </a:solidFill>
                <a:latin typeface="Open Sans Condensed" pitchFamily="2" charset="0"/>
                <a:ea typeface="Open Sans Condensed" pitchFamily="2" charset="0"/>
                <a:cs typeface="Open Sans Condensed" pitchFamily="2" charset="0"/>
              </a:rPr>
              <a:t>SKELETT-SPIEGEL</a:t>
            </a:r>
            <a:endParaRPr sz="2400" b="1" dirty="0">
              <a:solidFill>
                <a:srgbClr val="E6EDF3"/>
              </a:solidFill>
              <a:latin typeface="Open Sans Condensed" pitchFamily="2" charset="0"/>
              <a:ea typeface="Open Sans Condensed" pitchFamily="2" charset="0"/>
              <a:cs typeface="Open Sans Condensed" pitchFamily="2" charset="0"/>
            </a:endParaRP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B10EA5A6-D7FE-F98F-6623-821350063C76}"/>
              </a:ext>
            </a:extLst>
          </p:cNvPr>
          <p:cNvSpPr txBox="1"/>
          <p:nvPr/>
        </p:nvSpPr>
        <p:spPr>
          <a:xfrm>
            <a:off x="288000" y="2605432"/>
            <a:ext cx="4752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de-DE" sz="1000" b="1" dirty="0">
                <a:solidFill>
                  <a:srgbClr val="2DD4BF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Bewegungserkennung.</a:t>
            </a:r>
            <a:endParaRPr sz="1000" b="1" dirty="0">
              <a:solidFill>
                <a:srgbClr val="2DD4BF"/>
              </a:solidFill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DD4440A-FBF5-E204-2D64-437F53971FB1}"/>
              </a:ext>
            </a:extLst>
          </p:cNvPr>
          <p:cNvSpPr/>
          <p:nvPr/>
        </p:nvSpPr>
        <p:spPr>
          <a:xfrm>
            <a:off x="349857" y="2647798"/>
            <a:ext cx="1542553" cy="79513"/>
          </a:xfrm>
          <a:prstGeom prst="rect">
            <a:avLst/>
          </a:prstGeom>
          <a:solidFill>
            <a:srgbClr val="2C7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906E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7998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328000" cy="3780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28000" cy="72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00" y="3438000"/>
            <a:ext cx="565132" cy="144000"/>
          </a:xfrm>
          <a:prstGeom prst="rect">
            <a:avLst/>
          </a:prstGeom>
        </p:spPr>
      </p:pic>
      <p:pic>
        <p:nvPicPr>
          <p:cNvPr id="15" name="Picture 14" descr="log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132" y="3438000"/>
            <a:ext cx="622939" cy="14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960000" y="3459600"/>
            <a:ext cx="1080000" cy="14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651" b="0">
                <a:solidFill>
                  <a:srgbClr val="8A92AB"/>
                </a:solidFill>
                <a:latin typeface="Helvetica Neue"/>
              </a:rPr>
              <a:t>aiwarenesslab.io</a:t>
            </a:r>
          </a:p>
        </p:txBody>
      </p:sp>
      <p:sp>
        <p:nvSpPr>
          <p:cNvPr id="17" name="TextBox 6">
            <a:extLst>
              <a:ext uri="{FF2B5EF4-FFF2-40B4-BE49-F238E27FC236}">
                <a16:creationId xmlns:a16="http://schemas.microsoft.com/office/drawing/2014/main" id="{ABF9D68F-7F45-713F-3F56-D81331D37983}"/>
              </a:ext>
            </a:extLst>
          </p:cNvPr>
          <p:cNvSpPr txBox="1"/>
          <p:nvPr/>
        </p:nvSpPr>
        <p:spPr>
          <a:xfrm>
            <a:off x="288000" y="819219"/>
            <a:ext cx="4752000" cy="2466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15000"/>
              </a:lnSpc>
              <a:buFont typeface="+mj-lt"/>
              <a:buAutoNum type="romanUcPeriod"/>
            </a:pPr>
            <a:r>
              <a:rPr lang="de-DE" sz="1000" dirty="0">
                <a:solidFill>
                  <a:srgbClr val="2DD4B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EXPLORATION</a:t>
            </a:r>
          </a:p>
          <a:p>
            <a:pPr marL="228600" indent="-228600">
              <a:lnSpc>
                <a:spcPct val="115000"/>
              </a:lnSpc>
              <a:buAutoNum type="arabicPeriod"/>
            </a:pPr>
            <a:r>
              <a:rPr lang="de-DE" sz="1000" dirty="0">
                <a:solidFill>
                  <a:srgbClr val="141A3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Stellt Euch vor die Kamera — Ihr werdet zu Strichmännchen mit 17 Punkten.</a:t>
            </a:r>
          </a:p>
          <a:p>
            <a:pPr marL="228600" indent="-228600">
              <a:lnSpc>
                <a:spcPct val="115000"/>
              </a:lnSpc>
              <a:buAutoNum type="arabicPeriod"/>
            </a:pPr>
            <a:r>
              <a:rPr lang="de-DE" sz="1000" dirty="0">
                <a:solidFill>
                  <a:srgbClr val="141A3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Spielt den Posen-Parcours: Wer schafft alle vier Posen am schnellsten?</a:t>
            </a:r>
          </a:p>
          <a:p>
            <a:pPr marL="228600" indent="-228600">
              <a:lnSpc>
                <a:spcPct val="115000"/>
              </a:lnSpc>
              <a:buAutoNum type="arabicPeriod"/>
            </a:pPr>
            <a:r>
              <a:rPr lang="de-DE" sz="1000" dirty="0">
                <a:solidFill>
                  <a:srgbClr val="141A3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Schaltet den Geist-Modus ein: kein Video mehr, nur Skelette. Erkennt ihr trotzdem, wer wer ist?</a:t>
            </a:r>
          </a:p>
          <a:p>
            <a:pPr>
              <a:lnSpc>
                <a:spcPct val="115000"/>
              </a:lnSpc>
            </a:pPr>
            <a:endParaRPr lang="de-DE" sz="1000" dirty="0">
              <a:solidFill>
                <a:srgbClr val="141A33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285750" indent="-285750">
              <a:lnSpc>
                <a:spcPct val="115000"/>
              </a:lnSpc>
              <a:buFont typeface="+mj-lt"/>
              <a:buAutoNum type="romanUcPeriod" startAt="2"/>
            </a:pPr>
            <a:r>
              <a:rPr lang="de-DE" sz="1000" dirty="0">
                <a:solidFill>
                  <a:srgbClr val="2DD4B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HERAUSFORDERUNG</a:t>
            </a:r>
          </a:p>
          <a:p>
            <a:pPr>
              <a:lnSpc>
                <a:spcPct val="115000"/>
              </a:lnSpc>
            </a:pPr>
            <a:r>
              <a:rPr lang="de-DE" sz="1000" dirty="0">
                <a:solidFill>
                  <a:srgbClr val="141A3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Findet im Geist-Modus drei Dinge, die man über eine Person herausfinden kann, obwohl man ihr Gesicht nie sieht.</a:t>
            </a:r>
          </a:p>
          <a:p>
            <a:pPr>
              <a:lnSpc>
                <a:spcPct val="115000"/>
              </a:lnSpc>
            </a:pPr>
            <a:endParaRPr lang="de-DE" sz="1000" dirty="0">
              <a:solidFill>
                <a:srgbClr val="141A33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285750" indent="-285750">
              <a:lnSpc>
                <a:spcPct val="115000"/>
              </a:lnSpc>
              <a:buFont typeface="+mj-lt"/>
              <a:buAutoNum type="romanUcPeriod" startAt="3"/>
            </a:pPr>
            <a:r>
              <a:rPr lang="de-DE" sz="1000" dirty="0">
                <a:solidFill>
                  <a:srgbClr val="2DD4B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REFLEXION</a:t>
            </a:r>
          </a:p>
          <a:p>
            <a:pPr>
              <a:lnSpc>
                <a:spcPct val="115000"/>
              </a:lnSpc>
            </a:pPr>
            <a:r>
              <a:rPr lang="de-DE" sz="1000" dirty="0">
                <a:solidFill>
                  <a:srgbClr val="141A3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Spielkonsolen, Sturz-Melder im Pflegeheim, Kameras im Schwimmbad, die Ertrinkende erkennen. Das ist alles Skelett-Tracking. Wann ist es Fürsorge, wann Überwachung? Und wer entscheidet das?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84EEC51-2128-B9DA-9028-559BEFCCEAFC}"/>
              </a:ext>
            </a:extLst>
          </p:cNvPr>
          <p:cNvSpPr txBox="1"/>
          <p:nvPr/>
        </p:nvSpPr>
        <p:spPr>
          <a:xfrm>
            <a:off x="288000" y="370221"/>
            <a:ext cx="3528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de-DE" dirty="0">
                <a:latin typeface="Open Sans Condensed Light" pitchFamily="2" charset="0"/>
                <a:ea typeface="Open Sans Condensed Light" pitchFamily="2" charset="0"/>
                <a:cs typeface="Open Sans Condensed Light" pitchFamily="2" charset="0"/>
              </a:rPr>
              <a:t>SKELETT-SPIEGEL</a:t>
            </a:r>
            <a:endParaRPr dirty="0">
              <a:latin typeface="Open Sans Condensed Light" pitchFamily="2" charset="0"/>
              <a:ea typeface="Open Sans Condensed Light" pitchFamily="2" charset="0"/>
              <a:cs typeface="Open Sans Condensed Light" pitchFamily="2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ont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328000" cy="37800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99C9D95D-202E-A779-D116-A529C6F637D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0000"/>
          </a:blip>
          <a:srcRect l="32601" t="18817" r="38310" b="14339"/>
          <a:stretch>
            <a:fillRect/>
          </a:stretch>
        </p:blipFill>
        <p:spPr>
          <a:xfrm>
            <a:off x="-350" y="-572599"/>
            <a:ext cx="5328000" cy="4757695"/>
          </a:xfrm>
          <a:prstGeom prst="rect">
            <a:avLst/>
          </a:prstGeom>
        </p:spPr>
      </p:pic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807C7542-6B42-5A8F-EA88-9D3510620637}"/>
              </a:ext>
            </a:extLst>
          </p:cNvPr>
          <p:cNvSpPr/>
          <p:nvPr/>
        </p:nvSpPr>
        <p:spPr>
          <a:xfrm>
            <a:off x="2303813" y="1048454"/>
            <a:ext cx="794394" cy="777156"/>
          </a:xfrm>
          <a:prstGeom prst="roundRect">
            <a:avLst/>
          </a:prstGeom>
          <a:solidFill>
            <a:srgbClr val="523E97">
              <a:alpha val="23529"/>
            </a:srgbClr>
          </a:solidFill>
          <a:ln>
            <a:solidFill>
              <a:srgbClr val="8A4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Box 2"/>
          <p:cNvSpPr txBox="1"/>
          <p:nvPr/>
        </p:nvSpPr>
        <p:spPr>
          <a:xfrm>
            <a:off x="332870" y="720000"/>
            <a:ext cx="4752000" cy="1134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37" b="1" dirty="0">
                <a:solidFill>
                  <a:srgbClr val="8A4FD8"/>
                </a:solidFill>
                <a:latin typeface="Helvetica Neue"/>
              </a:rPr>
              <a:t>DISKUSSIONSKARTE</a:t>
            </a:r>
          </a:p>
        </p:txBody>
      </p:sp>
      <p:pic>
        <p:nvPicPr>
          <p:cNvPr id="4" name="Picture 3" descr="icon_07.png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20870" y="1136714"/>
            <a:ext cx="576000" cy="57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8000" y="2016000"/>
            <a:ext cx="47520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de-DE" sz="2400" b="1" dirty="0">
                <a:solidFill>
                  <a:srgbClr val="E6EDF3"/>
                </a:solidFill>
                <a:latin typeface="Open Sans Condensed" pitchFamily="2" charset="0"/>
                <a:ea typeface="Open Sans Condensed" pitchFamily="2" charset="0"/>
                <a:cs typeface="Open Sans Condensed" pitchFamily="2" charset="0"/>
              </a:rPr>
              <a:t>DIE SMARTE TÜRKLINGEL</a:t>
            </a:r>
            <a:endParaRPr sz="2400" b="1" dirty="0">
              <a:solidFill>
                <a:srgbClr val="E6EDF3"/>
              </a:solidFill>
              <a:latin typeface="Open Sans Condensed" pitchFamily="2" charset="0"/>
              <a:ea typeface="Open Sans Condensed" pitchFamily="2" charset="0"/>
              <a:cs typeface="Open Sans Condensed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8000" y="2595020"/>
            <a:ext cx="4752000" cy="21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0" b="1" dirty="0" err="1">
                <a:solidFill>
                  <a:srgbClr val="8A4FD8"/>
                </a:solidFill>
                <a:latin typeface="Helvetica Neue"/>
              </a:rPr>
              <a:t>Privatsphäre</a:t>
            </a:r>
            <a:r>
              <a:rPr sz="1020" b="1" dirty="0">
                <a:solidFill>
                  <a:srgbClr val="8A4FD8"/>
                </a:solidFill>
                <a:latin typeface="Helvetica Neue"/>
              </a:rPr>
              <a:t> &amp; KI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0455" y="3348000"/>
            <a:ext cx="706415" cy="180000"/>
          </a:xfrm>
          <a:prstGeom prst="rect">
            <a:avLst/>
          </a:prstGeom>
        </p:spPr>
      </p:pic>
      <p:pic>
        <p:nvPicPr>
          <p:cNvPr id="8" name="Picture 7" descr="logo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08870" y="3348000"/>
            <a:ext cx="778674" cy="180000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8407EC28-325A-7F1C-D088-6C6E05179391}"/>
              </a:ext>
            </a:extLst>
          </p:cNvPr>
          <p:cNvSpPr/>
          <p:nvPr/>
        </p:nvSpPr>
        <p:spPr>
          <a:xfrm>
            <a:off x="349857" y="2647798"/>
            <a:ext cx="1542553" cy="79513"/>
          </a:xfrm>
          <a:prstGeom prst="rect">
            <a:avLst/>
          </a:prstGeom>
          <a:solidFill>
            <a:srgbClr val="593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906E4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3BA3F-29D7-ABB1-C83B-3DA5FF331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BD8ED9-38FD-3F61-A329-032A2BE322F1}"/>
              </a:ext>
            </a:extLst>
          </p:cNvPr>
          <p:cNvSpPr/>
          <p:nvPr/>
        </p:nvSpPr>
        <p:spPr>
          <a:xfrm>
            <a:off x="0" y="0"/>
            <a:ext cx="5328000" cy="3780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99EEC6-4EA7-308C-8881-B3B6A2F2E78A}"/>
              </a:ext>
            </a:extLst>
          </p:cNvPr>
          <p:cNvSpPr/>
          <p:nvPr/>
        </p:nvSpPr>
        <p:spPr>
          <a:xfrm>
            <a:off x="0" y="0"/>
            <a:ext cx="5328000" cy="72000"/>
          </a:xfrm>
          <a:prstGeom prst="rect">
            <a:avLst/>
          </a:prstGeom>
          <a:solidFill>
            <a:srgbClr val="8A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logo.png">
            <a:extLst>
              <a:ext uri="{FF2B5EF4-FFF2-40B4-BE49-F238E27FC236}">
                <a16:creationId xmlns:a16="http://schemas.microsoft.com/office/drawing/2014/main" id="{D70F89DA-1A20-624F-A624-D76844A7B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00" y="3438000"/>
            <a:ext cx="565132" cy="144000"/>
          </a:xfrm>
          <a:prstGeom prst="rect">
            <a:avLst/>
          </a:prstGeom>
        </p:spPr>
      </p:pic>
      <p:pic>
        <p:nvPicPr>
          <p:cNvPr id="11" name="Picture 10" descr="logo2.png">
            <a:extLst>
              <a:ext uri="{FF2B5EF4-FFF2-40B4-BE49-F238E27FC236}">
                <a16:creationId xmlns:a16="http://schemas.microsoft.com/office/drawing/2014/main" id="{B587BD9B-6761-E27B-BA80-AF1433C542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132" y="3438000"/>
            <a:ext cx="622939" cy="144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BBB8E7C-0EE9-7A57-2CE0-839B713ACC98}"/>
              </a:ext>
            </a:extLst>
          </p:cNvPr>
          <p:cNvSpPr txBox="1"/>
          <p:nvPr/>
        </p:nvSpPr>
        <p:spPr>
          <a:xfrm>
            <a:off x="3960000" y="3459600"/>
            <a:ext cx="1080000" cy="14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651" b="0">
                <a:solidFill>
                  <a:srgbClr val="8A92AB"/>
                </a:solidFill>
                <a:latin typeface="Helvetica Neue"/>
              </a:rPr>
              <a:t>aiwarenesslab.io</a:t>
            </a: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218D97AE-E7C7-4BC2-25F1-DA00FF628EF6}"/>
              </a:ext>
            </a:extLst>
          </p:cNvPr>
          <p:cNvSpPr txBox="1"/>
          <p:nvPr/>
        </p:nvSpPr>
        <p:spPr>
          <a:xfrm>
            <a:off x="288000" y="819219"/>
            <a:ext cx="4752000" cy="12276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lang="de-DE" sz="1000" dirty="0">
                <a:solidFill>
                  <a:srgbClr val="141A3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Familie Yilmaz hat eine Kamera-Türklingel. Sie filmt automatisch auch den Gehweg — also alle Nachbarn, Postboten, spielende Kinder. Die Aufnahmen landen auf Servern des Herstellers in den USA.</a:t>
            </a:r>
          </a:p>
          <a:p>
            <a:pPr>
              <a:lnSpc>
                <a:spcPct val="115000"/>
              </a:lnSpc>
            </a:pPr>
            <a:endParaRPr lang="de-DE" sz="1000" dirty="0">
              <a:solidFill>
                <a:srgbClr val="141A33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>
              <a:lnSpc>
                <a:spcPct val="115000"/>
              </a:lnSpc>
            </a:pPr>
            <a:r>
              <a:rPr lang="de-DE" sz="1000" dirty="0">
                <a:solidFill>
                  <a:srgbClr val="B67CF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DISKUTIERT</a:t>
            </a:r>
          </a:p>
          <a:p>
            <a:pPr>
              <a:lnSpc>
                <a:spcPct val="115000"/>
              </a:lnSpc>
            </a:pPr>
            <a:r>
              <a:rPr lang="de-DE" sz="1000" dirty="0">
                <a:solidFill>
                  <a:srgbClr val="141A3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Wessen Privatsphäre zählt hier? Was würdet ihr ändern, wenn ihr die Türklingel bauen dürftet? </a:t>
            </a: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78F39AC2-ECAD-D1B2-BA73-03E8E60BD50D}"/>
              </a:ext>
            </a:extLst>
          </p:cNvPr>
          <p:cNvSpPr txBox="1"/>
          <p:nvPr/>
        </p:nvSpPr>
        <p:spPr>
          <a:xfrm>
            <a:off x="288000" y="370221"/>
            <a:ext cx="3528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de-DE" dirty="0">
                <a:latin typeface="Open Sans Condensed Light" pitchFamily="2" charset="0"/>
                <a:ea typeface="Open Sans Condensed Light" pitchFamily="2" charset="0"/>
                <a:cs typeface="Open Sans Condensed Light" pitchFamily="2" charset="0"/>
              </a:rPr>
              <a:t>DIE SMARTE TÜRKLINGEL</a:t>
            </a:r>
            <a:endParaRPr dirty="0">
              <a:latin typeface="Open Sans Condensed Light" pitchFamily="2" charset="0"/>
              <a:ea typeface="Open Sans Condensed Light" pitchFamily="2" charset="0"/>
              <a:cs typeface="Open Sans Condensed Light" pitchFamily="2" charset="0"/>
            </a:endParaRP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086F758F-A7C2-96D3-B9A1-8F2BF11808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153" y="2705141"/>
            <a:ext cx="302090" cy="302090"/>
          </a:xfrm>
          <a:prstGeom prst="rect">
            <a:avLst/>
          </a:prstGeom>
        </p:spPr>
      </p:pic>
      <p:sp>
        <p:nvSpPr>
          <p:cNvPr id="21" name="Textfeld 20">
            <a:extLst>
              <a:ext uri="{FF2B5EF4-FFF2-40B4-BE49-F238E27FC236}">
                <a16:creationId xmlns:a16="http://schemas.microsoft.com/office/drawing/2014/main" id="{93C63D22-2ECC-FBC6-EC1B-E08FC528D611}"/>
              </a:ext>
            </a:extLst>
          </p:cNvPr>
          <p:cNvSpPr txBox="1"/>
          <p:nvPr/>
        </p:nvSpPr>
        <p:spPr>
          <a:xfrm>
            <a:off x="643243" y="2624157"/>
            <a:ext cx="4343254" cy="435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de-DE" sz="1000" dirty="0">
                <a:solidFill>
                  <a:srgbClr val="8992AB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Hinweis: Ihr habt heute eine Kamera gesehen, die Gesichter vor dem    Speichern unkenntlich macht.</a:t>
            </a:r>
          </a:p>
        </p:txBody>
      </p:sp>
    </p:spTree>
    <p:extLst>
      <p:ext uri="{BB962C8B-B14F-4D97-AF65-F5344CB8AC3E}">
        <p14:creationId xmlns:p14="http://schemas.microsoft.com/office/powerpoint/2010/main" val="9873338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ont_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328000" cy="37800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7F1BD5A8-E0E1-D356-A93A-0FC0CB29DE4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0000"/>
          </a:blip>
          <a:srcRect l="32601" t="18817" r="38310" b="14339"/>
          <a:stretch>
            <a:fillRect/>
          </a:stretch>
        </p:blipFill>
        <p:spPr>
          <a:xfrm>
            <a:off x="-350" y="-572599"/>
            <a:ext cx="5328000" cy="4757695"/>
          </a:xfrm>
          <a:prstGeom prst="rect">
            <a:avLst/>
          </a:prstGeom>
        </p:spPr>
      </p:pic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34FE1045-A32A-323F-D810-2E391BFF7E0E}"/>
              </a:ext>
            </a:extLst>
          </p:cNvPr>
          <p:cNvSpPr/>
          <p:nvPr/>
        </p:nvSpPr>
        <p:spPr>
          <a:xfrm>
            <a:off x="2303813" y="1048454"/>
            <a:ext cx="794394" cy="777156"/>
          </a:xfrm>
          <a:prstGeom prst="roundRect">
            <a:avLst/>
          </a:prstGeom>
          <a:solidFill>
            <a:srgbClr val="676767">
              <a:alpha val="44706"/>
            </a:srgbClr>
          </a:solidFill>
          <a:ln>
            <a:solidFill>
              <a:srgbClr val="C32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Box 2"/>
          <p:cNvSpPr txBox="1"/>
          <p:nvPr/>
        </p:nvSpPr>
        <p:spPr>
          <a:xfrm>
            <a:off x="332870" y="718678"/>
            <a:ext cx="4752000" cy="1134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37" b="1" dirty="0">
                <a:solidFill>
                  <a:srgbClr val="C32683"/>
                </a:solidFill>
                <a:latin typeface="Helvetica Neue"/>
              </a:rPr>
              <a:t>DISKUSSIONSKARTE</a:t>
            </a:r>
          </a:p>
        </p:txBody>
      </p:sp>
      <p:pic>
        <p:nvPicPr>
          <p:cNvPr id="4" name="Picture 3" descr="icon_08.png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91737" y="1149032"/>
            <a:ext cx="618545" cy="57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8000" y="2016000"/>
            <a:ext cx="47520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de-DE" sz="2400" b="1" dirty="0">
                <a:solidFill>
                  <a:srgbClr val="E6EDF3"/>
                </a:solidFill>
                <a:latin typeface="Open Sans Condensed" pitchFamily="2" charset="0"/>
                <a:ea typeface="Open Sans Condensed" pitchFamily="2" charset="0"/>
                <a:cs typeface="Open Sans Condensed" pitchFamily="2" charset="0"/>
              </a:rPr>
              <a:t>DAS STADION</a:t>
            </a:r>
            <a:endParaRPr sz="2400" b="1" dirty="0">
              <a:solidFill>
                <a:srgbClr val="E6EDF3"/>
              </a:solidFill>
              <a:latin typeface="Open Sans Condensed" pitchFamily="2" charset="0"/>
              <a:ea typeface="Open Sans Condensed" pitchFamily="2" charset="0"/>
              <a:cs typeface="Open Sans Condensed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8000" y="2574000"/>
            <a:ext cx="4752000" cy="21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0" b="1" dirty="0" err="1">
                <a:solidFill>
                  <a:srgbClr val="C32683"/>
                </a:solidFill>
                <a:latin typeface="Helvetica Neue"/>
              </a:rPr>
              <a:t>Privatsphäre</a:t>
            </a:r>
            <a:r>
              <a:rPr sz="1020" b="1" dirty="0">
                <a:solidFill>
                  <a:srgbClr val="C32683"/>
                </a:solidFill>
                <a:latin typeface="Helvetica Neue"/>
              </a:rPr>
              <a:t> &amp; KI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0455" y="3348000"/>
            <a:ext cx="706415" cy="180000"/>
          </a:xfrm>
          <a:prstGeom prst="rect">
            <a:avLst/>
          </a:prstGeom>
        </p:spPr>
      </p:pic>
      <p:pic>
        <p:nvPicPr>
          <p:cNvPr id="8" name="Picture 7" descr="logo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08870" y="3348000"/>
            <a:ext cx="778674" cy="180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2132A-334C-5660-777C-A8BBF9221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BBE4B16-A878-C6AB-A17E-9440C9891582}"/>
              </a:ext>
            </a:extLst>
          </p:cNvPr>
          <p:cNvSpPr/>
          <p:nvPr/>
        </p:nvSpPr>
        <p:spPr>
          <a:xfrm>
            <a:off x="0" y="0"/>
            <a:ext cx="5328000" cy="3780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10" name="Picture 9" descr="logo.png">
            <a:extLst>
              <a:ext uri="{FF2B5EF4-FFF2-40B4-BE49-F238E27FC236}">
                <a16:creationId xmlns:a16="http://schemas.microsoft.com/office/drawing/2014/main" id="{F86F8247-6154-410A-9974-5BE0FD389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00" y="3438000"/>
            <a:ext cx="565132" cy="144000"/>
          </a:xfrm>
          <a:prstGeom prst="rect">
            <a:avLst/>
          </a:prstGeom>
        </p:spPr>
      </p:pic>
      <p:pic>
        <p:nvPicPr>
          <p:cNvPr id="11" name="Picture 10" descr="logo2.png">
            <a:extLst>
              <a:ext uri="{FF2B5EF4-FFF2-40B4-BE49-F238E27FC236}">
                <a16:creationId xmlns:a16="http://schemas.microsoft.com/office/drawing/2014/main" id="{3FC0B098-D2D4-FF2F-FB6E-025F8BE7AC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132" y="3438000"/>
            <a:ext cx="622939" cy="144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F806653-9FC2-7F09-814B-5FC110489435}"/>
              </a:ext>
            </a:extLst>
          </p:cNvPr>
          <p:cNvSpPr txBox="1"/>
          <p:nvPr/>
        </p:nvSpPr>
        <p:spPr>
          <a:xfrm>
            <a:off x="3960000" y="3459600"/>
            <a:ext cx="1080000" cy="14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651" b="0">
                <a:solidFill>
                  <a:srgbClr val="8A92AB"/>
                </a:solidFill>
                <a:latin typeface="Helvetica Neue"/>
              </a:rPr>
              <a:t>aiwarenesslab.io</a:t>
            </a: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FE05468F-C1A0-0A78-F2C3-95B8F0634241}"/>
              </a:ext>
            </a:extLst>
          </p:cNvPr>
          <p:cNvSpPr txBox="1"/>
          <p:nvPr/>
        </p:nvSpPr>
        <p:spPr>
          <a:xfrm>
            <a:off x="288000" y="819219"/>
            <a:ext cx="4752000" cy="14046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lang="de-DE" sz="1000" dirty="0">
                <a:solidFill>
                  <a:srgbClr val="141A3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Ein Fußballstadion will Gesichts-Wiedererkennung am Eingang: Bekannte Gewalttäter sollen automatisch erkannt werden. Dafür wird jedes Gesicht aller 50.000 </a:t>
            </a:r>
            <a:r>
              <a:rPr lang="de-DE" sz="1000" dirty="0" err="1">
                <a:solidFill>
                  <a:srgbClr val="141A3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Besucher:innen</a:t>
            </a:r>
            <a:r>
              <a:rPr lang="de-DE" sz="1000" dirty="0">
                <a:solidFill>
                  <a:srgbClr val="141A3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gescannt und mit einer Datenbank verglichen.</a:t>
            </a:r>
          </a:p>
          <a:p>
            <a:pPr>
              <a:lnSpc>
                <a:spcPct val="115000"/>
              </a:lnSpc>
            </a:pPr>
            <a:endParaRPr lang="de-DE" sz="1000" dirty="0">
              <a:solidFill>
                <a:srgbClr val="141A33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>
              <a:lnSpc>
                <a:spcPct val="115000"/>
              </a:lnSpc>
            </a:pPr>
            <a:r>
              <a:rPr lang="de-DE" sz="1000" dirty="0">
                <a:solidFill>
                  <a:srgbClr val="C3268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DISKUTIERT</a:t>
            </a:r>
          </a:p>
          <a:p>
            <a:pPr>
              <a:lnSpc>
                <a:spcPct val="115000"/>
              </a:lnSpc>
            </a:pPr>
            <a:r>
              <a:rPr lang="de-DE" sz="1000" dirty="0">
                <a:solidFill>
                  <a:srgbClr val="141A3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49.990 Unbeteiligte werden gescannt, um 10 zu finden. Ist das fair oder nicht? Und was ist, wenn die KI sich irrt (ihr wisst ja jetzt, dass sie das tut)?</a:t>
            </a:r>
          </a:p>
          <a:p>
            <a:pPr>
              <a:lnSpc>
                <a:spcPct val="115000"/>
              </a:lnSpc>
            </a:pPr>
            <a:endParaRPr lang="de-DE" sz="1000" dirty="0">
              <a:solidFill>
                <a:srgbClr val="141A33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EF6DD6DA-AE6C-2651-E83C-C51A80D6BF11}"/>
              </a:ext>
            </a:extLst>
          </p:cNvPr>
          <p:cNvSpPr txBox="1"/>
          <p:nvPr/>
        </p:nvSpPr>
        <p:spPr>
          <a:xfrm>
            <a:off x="288000" y="370221"/>
            <a:ext cx="3528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de-DE" dirty="0">
                <a:latin typeface="Open Sans Condensed Light" pitchFamily="2" charset="0"/>
                <a:ea typeface="Open Sans Condensed Light" pitchFamily="2" charset="0"/>
                <a:cs typeface="Open Sans Condensed Light" pitchFamily="2" charset="0"/>
              </a:rPr>
              <a:t>DAS STADION</a:t>
            </a:r>
            <a:endParaRPr dirty="0">
              <a:latin typeface="Open Sans Condensed Light" pitchFamily="2" charset="0"/>
              <a:ea typeface="Open Sans Condensed Light" pitchFamily="2" charset="0"/>
              <a:cs typeface="Open Sans Condensed Light" pitchFamily="2" charset="0"/>
            </a:endParaRP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11DEB6FD-5051-898D-5EA0-041FE74197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153" y="2705141"/>
            <a:ext cx="302090" cy="302090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61E4B5BE-E0E3-0A8B-A12A-29FE6981DCD6}"/>
              </a:ext>
            </a:extLst>
          </p:cNvPr>
          <p:cNvSpPr/>
          <p:nvPr/>
        </p:nvSpPr>
        <p:spPr>
          <a:xfrm>
            <a:off x="0" y="0"/>
            <a:ext cx="5328000" cy="72000"/>
          </a:xfrm>
          <a:prstGeom prst="rect">
            <a:avLst/>
          </a:prstGeom>
          <a:solidFill>
            <a:srgbClr val="C326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49097FF-D990-5F42-7AF0-634103F1BD1B}"/>
              </a:ext>
            </a:extLst>
          </p:cNvPr>
          <p:cNvSpPr txBox="1"/>
          <p:nvPr/>
        </p:nvSpPr>
        <p:spPr>
          <a:xfrm>
            <a:off x="643243" y="2624157"/>
            <a:ext cx="4343254" cy="435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de-DE" sz="1000" dirty="0">
                <a:solidFill>
                  <a:srgbClr val="8992AB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Hinweis: </a:t>
            </a:r>
            <a:br>
              <a:rPr lang="de-DE" sz="1000" dirty="0">
                <a:solidFill>
                  <a:srgbClr val="8992AB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r>
              <a:rPr lang="de-DE" sz="1000" dirty="0">
                <a:solidFill>
                  <a:srgbClr val="8992AB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Ihr habt heute auch selbst Dinge und womöglich Gesichter trainiert.</a:t>
            </a:r>
          </a:p>
        </p:txBody>
      </p:sp>
    </p:spTree>
    <p:extLst>
      <p:ext uri="{BB962C8B-B14F-4D97-AF65-F5344CB8AC3E}">
        <p14:creationId xmlns:p14="http://schemas.microsoft.com/office/powerpoint/2010/main" val="3566381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ont_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328000" cy="37800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5A23D57E-0981-7866-98CE-338D09F82C0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0000"/>
          </a:blip>
          <a:srcRect l="32601" t="18817" r="38310" b="14339"/>
          <a:stretch>
            <a:fillRect/>
          </a:stretch>
        </p:blipFill>
        <p:spPr>
          <a:xfrm>
            <a:off x="0" y="-572599"/>
            <a:ext cx="5327650" cy="4757382"/>
          </a:xfrm>
          <a:prstGeom prst="rect">
            <a:avLst/>
          </a:prstGeom>
        </p:spPr>
      </p:pic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B261DEAC-E7DD-B2F6-8DF1-BEAEFE1DA551}"/>
              </a:ext>
            </a:extLst>
          </p:cNvPr>
          <p:cNvSpPr/>
          <p:nvPr/>
        </p:nvSpPr>
        <p:spPr>
          <a:xfrm>
            <a:off x="2303813" y="1048454"/>
            <a:ext cx="794394" cy="777156"/>
          </a:xfrm>
          <a:prstGeom prst="roundRect">
            <a:avLst/>
          </a:prstGeom>
          <a:solidFill>
            <a:srgbClr val="523E97">
              <a:alpha val="19608"/>
            </a:srgbClr>
          </a:solidFill>
          <a:ln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Box 2"/>
          <p:cNvSpPr txBox="1"/>
          <p:nvPr/>
        </p:nvSpPr>
        <p:spPr>
          <a:xfrm>
            <a:off x="332870" y="720000"/>
            <a:ext cx="4752000" cy="1134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37" b="1" dirty="0">
                <a:solidFill>
                  <a:srgbClr val="7C4DFF"/>
                </a:solidFill>
                <a:latin typeface="Helvetica Neue"/>
              </a:rPr>
              <a:t>DISKUSSIONSKARTE</a:t>
            </a:r>
          </a:p>
        </p:txBody>
      </p:sp>
      <p:pic>
        <p:nvPicPr>
          <p:cNvPr id="4" name="Picture 3" descr="icon_09.png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36365" y="1207897"/>
            <a:ext cx="545010" cy="4383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8000" y="2016000"/>
            <a:ext cx="47520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de-DE" sz="2400" b="1" dirty="0">
                <a:solidFill>
                  <a:srgbClr val="E6EDF3"/>
                </a:solidFill>
                <a:latin typeface="Open Sans Condensed" pitchFamily="2" charset="0"/>
                <a:ea typeface="Open Sans Condensed" pitchFamily="2" charset="0"/>
                <a:cs typeface="Open Sans Condensed" pitchFamily="2" charset="0"/>
              </a:rPr>
              <a:t>DIE SCHULKAMERA</a:t>
            </a:r>
            <a:endParaRPr sz="2400" b="1" dirty="0">
              <a:solidFill>
                <a:srgbClr val="E6EDF3"/>
              </a:solidFill>
              <a:latin typeface="Open Sans Condensed" pitchFamily="2" charset="0"/>
              <a:ea typeface="Open Sans Condensed" pitchFamily="2" charset="0"/>
              <a:cs typeface="Open Sans Condensed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8000" y="2574000"/>
            <a:ext cx="4752000" cy="21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0" b="1" dirty="0" err="1">
                <a:solidFill>
                  <a:srgbClr val="7C4DFF"/>
                </a:solidFill>
                <a:latin typeface="Helvetica Neue"/>
              </a:rPr>
              <a:t>Privatsphäre</a:t>
            </a:r>
            <a:r>
              <a:rPr sz="1020" b="1" dirty="0">
                <a:solidFill>
                  <a:srgbClr val="7C4DFF"/>
                </a:solidFill>
                <a:latin typeface="Helvetica Neue"/>
              </a:rPr>
              <a:t> &amp; KI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0455" y="3348000"/>
            <a:ext cx="706415" cy="180000"/>
          </a:xfrm>
          <a:prstGeom prst="rect">
            <a:avLst/>
          </a:prstGeom>
        </p:spPr>
      </p:pic>
      <p:pic>
        <p:nvPicPr>
          <p:cNvPr id="8" name="Picture 7" descr="logo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08870" y="3348000"/>
            <a:ext cx="778674" cy="180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FC39A-76CB-C9EF-6C6A-32F8200CA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C753CA-3BFF-8A6D-C9C8-9E61962E4C76}"/>
              </a:ext>
            </a:extLst>
          </p:cNvPr>
          <p:cNvSpPr/>
          <p:nvPr/>
        </p:nvSpPr>
        <p:spPr>
          <a:xfrm>
            <a:off x="0" y="0"/>
            <a:ext cx="5328000" cy="3780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logo.png">
            <a:extLst>
              <a:ext uri="{FF2B5EF4-FFF2-40B4-BE49-F238E27FC236}">
                <a16:creationId xmlns:a16="http://schemas.microsoft.com/office/drawing/2014/main" id="{F5FC166F-04D9-6FF4-BCFA-98FE7C29B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00" y="3438000"/>
            <a:ext cx="565132" cy="144000"/>
          </a:xfrm>
          <a:prstGeom prst="rect">
            <a:avLst/>
          </a:prstGeom>
        </p:spPr>
      </p:pic>
      <p:pic>
        <p:nvPicPr>
          <p:cNvPr id="11" name="Picture 10" descr="logo2.png">
            <a:extLst>
              <a:ext uri="{FF2B5EF4-FFF2-40B4-BE49-F238E27FC236}">
                <a16:creationId xmlns:a16="http://schemas.microsoft.com/office/drawing/2014/main" id="{7183CD78-D99B-9052-D3CC-2CBB73E8B5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132" y="3438000"/>
            <a:ext cx="622939" cy="144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31F037F-EAC9-73B0-2E4B-7D457787DE9E}"/>
              </a:ext>
            </a:extLst>
          </p:cNvPr>
          <p:cNvSpPr txBox="1"/>
          <p:nvPr/>
        </p:nvSpPr>
        <p:spPr>
          <a:xfrm>
            <a:off x="3960000" y="3459600"/>
            <a:ext cx="1080000" cy="14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651" b="0">
                <a:solidFill>
                  <a:srgbClr val="8A92AB"/>
                </a:solidFill>
                <a:latin typeface="Helvetica Neue"/>
              </a:rPr>
              <a:t>aiwarenesslab.io</a:t>
            </a: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B8B33230-AD25-0C8B-AA4F-E52836ACD52B}"/>
              </a:ext>
            </a:extLst>
          </p:cNvPr>
          <p:cNvSpPr txBox="1"/>
          <p:nvPr/>
        </p:nvSpPr>
        <p:spPr>
          <a:xfrm>
            <a:off x="288000" y="819219"/>
            <a:ext cx="4752000" cy="12276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lang="de-DE" sz="1000" dirty="0">
                <a:solidFill>
                  <a:srgbClr val="141A3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Eure Schule überlegt, Kameras mit KI aufzuhängen, die „auffälliges Verhalten“ melden sollen — Rangeleien, Vandalismus. Gespeichert wird angeblich nichts, gemeldet wird nur ein Alarm.</a:t>
            </a:r>
          </a:p>
          <a:p>
            <a:pPr>
              <a:lnSpc>
                <a:spcPct val="115000"/>
              </a:lnSpc>
            </a:pPr>
            <a:endParaRPr lang="de-DE" sz="1000" dirty="0">
              <a:solidFill>
                <a:srgbClr val="141A33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>
              <a:lnSpc>
                <a:spcPct val="115000"/>
              </a:lnSpc>
            </a:pPr>
            <a:r>
              <a:rPr lang="de-DE" sz="1000" dirty="0">
                <a:solidFill>
                  <a:srgbClr val="7C4DF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DISKUTIERT</a:t>
            </a:r>
          </a:p>
          <a:p>
            <a:pPr>
              <a:lnSpc>
                <a:spcPct val="115000"/>
              </a:lnSpc>
            </a:pPr>
            <a:r>
              <a:rPr lang="de-DE" sz="1000" dirty="0">
                <a:solidFill>
                  <a:srgbClr val="141A3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Würdet ihr euch sicherer fühlen — oder beobachtet? Verändert eine Kamera, wie ihr euch verhaltet, selbst wenn sie „nichts speichert“?</a:t>
            </a: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1C7F377C-219F-8116-D50C-CE0DB65F4FA7}"/>
              </a:ext>
            </a:extLst>
          </p:cNvPr>
          <p:cNvSpPr txBox="1"/>
          <p:nvPr/>
        </p:nvSpPr>
        <p:spPr>
          <a:xfrm>
            <a:off x="288000" y="370221"/>
            <a:ext cx="3528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de-DE" dirty="0">
                <a:latin typeface="Open Sans Condensed Light" pitchFamily="2" charset="0"/>
                <a:ea typeface="Open Sans Condensed Light" pitchFamily="2" charset="0"/>
                <a:cs typeface="Open Sans Condensed Light" pitchFamily="2" charset="0"/>
              </a:rPr>
              <a:t>DIE SCHULKAMERA</a:t>
            </a:r>
            <a:endParaRPr dirty="0">
              <a:latin typeface="Open Sans Condensed Light" pitchFamily="2" charset="0"/>
              <a:ea typeface="Open Sans Condensed Light" pitchFamily="2" charset="0"/>
              <a:cs typeface="Open Sans Condensed Light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75A42A-1378-5F38-1B1D-560F22B89A0D}"/>
              </a:ext>
            </a:extLst>
          </p:cNvPr>
          <p:cNvSpPr/>
          <p:nvPr/>
        </p:nvSpPr>
        <p:spPr>
          <a:xfrm>
            <a:off x="-350" y="0"/>
            <a:ext cx="5328000" cy="7200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C83B0336-5743-F9BA-6235-8EFB8076FE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153" y="2705008"/>
            <a:ext cx="302090" cy="302090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2D952256-AA9F-7F15-6E52-2BF1A006BE8F}"/>
              </a:ext>
            </a:extLst>
          </p:cNvPr>
          <p:cNvSpPr txBox="1"/>
          <p:nvPr/>
        </p:nvSpPr>
        <p:spPr>
          <a:xfrm>
            <a:off x="643243" y="2624024"/>
            <a:ext cx="4343254" cy="435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de-DE" sz="1000" dirty="0">
                <a:solidFill>
                  <a:srgbClr val="8992AB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Hinweis:</a:t>
            </a:r>
            <a:br>
              <a:rPr lang="de-DE" sz="1000" dirty="0">
                <a:solidFill>
                  <a:srgbClr val="8992AB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r>
              <a:rPr lang="de-DE" sz="1000" dirty="0">
                <a:solidFill>
                  <a:srgbClr val="8992AB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Denkt nochmal an die Datenspur-Station und ihre Wirkweise.</a:t>
            </a:r>
            <a:endParaRPr lang="de-DE" sz="800" dirty="0">
              <a:solidFill>
                <a:srgbClr val="8992AB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22949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ont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328000" cy="37800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9A49C723-BAB9-6D6D-593A-9EB3463EA65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0000"/>
          </a:blip>
          <a:srcRect l="32601" t="18817" r="38310" b="14339"/>
          <a:stretch>
            <a:fillRect/>
          </a:stretch>
        </p:blipFill>
        <p:spPr>
          <a:xfrm>
            <a:off x="0" y="-572599"/>
            <a:ext cx="5327650" cy="4757382"/>
          </a:xfrm>
          <a:prstGeom prst="rect">
            <a:avLst/>
          </a:prstGeom>
        </p:spPr>
      </p:pic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A5842A96-F750-1951-228B-307032F44AF9}"/>
              </a:ext>
            </a:extLst>
          </p:cNvPr>
          <p:cNvSpPr/>
          <p:nvPr/>
        </p:nvSpPr>
        <p:spPr>
          <a:xfrm>
            <a:off x="2303813" y="1048454"/>
            <a:ext cx="794394" cy="777156"/>
          </a:xfrm>
          <a:prstGeom prst="roundRect">
            <a:avLst/>
          </a:prstGeom>
          <a:solidFill>
            <a:srgbClr val="81376A">
              <a:alpha val="24706"/>
            </a:srgbClr>
          </a:solidFill>
          <a:ln>
            <a:solidFill>
              <a:srgbClr val="C32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Box 2"/>
          <p:cNvSpPr txBox="1"/>
          <p:nvPr/>
        </p:nvSpPr>
        <p:spPr>
          <a:xfrm>
            <a:off x="332869" y="720000"/>
            <a:ext cx="4752000" cy="1134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37" b="1" dirty="0">
                <a:solidFill>
                  <a:srgbClr val="E0409F"/>
                </a:solidFill>
                <a:latin typeface="Helvetica Neue"/>
              </a:rPr>
              <a:t>DISKUSSIONSKART</a:t>
            </a:r>
            <a:r>
              <a:rPr lang="de-DE" sz="737" b="1" dirty="0">
                <a:solidFill>
                  <a:srgbClr val="E0409F"/>
                </a:solidFill>
                <a:latin typeface="Helvetica Neue"/>
              </a:rPr>
              <a:t>E</a:t>
            </a:r>
            <a:endParaRPr sz="737" b="1" dirty="0">
              <a:solidFill>
                <a:srgbClr val="E0409F"/>
              </a:solidFill>
              <a:latin typeface="Helvetica Neue"/>
            </a:endParaRPr>
          </a:p>
        </p:txBody>
      </p:sp>
      <p:pic>
        <p:nvPicPr>
          <p:cNvPr id="4" name="Picture 3" descr="icon_10.png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53441" y="1149032"/>
            <a:ext cx="310857" cy="57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8000" y="2016000"/>
            <a:ext cx="47520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de-DE" sz="2400" b="1" dirty="0">
                <a:solidFill>
                  <a:srgbClr val="E6EDF3"/>
                </a:solidFill>
                <a:latin typeface="Open Sans Condensed" pitchFamily="2" charset="0"/>
                <a:ea typeface="Open Sans Condensed" pitchFamily="2" charset="0"/>
                <a:cs typeface="Open Sans Condensed" pitchFamily="2" charset="0"/>
              </a:rPr>
              <a:t>DER FILTER</a:t>
            </a:r>
            <a:endParaRPr sz="2400" b="1" dirty="0">
              <a:solidFill>
                <a:srgbClr val="E6EDF3"/>
              </a:solidFill>
              <a:latin typeface="Open Sans Condensed" pitchFamily="2" charset="0"/>
              <a:ea typeface="Open Sans Condensed" pitchFamily="2" charset="0"/>
              <a:cs typeface="Open Sans Condensed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8000" y="2574000"/>
            <a:ext cx="4752000" cy="21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0" b="1" dirty="0" err="1">
                <a:solidFill>
                  <a:srgbClr val="E0409F"/>
                </a:solidFill>
                <a:latin typeface="Helvetica Neue"/>
              </a:rPr>
              <a:t>Privatsphäre</a:t>
            </a:r>
            <a:r>
              <a:rPr sz="1020" b="1" dirty="0">
                <a:solidFill>
                  <a:srgbClr val="E0409F"/>
                </a:solidFill>
                <a:latin typeface="Helvetica Neue"/>
              </a:rPr>
              <a:t> &amp; KI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0455" y="3348000"/>
            <a:ext cx="706415" cy="180000"/>
          </a:xfrm>
          <a:prstGeom prst="rect">
            <a:avLst/>
          </a:prstGeom>
        </p:spPr>
      </p:pic>
      <p:pic>
        <p:nvPicPr>
          <p:cNvPr id="8" name="Picture 7" descr="logo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08870" y="3348000"/>
            <a:ext cx="778674" cy="180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2EAAE-C94E-0E2E-127A-D4982362F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BB97B3-1973-1EC9-B233-18D36040ED85}"/>
              </a:ext>
            </a:extLst>
          </p:cNvPr>
          <p:cNvSpPr/>
          <p:nvPr/>
        </p:nvSpPr>
        <p:spPr>
          <a:xfrm>
            <a:off x="0" y="0"/>
            <a:ext cx="5328000" cy="3780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logo.png">
            <a:extLst>
              <a:ext uri="{FF2B5EF4-FFF2-40B4-BE49-F238E27FC236}">
                <a16:creationId xmlns:a16="http://schemas.microsoft.com/office/drawing/2014/main" id="{50833825-8392-DF96-ED8C-35F72F4C3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00" y="3438000"/>
            <a:ext cx="565132" cy="144000"/>
          </a:xfrm>
          <a:prstGeom prst="rect">
            <a:avLst/>
          </a:prstGeom>
        </p:spPr>
      </p:pic>
      <p:pic>
        <p:nvPicPr>
          <p:cNvPr id="11" name="Picture 10" descr="logo2.png">
            <a:extLst>
              <a:ext uri="{FF2B5EF4-FFF2-40B4-BE49-F238E27FC236}">
                <a16:creationId xmlns:a16="http://schemas.microsoft.com/office/drawing/2014/main" id="{4D6A3878-CC16-DC56-B1EF-0FA39D0B04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132" y="3438000"/>
            <a:ext cx="622939" cy="144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5165497-1896-BD55-56A3-D0EF5361CD4C}"/>
              </a:ext>
            </a:extLst>
          </p:cNvPr>
          <p:cNvSpPr txBox="1"/>
          <p:nvPr/>
        </p:nvSpPr>
        <p:spPr>
          <a:xfrm>
            <a:off x="3960000" y="3459600"/>
            <a:ext cx="1080000" cy="14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651" b="0">
                <a:solidFill>
                  <a:srgbClr val="8A92AB"/>
                </a:solidFill>
                <a:latin typeface="Helvetica Neue"/>
              </a:rPr>
              <a:t>aiwarenesslab.io</a:t>
            </a: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F72B4997-A7F6-2241-460B-7414E8430FE9}"/>
              </a:ext>
            </a:extLst>
          </p:cNvPr>
          <p:cNvSpPr txBox="1"/>
          <p:nvPr/>
        </p:nvSpPr>
        <p:spPr>
          <a:xfrm>
            <a:off x="288000" y="819219"/>
            <a:ext cx="4752000" cy="14046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lang="de-DE" sz="1000" dirty="0">
                <a:solidFill>
                  <a:srgbClr val="141A3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Eine Foto-App macht lustige KI-Filter — kostenlos. Im Kleingedruckten: Alle hochgeladenen Gesichter dürfen zum Training neuer KI-Modelle verwendet werden.</a:t>
            </a:r>
          </a:p>
          <a:p>
            <a:pPr>
              <a:lnSpc>
                <a:spcPct val="115000"/>
              </a:lnSpc>
            </a:pPr>
            <a:endParaRPr lang="de-DE" sz="1000" dirty="0">
              <a:solidFill>
                <a:srgbClr val="141A33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>
              <a:lnSpc>
                <a:spcPct val="115000"/>
              </a:lnSpc>
            </a:pPr>
            <a:r>
              <a:rPr lang="de-DE" sz="1000" dirty="0">
                <a:solidFill>
                  <a:srgbClr val="C3268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DISKUTIERT</a:t>
            </a:r>
          </a:p>
          <a:p>
            <a:pPr>
              <a:lnSpc>
                <a:spcPct val="115000"/>
              </a:lnSpc>
            </a:pPr>
            <a:r>
              <a:rPr lang="de-DE" sz="1000" dirty="0">
                <a:solidFill>
                  <a:srgbClr val="141A3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Ihr habt heute selbst eine KI trainiert — mit Daten, die ihr danach löschen konntet. Warum bieten die meisten Apps das nicht an? Was wäre ein fairer Tausch für einen Gratis-Filter?</a:t>
            </a: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F83E5446-527D-77F9-2728-2F24DE395751}"/>
              </a:ext>
            </a:extLst>
          </p:cNvPr>
          <p:cNvSpPr txBox="1"/>
          <p:nvPr/>
        </p:nvSpPr>
        <p:spPr>
          <a:xfrm>
            <a:off x="288000" y="370221"/>
            <a:ext cx="3528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de-DE" dirty="0">
                <a:latin typeface="Open Sans Condensed Light" pitchFamily="2" charset="0"/>
                <a:ea typeface="Open Sans Condensed Light" pitchFamily="2" charset="0"/>
                <a:cs typeface="Open Sans Condensed Light" pitchFamily="2" charset="0"/>
              </a:rPr>
              <a:t>DER FILTER</a:t>
            </a:r>
            <a:endParaRPr dirty="0">
              <a:latin typeface="Open Sans Condensed Light" pitchFamily="2" charset="0"/>
              <a:ea typeface="Open Sans Condensed Light" pitchFamily="2" charset="0"/>
              <a:cs typeface="Open Sans Condensed Light" pitchFamily="2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7D5A1D8-27C0-7322-4E7B-9CBE4F81BFE3}"/>
              </a:ext>
            </a:extLst>
          </p:cNvPr>
          <p:cNvSpPr/>
          <p:nvPr/>
        </p:nvSpPr>
        <p:spPr>
          <a:xfrm>
            <a:off x="-350" y="0"/>
            <a:ext cx="5328000" cy="72000"/>
          </a:xfrm>
          <a:prstGeom prst="rect">
            <a:avLst/>
          </a:prstGeom>
          <a:solidFill>
            <a:srgbClr val="E040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E881EF8-57F2-0068-0CBA-E6C35D57D7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153" y="2705008"/>
            <a:ext cx="302090" cy="30209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A5C11C8D-BEB1-0D14-49DF-93984D30B38A}"/>
              </a:ext>
            </a:extLst>
          </p:cNvPr>
          <p:cNvSpPr txBox="1"/>
          <p:nvPr/>
        </p:nvSpPr>
        <p:spPr>
          <a:xfrm>
            <a:off x="643243" y="2624024"/>
            <a:ext cx="4343254" cy="435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de-DE" sz="1000" dirty="0">
                <a:solidFill>
                  <a:srgbClr val="8992AB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Hinweis: </a:t>
            </a:r>
            <a:br>
              <a:rPr lang="de-DE" sz="1000" dirty="0">
                <a:solidFill>
                  <a:srgbClr val="8992AB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r>
              <a:rPr lang="de-DE" sz="1000" dirty="0">
                <a:solidFill>
                  <a:srgbClr val="8992AB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Erinnert Euch an die Erfahrungen mit dem Training von Objekten.</a:t>
            </a:r>
            <a:endParaRPr lang="de-DE" sz="800" dirty="0">
              <a:solidFill>
                <a:srgbClr val="8992AB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07189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ont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328000" cy="37800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4B94DF73-767C-4BB6-DC94-A75D9964E8E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0000"/>
          </a:blip>
          <a:srcRect l="32601" t="18817" r="38310" b="14339"/>
          <a:stretch>
            <a:fillRect/>
          </a:stretch>
        </p:blipFill>
        <p:spPr>
          <a:xfrm>
            <a:off x="-350" y="-572599"/>
            <a:ext cx="5328000" cy="4757695"/>
          </a:xfrm>
          <a:prstGeom prst="rect">
            <a:avLst/>
          </a:prstGeom>
        </p:spPr>
      </p:pic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E737DDE8-2091-56D7-3756-3EE491BD7A5D}"/>
              </a:ext>
            </a:extLst>
          </p:cNvPr>
          <p:cNvSpPr/>
          <p:nvPr/>
        </p:nvSpPr>
        <p:spPr>
          <a:xfrm>
            <a:off x="2303813" y="1048454"/>
            <a:ext cx="794394" cy="777156"/>
          </a:xfrm>
          <a:prstGeom prst="roundRect">
            <a:avLst/>
          </a:prstGeom>
          <a:solidFill>
            <a:srgbClr val="38254E">
              <a:alpha val="26275"/>
            </a:srgbClr>
          </a:solidFill>
          <a:ln>
            <a:solidFill>
              <a:srgbClr val="B6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Box 2"/>
          <p:cNvSpPr txBox="1"/>
          <p:nvPr/>
        </p:nvSpPr>
        <p:spPr>
          <a:xfrm>
            <a:off x="323239" y="712740"/>
            <a:ext cx="4752000" cy="1134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37" b="1" dirty="0">
                <a:solidFill>
                  <a:srgbClr val="B57BFF"/>
                </a:solidFill>
                <a:latin typeface="Helvetica Neue"/>
              </a:rPr>
              <a:t>DISKUSSIONSKARTE</a:t>
            </a:r>
          </a:p>
        </p:txBody>
      </p:sp>
      <p:pic>
        <p:nvPicPr>
          <p:cNvPr id="4" name="Picture 3" descr="icon_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0629" y="1136714"/>
            <a:ext cx="560762" cy="57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8000" y="2016000"/>
            <a:ext cx="47520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de-DE" sz="2400" b="1" dirty="0">
                <a:solidFill>
                  <a:srgbClr val="E6EDF3"/>
                </a:solidFill>
                <a:latin typeface="Open Sans Condensed" pitchFamily="2" charset="0"/>
                <a:ea typeface="Open Sans Condensed" pitchFamily="2" charset="0"/>
                <a:cs typeface="Open Sans Condensed" pitchFamily="2" charset="0"/>
              </a:rPr>
              <a:t>DER SUPERMARKT</a:t>
            </a:r>
            <a:endParaRPr sz="2400" b="1" dirty="0">
              <a:solidFill>
                <a:srgbClr val="E6EDF3"/>
              </a:solidFill>
              <a:latin typeface="Open Sans Condensed" pitchFamily="2" charset="0"/>
              <a:ea typeface="Open Sans Condensed" pitchFamily="2" charset="0"/>
              <a:cs typeface="Open Sans Condensed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8000" y="2574000"/>
            <a:ext cx="4752000" cy="21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0" b="1" dirty="0" err="1">
                <a:solidFill>
                  <a:srgbClr val="B57BFF"/>
                </a:solidFill>
                <a:latin typeface="Helvetica Neue"/>
              </a:rPr>
              <a:t>Privatsphäre</a:t>
            </a:r>
            <a:r>
              <a:rPr sz="1020" b="1" dirty="0">
                <a:solidFill>
                  <a:srgbClr val="B57BFF"/>
                </a:solidFill>
                <a:latin typeface="Helvetica Neue"/>
              </a:rPr>
              <a:t> &amp; KI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0455" y="3348000"/>
            <a:ext cx="706415" cy="180000"/>
          </a:xfrm>
          <a:prstGeom prst="rect">
            <a:avLst/>
          </a:prstGeom>
        </p:spPr>
      </p:pic>
      <p:pic>
        <p:nvPicPr>
          <p:cNvPr id="8" name="Picture 7" descr="logo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08870" y="3348000"/>
            <a:ext cx="778674" cy="180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CD009-991D-C0FC-AC7F-3E7046038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60D20E-7BFD-48F7-69A8-A87E6E7672E0}"/>
              </a:ext>
            </a:extLst>
          </p:cNvPr>
          <p:cNvSpPr/>
          <p:nvPr/>
        </p:nvSpPr>
        <p:spPr>
          <a:xfrm>
            <a:off x="0" y="0"/>
            <a:ext cx="5328000" cy="3780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logo.png">
            <a:extLst>
              <a:ext uri="{FF2B5EF4-FFF2-40B4-BE49-F238E27FC236}">
                <a16:creationId xmlns:a16="http://schemas.microsoft.com/office/drawing/2014/main" id="{FA6D8800-7C2D-0F3F-5226-B1719EA37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00" y="3438000"/>
            <a:ext cx="565132" cy="144000"/>
          </a:xfrm>
          <a:prstGeom prst="rect">
            <a:avLst/>
          </a:prstGeom>
        </p:spPr>
      </p:pic>
      <p:pic>
        <p:nvPicPr>
          <p:cNvPr id="11" name="Picture 10" descr="logo2.png">
            <a:extLst>
              <a:ext uri="{FF2B5EF4-FFF2-40B4-BE49-F238E27FC236}">
                <a16:creationId xmlns:a16="http://schemas.microsoft.com/office/drawing/2014/main" id="{5FA2C712-2784-D5E7-3C2B-DE9CB24AF8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132" y="3438000"/>
            <a:ext cx="622939" cy="144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0D74F55-A86D-D9D8-BBC0-33B3D18EEC00}"/>
              </a:ext>
            </a:extLst>
          </p:cNvPr>
          <p:cNvSpPr txBox="1"/>
          <p:nvPr/>
        </p:nvSpPr>
        <p:spPr>
          <a:xfrm>
            <a:off x="3960000" y="3459600"/>
            <a:ext cx="1080000" cy="14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651" b="0">
                <a:solidFill>
                  <a:srgbClr val="8A92AB"/>
                </a:solidFill>
                <a:latin typeface="Helvetica Neue"/>
              </a:rPr>
              <a:t>aiwarenesslab.io</a:t>
            </a: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07DDC9BC-B74E-E34D-BF1F-61E62572CFF1}"/>
              </a:ext>
            </a:extLst>
          </p:cNvPr>
          <p:cNvSpPr txBox="1"/>
          <p:nvPr/>
        </p:nvSpPr>
        <p:spPr>
          <a:xfrm>
            <a:off x="288000" y="819219"/>
            <a:ext cx="4752000" cy="12276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lang="de-DE" sz="1000" dirty="0">
                <a:solidFill>
                  <a:srgbClr val="141A3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Ein Supermarkt zählt mit Kameras anonym, wo </a:t>
            </a:r>
            <a:r>
              <a:rPr lang="de-DE" sz="1000" dirty="0" err="1">
                <a:solidFill>
                  <a:srgbClr val="141A3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Kund:innen</a:t>
            </a:r>
            <a:r>
              <a:rPr lang="de-DE" sz="1000" dirty="0">
                <a:solidFill>
                  <a:srgbClr val="141A3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entlanggehen und wo sie stehen bleiben — wie unsere Wärmekarte, keine Gesichter. Damit werden Regale umgeräumt und Preise platziert.</a:t>
            </a:r>
          </a:p>
          <a:p>
            <a:pPr>
              <a:lnSpc>
                <a:spcPct val="115000"/>
              </a:lnSpc>
            </a:pPr>
            <a:endParaRPr lang="de-DE" sz="1000" dirty="0">
              <a:solidFill>
                <a:srgbClr val="141A33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>
              <a:lnSpc>
                <a:spcPct val="115000"/>
              </a:lnSpc>
            </a:pPr>
            <a:r>
              <a:rPr lang="de-DE" sz="1000" dirty="0">
                <a:solidFill>
                  <a:srgbClr val="B77CFE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DISKUTIERT</a:t>
            </a:r>
          </a:p>
          <a:p>
            <a:pPr>
              <a:lnSpc>
                <a:spcPct val="115000"/>
              </a:lnSpc>
            </a:pPr>
            <a:r>
              <a:rPr lang="de-DE" sz="1000" dirty="0">
                <a:solidFill>
                  <a:srgbClr val="141A3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Ist das okay, weil niemand erkennbar ist? Wo verläuft für euch die Grenze zwischen „anonymer Statistik“ und „Manipulation“?</a:t>
            </a:r>
            <a:endParaRPr lang="de-DE" sz="800" dirty="0">
              <a:solidFill>
                <a:srgbClr val="8A92AB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F0F05E19-CF80-7471-4607-D928841D8E04}"/>
              </a:ext>
            </a:extLst>
          </p:cNvPr>
          <p:cNvSpPr txBox="1"/>
          <p:nvPr/>
        </p:nvSpPr>
        <p:spPr>
          <a:xfrm>
            <a:off x="288000" y="370221"/>
            <a:ext cx="3528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de-DE" dirty="0">
                <a:latin typeface="Open Sans Condensed Light" pitchFamily="2" charset="0"/>
                <a:ea typeface="Open Sans Condensed Light" pitchFamily="2" charset="0"/>
                <a:cs typeface="Open Sans Condensed Light" pitchFamily="2" charset="0"/>
              </a:rPr>
              <a:t>DER SUPERMARKT</a:t>
            </a:r>
            <a:endParaRPr dirty="0">
              <a:latin typeface="Open Sans Condensed Light" pitchFamily="2" charset="0"/>
              <a:ea typeface="Open Sans Condensed Light" pitchFamily="2" charset="0"/>
              <a:cs typeface="Open Sans Condensed Light" pitchFamily="2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CD86B09-2323-F9E6-4CDF-074D2A243EF5}"/>
              </a:ext>
            </a:extLst>
          </p:cNvPr>
          <p:cNvSpPr/>
          <p:nvPr/>
        </p:nvSpPr>
        <p:spPr>
          <a:xfrm>
            <a:off x="-350" y="0"/>
            <a:ext cx="5328000" cy="72000"/>
          </a:xfrm>
          <a:prstGeom prst="rect">
            <a:avLst/>
          </a:prstGeom>
          <a:solidFill>
            <a:srgbClr val="B77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8A4FD9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E78164C-4707-4E81-605D-879D2368D3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153" y="2705008"/>
            <a:ext cx="302090" cy="30209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7CB77C2A-9989-212D-FE0C-10C96DBAC7C1}"/>
              </a:ext>
            </a:extLst>
          </p:cNvPr>
          <p:cNvSpPr txBox="1"/>
          <p:nvPr/>
        </p:nvSpPr>
        <p:spPr>
          <a:xfrm>
            <a:off x="643243" y="2624024"/>
            <a:ext cx="4343254" cy="435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de-DE" sz="1000" dirty="0">
                <a:solidFill>
                  <a:srgbClr val="8992AB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Hinweis: </a:t>
            </a:r>
            <a:br>
              <a:rPr lang="de-DE" sz="1000" dirty="0">
                <a:solidFill>
                  <a:srgbClr val="8992AB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r>
              <a:rPr lang="de-DE" sz="1000" dirty="0">
                <a:solidFill>
                  <a:srgbClr val="8992AB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Bewegungsdaten können auch an anderen Orten erhoben werden.</a:t>
            </a:r>
            <a:endParaRPr lang="de-DE" sz="800" dirty="0">
              <a:solidFill>
                <a:srgbClr val="8992AB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2430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1874</Words>
  <Application>Microsoft Macintosh PowerPoint</Application>
  <PresentationFormat>Benutzerdefiniert</PresentationFormat>
  <Paragraphs>193</Paragraphs>
  <Slides>22</Slides>
  <Notes>22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22</vt:i4>
      </vt:variant>
    </vt:vector>
  </HeadingPairs>
  <TitlesOfParts>
    <vt:vector size="30" baseType="lpstr">
      <vt:lpstr>Arial</vt:lpstr>
      <vt:lpstr>Calibri</vt:lpstr>
      <vt:lpstr>Helvetica Neue</vt:lpstr>
      <vt:lpstr>Open Sans</vt:lpstr>
      <vt:lpstr>Open Sans Condensed</vt:lpstr>
      <vt:lpstr>Open Sans Condensed Light</vt:lpstr>
      <vt:lpstr>Open Sans Light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 Verständig</cp:lastModifiedBy>
  <cp:revision>42</cp:revision>
  <dcterms:created xsi:type="dcterms:W3CDTF">2013-01-27T09:14:16Z</dcterms:created>
  <dcterms:modified xsi:type="dcterms:W3CDTF">2026-08-06T16:38:22Z</dcterms:modified>
  <cp:category/>
</cp:coreProperties>
</file>