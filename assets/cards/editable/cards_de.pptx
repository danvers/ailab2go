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5328000" cy="378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Objekt-Detektiv — front (DE)</a:t>
            </a:r>
          </a:p>
          <a:p>
            <a:r>
              <a:t>Background image: front_01.png (300 dpi, includes glow, scanlines, glitch bars, accent bar).</a:t>
            </a:r>
          </a:p>
          <a:p>
            <a:r>
              <a:t>Kicker, title, tagline are editable text boxes. Accent #4ea8ff.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Objekt-Detektiv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Trainiere die KI — front (DE)</a:t>
            </a:r>
          </a:p>
          <a:p>
            <a:r>
              <a:t>Background image: front_02.png (300 dpi, includes glow, scanlines, glitch bars, accent bar).</a:t>
            </a:r>
          </a:p>
          <a:p>
            <a:r>
              <a:t>Kicker, title, tagline are editable text boxes. Accent #b57bff.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Trainiere die KI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Privatsphäre-Schild — front (DE)</a:t>
            </a:r>
          </a:p>
          <a:p>
            <a:r>
              <a:t>Background image: front_03.png (300 dpi, includes glow, scanlines, glitch bars, accent bar).</a:t>
            </a:r>
          </a:p>
          <a:p>
            <a:r>
              <a:t>Kicker, title, tagline are editable text boxes. Accent #f7f2e8.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Privatsphäre-Schild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Datenspur — front (DE)</a:t>
            </a:r>
          </a:p>
          <a:p>
            <a:r>
              <a:t>Background image: front_04.png (300 dpi, includes glow, scanlines, glitch bars, accent bar).</a:t>
            </a:r>
          </a:p>
          <a:p>
            <a:r>
              <a:t>Kicker, title, tagline are editable text boxes. Accent #ffb347.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Datenspur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Täusche die KI — front (DE)</a:t>
            </a:r>
          </a:p>
          <a:p>
            <a:r>
              <a:t>Background image: front_05.png (300 dpi, includes glow, scanlines, glitch bars, accent bar).</a:t>
            </a:r>
          </a:p>
          <a:p>
            <a:r>
              <a:t>Kicker, title, tagline are editable text boxes. Accent #ff5d8f.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Täusche die KI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Skelett-Spiegel — front (DE)</a:t>
            </a:r>
          </a:p>
          <a:p>
            <a:r>
              <a:t>Background image: front_06.png (300 dpi, includes glow, scanlines, glitch bars, accent bar).</a:t>
            </a:r>
          </a:p>
          <a:p>
            <a:r>
              <a:t>Kicker, title, tagline are editable text boxes. Accent #2dd4bf.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Skelett-Spiegel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smarte Türklingel — front (DE)</a:t>
            </a:r>
          </a:p>
          <a:p>
            <a:r>
              <a:t>Background image: front_07.png (300 dpi, includes glow, scanlines, glitch bars, accent bar).</a:t>
            </a:r>
          </a:p>
          <a:p>
            <a:r>
              <a:t>Kicker, title, tagline are editable text boxes. Accent #8a4fd8.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smarte Türklingel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Stadion — front (DE)</a:t>
            </a:r>
          </a:p>
          <a:p>
            <a:r>
              <a:t>Background image: front_08.png (300 dpi, includes glow, scanlines, glitch bars, accent bar).</a:t>
            </a:r>
          </a:p>
          <a:p>
            <a:r>
              <a:t>Kicker, title, tagline are editable text boxes. Accent #c32683.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Stadion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Schulkamera — front (DE)</a:t>
            </a:r>
          </a:p>
          <a:p>
            <a:r>
              <a:t>Background image: front_09.png (300 dpi, includes glow, scanlines, glitch bars, accent bar).</a:t>
            </a:r>
          </a:p>
          <a:p>
            <a:r>
              <a:t>Kicker, title, tagline are editable text boxes. Accent #7c4dff.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Schulkamera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Gratis-Filter — front (DE)</a:t>
            </a:r>
          </a:p>
          <a:p>
            <a:r>
              <a:t>Background image: front_10.png (300 dpi, includes glow, scanlines, glitch bars, accent bar).</a:t>
            </a:r>
          </a:p>
          <a:p>
            <a:r>
              <a:t>Kicker, title, tagline are editable text boxes. Accent #e0409f.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Gratis-Filter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Supermarkt — front (DE)</a:t>
            </a:r>
          </a:p>
          <a:p>
            <a:r>
              <a:t>Background image: front_11.png (300 dpi, includes glow, scanlines, glitch bars, accent bar).</a:t>
            </a:r>
          </a:p>
          <a:p>
            <a:r>
              <a:t>Kicker, title, tagline are editable text boxes. Accent #b57bff.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Supermarkt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Ihr seid die Chefs — front (DE)</a:t>
            </a:r>
          </a:p>
          <a:p>
            <a:r>
              <a:t>Background image: front_12.png (300 dpi, includes glow, scanlines, glitch bars, accent bar).</a:t>
            </a:r>
          </a:p>
          <a:p>
            <a:r>
              <a:t>Kicker, title, tagline are editable text boxes. Accent #5b21a6.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Ihr seid die Chefs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3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4EA8FF"/>
                </a:solidFill>
                <a:latin typeface="Helvetica Neue"/>
              </a:rPr>
              <a:t>STATION 1 / 6</a:t>
            </a:r>
          </a:p>
        </p:txBody>
      </p:sp>
      <p:pic>
        <p:nvPicPr>
          <p:cNvPr id="4" name="Picture 3" descr="icon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Objekt-Detektiv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4EA8FF"/>
                </a:solidFill>
                <a:latin typeface="Helvetica Neue"/>
              </a:rPr>
              <a:t>Was sieht die KI?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4E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4EA8FF"/>
                </a:solidFill>
                <a:latin typeface="Helvetica Neue"/>
              </a:rPr>
              <a:t>STATION 1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Objekt-Detektiv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4EA8FF"/>
                </a:solidFill>
                <a:latin typeface="Helvetica Neue"/>
              </a:rPr>
              <a:t>PROBIERE 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Halte Dinge aus der Kiste in die Kamera. Welche erkennt die KI, welche nicht?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14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2. Schiebe den Regler „Wie sicher muss sich die KI sein?“ ganz nach links. Was für Unsinn taucht plötzlich auf?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195200"/>
            <a:ext cx="4752000" cy="12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3. Schiebe ihn ganz nach rechts. Was übersieht die KI jetzt?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3896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4EA8FF"/>
                </a:solidFill>
                <a:latin typeface="Helvetica Neue"/>
              </a:rPr>
              <a:t>RALLYE-AUFGABE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5192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Finde einen Gegenstand, den die KI mit über 80 % erkennt — und einen, den sie komplett ignoriert.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1843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4EA8FF"/>
                </a:solidFill>
                <a:latin typeface="Helvetica Neue"/>
              </a:rPr>
              <a:t>💭 NACHGEFRAGT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19728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Die KI kennt genau 80 Dinge. Wer hat das entschieden — und was bedeutet das für alles, was sie nicht kennt?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B57BFF"/>
                </a:solidFill>
                <a:latin typeface="Helvetica Neue"/>
              </a:rPr>
              <a:t>STATION 2 / 6</a:t>
            </a:r>
          </a:p>
        </p:txBody>
      </p:sp>
      <p:pic>
        <p:nvPicPr>
          <p:cNvPr id="4" name="Picture 3" descr="icon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655807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Trainiere die 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B57BFF"/>
                </a:solidFill>
                <a:latin typeface="Helvetica Neue"/>
              </a:rPr>
              <a:t>Du bist der Coach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B5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B57BFF"/>
                </a:solidFill>
                <a:latin typeface="Helvetica Neue"/>
              </a:rPr>
              <a:t>STATION 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Trainiere die 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B57BFF"/>
                </a:solidFill>
                <a:latin typeface="Helvetica Neue"/>
              </a:rPr>
              <a:t>PROBIERE 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Wähle zwei Gegenstände. Gib ihnen im Bildschirm echte Namen (Name antippen).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14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2. Nimm von jedem 8–10 Beispiele auf — aus verschiedenen Winkeln und Entfernungen!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195200"/>
            <a:ext cx="4752000" cy="12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3. Teste: Erkennt die KI beide zuverlässig?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3896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B57BFF"/>
                </a:solidFill>
                <a:latin typeface="Helvetica Neue"/>
              </a:rPr>
              <a:t>RALLYE-AUFGABE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519200"/>
            <a:ext cx="4752000" cy="518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Der Bias-Versuch: Trainiere absichtlich schlecht — nimm ein Ding nur von vorne auf, das andere nur von hinten. Drehe dann beide. Was passiert, und wie heißt dieses Problem bei echten KIs?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21024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B57BFF"/>
                </a:solidFill>
                <a:latin typeface="Helvetica Neue"/>
              </a:rPr>
              <a:t>💭 NACHGEFRAGT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22320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Hier kannst du alle Daten per Knopf löschen. Wo im Internet hättest du das auch gern?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F7F2E8"/>
                </a:solidFill>
                <a:latin typeface="Helvetica Neue"/>
              </a:rPr>
              <a:t>STATION 3 / 6</a:t>
            </a:r>
          </a:p>
        </p:txBody>
      </p:sp>
      <p:pic>
        <p:nvPicPr>
          <p:cNvPr id="4" name="Picture 3" descr="icon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384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Privatsphäre-Schild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F7F2E8"/>
                </a:solidFill>
                <a:latin typeface="Helvetica Neue"/>
              </a:rPr>
              <a:t>Schutz eingebaut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6E6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6E675A"/>
                </a:solidFill>
                <a:latin typeface="Helvetica Neue"/>
              </a:rPr>
              <a:t>STATION 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Privatsphäre-Schild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6E675A"/>
                </a:solidFill>
                <a:latin typeface="Helvetica Neue"/>
              </a:rPr>
              <a:t>PROBIERE 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Schau in die Kamera — dein Gesicht wird sofort unkenntlich gemacht.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14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2. Probiere die drei Schutz-Stile aus. Schalte den Schutz kurz aus: Wie fühlt sich der Unterschied 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1952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3. Teste die Grenzen: Kopf drehen, Hand vors halbe Gesicht, Sonnenbrille…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519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6E675A"/>
                </a:solidFill>
                <a:latin typeface="Helvetica Neue"/>
              </a:rPr>
              <a:t>RALLYE-AUFGABE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6488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Finde zwei Wege, wie der Schutz versagt. Notiert: Warum ist das bei einem „Schutz-Versprechen“ ein Problem?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1972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6E675A"/>
                </a:solidFill>
                <a:latin typeface="Helvetica Neue"/>
              </a:rPr>
              <a:t>💭 NACHGEFRAGT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21024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Erkennen („da ist ein Gesicht“) ist nicht Wiedererkennen („das ist Ali aus der 8b“). Warum ist dieser Unterschied so wichtig?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FFB347"/>
                </a:solidFill>
                <a:latin typeface="Helvetica Neue"/>
              </a:rPr>
              <a:t>STATION 4 / 6</a:t>
            </a:r>
          </a:p>
        </p:txBody>
      </p:sp>
      <p:pic>
        <p:nvPicPr>
          <p:cNvPr id="4" name="Picture 3" descr="icon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Die Datenspur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FFB347"/>
                </a:solidFill>
                <a:latin typeface="Helvetica Neue"/>
              </a:rPr>
              <a:t>Was Kameras sammeln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FFB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FFB347"/>
                </a:solidFill>
                <a:latin typeface="Helvetica Neue"/>
              </a:rPr>
              <a:t>STATION 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Die Datenspur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B347"/>
                </a:solidFill>
                <a:latin typeface="Helvetica Neue"/>
              </a:rPr>
              <a:t>PROBIERE 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Öffne die Station und schau auf die Wärmekarte. Diese Daten wurden nebenbei gesammelt, während ihr gespielt habt!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14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2. Lauft als Gruppe einen bestimmten Weg — seht ihr eure Spur entstehen?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1952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3. Drückt „Datenspur löschen“. Wer sollte diesen Knopf im echten Leben haben?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519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B347"/>
                </a:solidFill>
                <a:latin typeface="Helvetica Neue"/>
              </a:rPr>
              <a:t>RALLYE-AUFGABE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6488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Nennt drei Dinge, die man aus so einer Karte über einen Raum und seine Menschen ablesen könnte — ganz ohne Gesichter.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1972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B347"/>
                </a:solidFill>
                <a:latin typeface="Helvetica Neue"/>
              </a:rPr>
              <a:t>💭 NACHGEFRAGT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2102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„Ich habe doch nichts zu verbergen“ — gilt das auch für deine Laufwege, deine Gewohnheiten, deine Lieblingsecke?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FF5D8F"/>
                </a:solidFill>
                <a:latin typeface="Helvetica Neue"/>
              </a:rPr>
              <a:t>STATION 5 / 6</a:t>
            </a:r>
          </a:p>
        </p:txBody>
      </p:sp>
      <p:pic>
        <p:nvPicPr>
          <p:cNvPr id="4" name="Picture 3" descr="icon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72936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Täusche die 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FF5D8F"/>
                </a:solidFill>
                <a:latin typeface="Helvetica Neue"/>
              </a:rPr>
              <a:t>Finde ihre Grenzen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FF5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FF5D8F"/>
                </a:solidFill>
                <a:latin typeface="Helvetica Neue"/>
              </a:rPr>
              <a:t>STATION 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Täusche die 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5D8F"/>
                </a:solidFill>
                <a:latin typeface="Helvetica Neue"/>
              </a:rPr>
              <a:t>PROBIERE 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Die vier Challenges stehen am Bildschirm: Unsichtbar 🥷 · Verwechslung 🎩 · Volltreffer 💯 · Geister 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576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5D8F"/>
                </a:solidFill>
                <a:latin typeface="Helvetica Neue"/>
              </a:rPr>
              <a:t>RALLYE-AUFGABE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0872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Schafft mindestens zwei Challenges und haltet fest, wie — euer Trick ist die Erkenntnis!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411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5D8F"/>
                </a:solidFill>
                <a:latin typeface="Helvetica Neue"/>
              </a:rPr>
              <a:t>💭 NACHGEFRAGT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5408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Ihr habt eine KI in wenigen Minuten überlistet. Was heißt das für Orte, an denen KIs allein entscheiden — Grenzkontrolle, Bewerbung, autonomes Fahren?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3" name="Picture 12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2DD4BF"/>
                </a:solidFill>
                <a:latin typeface="Helvetica Neue"/>
              </a:rPr>
              <a:t>STATION 6 / 6</a:t>
            </a:r>
          </a:p>
        </p:txBody>
      </p:sp>
      <p:pic>
        <p:nvPicPr>
          <p:cNvPr id="4" name="Picture 3" descr="icon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60762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Skelett-Spiegel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2DD4BF"/>
                </a:solidFill>
                <a:latin typeface="Helvetica Neue"/>
              </a:rPr>
              <a:t>Spiel ohne Bild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2DD4BF"/>
                </a:solidFill>
                <a:latin typeface="Helvetica Neue"/>
              </a:rPr>
              <a:t>STATION 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Skelett-Spiegel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2DD4BF"/>
                </a:solidFill>
                <a:latin typeface="Helvetica Neue"/>
              </a:rPr>
              <a:t>PROBIERE 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Stell dich vor die Kamera — du wirst zum Strichmännchen mit 17 Punkten.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14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2. Spielt den Posen-Parcours: Wer schafft alle vier Posen am schnellsten?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1952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3. Schaltet den Geist-Modus ein: kein Video mehr, nur Skelette. Erkennt ihr trotzdem, wer wer ist?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519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2DD4BF"/>
                </a:solidFill>
                <a:latin typeface="Helvetica Neue"/>
              </a:rPr>
              <a:t>RALLYE-AUFGABE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6488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Findet im Geist-Modus drei Dinge, die man über eine Person herausfinden kann, obwohl man ihr Gesicht nie sieht.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1972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2DD4BF"/>
                </a:solidFill>
                <a:latin typeface="Helvetica Neue"/>
              </a:rPr>
              <a:t>💭 NACHGEFRAGT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21024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Spielkonsolen, Sturz-Melder im Pflegeheim, Kameras im Schwimmbad, die Ertrinkende erkennen — alles Skelett-Tracking. Wann ist es Fürsorge, wann Überwachung? Und wer entscheidet das?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8A4FD8"/>
                </a:solidFill>
                <a:latin typeface="Helvetica Neue"/>
              </a:rPr>
              <a:t>DISKUSSIONSKARTE 1 / 6</a:t>
            </a:r>
          </a:p>
        </p:txBody>
      </p:sp>
      <p:pic>
        <p:nvPicPr>
          <p:cNvPr id="4" name="Picture 3" descr="icon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Die smarte Türklingel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8A4FD8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8A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8A4FD8"/>
                </a:solidFill>
                <a:latin typeface="Helvetica Neue"/>
              </a:rPr>
              <a:t>DISKUSSIONSKARTE 1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Die smarte Türklingel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Familie Yilmaz hat eine Kamera-Türklingel. Sie filmt automatisch auch den Gehweg — also alle Nachbarn, den Postboten, spielende Kinder. Die Aufnahmen landen auf Servern des Herstellers in den USA.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8A4FD8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518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Wessen Privatsphäre zählt hier? Was würdet ihr ändern, wenn ihr die Türklingel bauen dürftet? (Tipp: Ihr habt heute eine Kamera gesehen, die Gesichter vor dem Speichern unkenntlich macht…)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8288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C32683"/>
                </a:solidFill>
                <a:latin typeface="Helvetica Neue"/>
              </a:rPr>
              <a:t>DISKUSSIONSKARTE 2 / 6</a:t>
            </a:r>
          </a:p>
        </p:txBody>
      </p:sp>
      <p:pic>
        <p:nvPicPr>
          <p:cNvPr id="4" name="Picture 3" descr="icon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618545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Das Stadion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C32683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C326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C32683"/>
                </a:solidFill>
                <a:latin typeface="Helvetica Neue"/>
              </a:rPr>
              <a:t>DISKUSSIONSKARTE 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Das Stadion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Ein Fußballstadion will Gesichts-Wiedererkennung am Eingang: Bekannte Gewalttäter sollen automatisch erkannt werden. Dafür wird jedes Gesicht aller 50.000 Besucher:innen gescannt und mit einer Datenbank verglichen.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C32683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49.990 Unbeteiligte werden gescannt, um 10 zu finden — fair oder nicht? Und was ist, wenn die KI sich irrt (ihr wisst ja jetzt, dass sie das tut)?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6992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7C4DFF"/>
                </a:solidFill>
                <a:latin typeface="Helvetica Neue"/>
              </a:rPr>
              <a:t>DISKUSSIONSKARTE 3 / 6</a:t>
            </a:r>
          </a:p>
        </p:txBody>
      </p:sp>
      <p:pic>
        <p:nvPicPr>
          <p:cNvPr id="4" name="Picture 3" descr="icon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716211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Die Schulkamera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7C4DFF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7C4DFF"/>
                </a:solidFill>
                <a:latin typeface="Helvetica Neue"/>
              </a:rPr>
              <a:t>DISKUSSIONSKARTE 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Die Schulkamera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Eure Schule überlegt, Kameras mit KI aufzuhängen, die „auffälliges Verhalten“ melden sollen — Rangeleien, Vandalismus. Gespeichert wird angeblich nichts, gemeldet wird nur ein Alarm.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7C4DFF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Würdet ihr euch sicherer fühlen — oder beobachtet? Verändert eine Kamera, wie ihr euch verhaltet, selbst wenn sie „nichts speichert“? (Denkt an die Datenspur-Station!)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E0409F"/>
                </a:solidFill>
                <a:latin typeface="Helvetica Neue"/>
              </a:rPr>
              <a:t>DISKUSSIONSKARTE 4 / 6</a:t>
            </a:r>
          </a:p>
        </p:txBody>
      </p:sp>
      <p:pic>
        <p:nvPicPr>
          <p:cNvPr id="4" name="Picture 3" descr="icon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310857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Der Gratis-Filter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E0409F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E040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E0409F"/>
                </a:solidFill>
                <a:latin typeface="Helvetica Neue"/>
              </a:rPr>
              <a:t>DISKUSSIONSKARTE 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Der Gratis-Filter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Eine Foto-App macht lustige KI-Filter — kostenlos. Im Kleingedruckten: Alle hochgeladenen Gesichter dürfen zum Training neuer KI-Modelle verwendet werden.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E0409F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Ihr habt heute selbst eine KI trainiert — mit Daten, die ihr danach löschen konntet. Warum bieten die meisten Apps das nicht an? Was wäre ein fairer Tausch für einen Gratis-Filter?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B57BFF"/>
                </a:solidFill>
                <a:latin typeface="Helvetica Neue"/>
              </a:rPr>
              <a:t>DISKUSSIONSKARTE 5 / 6</a:t>
            </a:r>
          </a:p>
        </p:txBody>
      </p:sp>
      <p:pic>
        <p:nvPicPr>
          <p:cNvPr id="4" name="Picture 3" descr="icon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60762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Der Supermarkt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B57BFF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B5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B57BFF"/>
                </a:solidFill>
                <a:latin typeface="Helvetica Neue"/>
              </a:rPr>
              <a:t>DISKUSSIONSKARTE 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Der Supermarkt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Ein Supermarkt zählt mit Kameras anonym, wo Kund:innen entlanggehen und wo sie stehen bleiben — wie unsere Wärmekarte, keine Gesichter. Damit werden Regale umgeräumt und Preise platziert.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B57BFF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Ist das okay, weil niemand erkennbar ist? Wo verläuft für euch die Grenze zwischen „anonymer Statistik“ und „Manipulation“?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9599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5B21A6"/>
                </a:solidFill>
                <a:latin typeface="Helvetica Neue"/>
              </a:rPr>
              <a:t>DISKUSSIONSKARTE 6 / 6</a:t>
            </a:r>
          </a:p>
        </p:txBody>
      </p:sp>
      <p:pic>
        <p:nvPicPr>
          <p:cNvPr id="4" name="Picture 3" descr="icon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42476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Ihr seid die Chefs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5B21A6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5B2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5B21A6"/>
                </a:solidFill>
                <a:latin typeface="Helvetica Neue"/>
              </a:rPr>
              <a:t>DISKUSSIONSKARTE 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Ihr seid die Chefs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Stellt euch vor: Ihr dürft die Regeln für alle KI-Kameras in eurer Stadt schreiben. Ihr habt heute gesehen, was möglich ist — Erkennen, Verfolgen, aber auch Schützen und Löschen.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5B21A6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Schreibt gemeinsam drei Regeln auf, die jede KI-Kamera einhalten müsste. Vergleicht mit den anderen Gruppen: Welche Regel kommt überall vor?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